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6B6D4"/>
                </a:solidFill>
                <a:latin typeface="Calibri"/>
              </a:defRPr>
            </a:pPr>
            <a:r>
              <a:t>PROJECT KAVACH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AI-Driven Dynamic Railway Traffic &amp; Delay Management System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Smart India Hackathon (SIH) | Intelligent Indian Railways Scheduling &amp; Safety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377440"/>
            <a:ext cx="10728655" cy="3931920"/>
          </a:xfrm>
          <a:prstGeom prst="roundRect">
            <a:avLst/>
          </a:prstGeom>
          <a:solidFill>
            <a:srgbClr val="172544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 rIns="365760"/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PROBLEM STATEMENT: RAILWAY DELAY &amp; FREIGHT BOTTLENECK LOSSES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FFFFFF"/>
                </a:solidFill>
              </a:rPr>
              <a:t>•  Cascading Network Delays:</a:t>
            </a:r>
            <a:r>
              <a:rPr sz="1400">
                <a:solidFill>
                  <a:srgbClr val="A0AEC0"/>
                </a:solidFill>
              </a:rPr>
              <a:t> When a freight train (maal gadi) or local passenger train gets delayed, it blocks high-priority express/superfast trains running behind it, wrecking the entire timetable schedule.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FFFFFF"/>
                </a:solidFill>
              </a:rPr>
              <a:t>•  Massive Economic Losses:</a:t>
            </a:r>
            <a:r>
              <a:rPr sz="1400">
                <a:solidFill>
                  <a:srgbClr val="A0AEC0"/>
                </a:solidFill>
              </a:rPr>
              <a:t> Indian Railways faces huge operational expenses, fuel wastage, penalty charges, and reduced track throughput due to unmanaged bottleneck delays.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FFFFFF"/>
                </a:solidFill>
              </a:rPr>
              <a:t>•  Lack of Predictive Overtake Logic:</a:t>
            </a:r>
            <a:r>
              <a:rPr sz="1400">
                <a:solidFill>
                  <a:srgbClr val="A0AEC0"/>
                </a:solidFill>
              </a:rPr>
              <a:t> Traditional manual dispatching delays decisions until trains reach congested signals, causing sudden stops and prolonged idling.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FFFFFF"/>
                </a:solidFill>
              </a:rPr>
              <a:t>•  Safety vs. Speed Dilemma:</a:t>
            </a:r>
            <a:r>
              <a:rPr sz="1400">
                <a:solidFill>
                  <a:srgbClr val="A0AEC0"/>
                </a:solidFill>
              </a:rPr>
              <a:t> Speeding up delayed trains manually without high-precision live gap monitoring increases risk of signal passed at danger (SPAD) and collisions.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SIH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Core Architecture: Real-Time Distance &amp; Delay Monitoring Screen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3455" cy="4572000"/>
          </a:xfrm>
          <a:prstGeom prst="roundRect">
            <a:avLst/>
          </a:prstGeom>
          <a:solidFill>
            <a:srgbClr val="172544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06B6D4"/>
                </a:solidFill>
                <a:latin typeface="Calibri"/>
              </a:defRPr>
            </a:pPr>
            <a:r>
              <a:t>1. Dynamic Distance &amp; Location Tracking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Continuous GPS + RFID Trackside Telemetry.</a:t>
            </a:r>
            <a:br/>
            <a:r>
              <a:t>• Calculates exact gap (in meters) between preceding and trailing trains in real-time.</a:t>
            </a:r>
            <a:br/>
            <a:r>
              <a:t>• Provides fail-safe anti-collision distance boundary enforcement.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413455" cy="4572000"/>
          </a:xfrm>
          <a:prstGeom prst="roundRect">
            <a:avLst/>
          </a:prstGeom>
          <a:solidFill>
            <a:srgbClr val="17254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2. Live Delay Analytics Dashboard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Real-time accurate delay readout displayed directly on controller &amp; loco-pilot screen.</a:t>
            </a:r>
            <a:br/>
            <a:r>
              <a:t>• Instant calculation of exact lost time (e.g. +18 min delay).</a:t>
            </a:r>
            <a:br/>
            <a:r>
              <a:t>• Eliminates manual estimation and communication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413455" cy="4572000"/>
          </a:xfrm>
          <a:prstGeom prst="roundRect">
            <a:avLst/>
          </a:prstGeom>
          <a:solidFill>
            <a:srgbClr val="17254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F59E0B"/>
                </a:solidFill>
                <a:latin typeface="Calibri"/>
              </a:defRPr>
            </a:pPr>
            <a:r>
              <a:t>3. Automated Signal &amp; Traffic Advisory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AI-driven algorithm recommends optimal speed profiles.</a:t>
            </a:r>
            <a:br/>
            <a:r>
              <a:t>• Predicts potential bottlenecks 30-40 km in advance.</a:t>
            </a:r>
            <a:br/>
            <a:r>
              <a:t>• Automatically coordinates with station master signaling terminals.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SIH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Scenario 1: Dynamic Speed Recovery &amp; Safe Distance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72544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 rIns="365760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OPTIMIZED SPEED BOOST WITH ZERO COLLISION RISK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FFFFF"/>
                </a:solidFill>
              </a:rPr>
              <a:t>• Trailing Train Speed Optimization:</a:t>
            </a:r>
            <a:r>
              <a:rPr sz="1300">
                <a:solidFill>
                  <a:srgbClr val="A0AEC0"/>
                </a:solidFill>
              </a:rPr>
              <a:t> If a trailing train is running behind schedule, the system automatically evaluates section limits and permits safe speed acceleration.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FFFFF"/>
                </a:solidFill>
              </a:rPr>
              <a:t>• Real-Time Inter-Train Gap Guard:</a:t>
            </a:r>
            <a:r>
              <a:rPr sz="1300">
                <a:solidFill>
                  <a:srgbClr val="A0AEC0"/>
                </a:solidFill>
              </a:rPr>
              <a:t> Location data of both preceding and trailing trains is streamed synchronously to maintain mandatory safe braking distance.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FFFFF"/>
                </a:solidFill>
              </a:rPr>
              <a:t>• Collision Prevention Assurance:</a:t>
            </a:r>
            <a:r>
              <a:rPr sz="1300">
                <a:solidFill>
                  <a:srgbClr val="A0AEC0"/>
                </a:solidFill>
              </a:rPr>
              <a:t> If the gap narrows below safe threshold, the engine automatically throttles back or applies controlled braking.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FFFFF"/>
                </a:solidFill>
              </a:rPr>
              <a:t>• Delay Mitigation:</a:t>
            </a:r>
            <a:r>
              <a:rPr sz="1300">
                <a:solidFill>
                  <a:srgbClr val="A0AEC0"/>
                </a:solidFill>
              </a:rPr>
              <a:t> Allows late trains to make up lost minutes dynamically on clear tracks without risking safety hazards.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645920"/>
            <a:ext cx="4327855" cy="4572000"/>
          </a:xfrm>
          <a:prstGeom prst="roundRect">
            <a:avLst/>
          </a:prstGeom>
          <a:solidFill>
            <a:srgbClr val="172544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SAFETY DISTANCE MATRIX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FFFFF"/>
                </a:solidFill>
              </a:rPr>
              <a:t>Location Telemetry:</a:t>
            </a:r>
            <a:r>
              <a:rPr sz="1300">
                <a:solidFill>
                  <a:srgbClr val="06B6D4"/>
                </a:solidFill>
              </a:rPr>
              <a:t> GPS + Trackside Transponders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FFFFF"/>
                </a:solidFill>
              </a:rPr>
              <a:t>Gap Calculation:</a:t>
            </a:r>
            <a:r>
              <a:rPr sz="1300">
                <a:solidFill>
                  <a:srgbClr val="06B6D4"/>
                </a:solidFill>
              </a:rPr>
              <a:t> Continuous Sub-Second Delta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FFFFF"/>
                </a:solidFill>
              </a:rPr>
              <a:t>Speed Curve:</a:t>
            </a:r>
            <a:r>
              <a:rPr sz="1300">
                <a:solidFill>
                  <a:srgbClr val="06B6D4"/>
                </a:solidFill>
              </a:rPr>
              <a:t> AI Braking Curve Calculation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FFFFF"/>
                </a:solidFill>
              </a:rPr>
              <a:t>Max Gap Buffer:</a:t>
            </a:r>
            <a:r>
              <a:rPr sz="1300">
                <a:solidFill>
                  <a:srgbClr val="06B6D4"/>
                </a:solidFill>
              </a:rPr>
              <a:t> Adaptive Based on Train Weight &amp; Speed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FFFFF"/>
                </a:solidFill>
              </a:rPr>
              <a:t>Collision Risk:</a:t>
            </a:r>
            <a:r>
              <a:rPr sz="1300">
                <a:solidFill>
                  <a:srgbClr val="06B6D4"/>
                </a:solidFill>
              </a:rPr>
              <a:t> 0% (Fail-Safe Signal Interlock)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SIH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Scenario 2: Pre-emptive Loop Line Routing &amp; Dynamic Station Halt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2194560"/>
          </a:xfrm>
          <a:prstGeom prst="roundRect">
            <a:avLst/>
          </a:prstGeom>
          <a:solidFill>
            <a:srgbClr val="17254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36576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A) PRE-EMPTIVE 20-30 MIN LOOP LINE SHUNTING (FAST OVERTAKE)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Early Detection: When a Superfast Express approaches from behind a slower Freight/Local train, the system detects distance gap 20-30 minutes in advance.</a:t>
            </a:r>
          </a:p>
          <a:p>
            <a:pPr>
              <a:spcBef>
                <a:spcPts val="400"/>
              </a:spcBef>
              <a:defRPr sz="1300">
                <a:solidFill>
                  <a:srgbClr val="A0AEC0"/>
                </a:solidFill>
              </a:defRPr>
            </a:pPr>
            <a:r>
              <a:t>• Seamless Shunting: The slower train is pre-routed into a loop line ahead of time without forcing abrupt braking, letting the Superfast train pass effortlessly.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10728655" cy="2194560"/>
          </a:xfrm>
          <a:prstGeom prst="roundRect">
            <a:avLst/>
          </a:prstGeom>
          <a:solidFill>
            <a:srgbClr val="172544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365760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B) DYNAMIC STATION HALT SHIFTING (BOTTLENECK AVOIDANCE)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• Smart Station Halt Selection: If stopping a train at a current small station will choke the section, the system shifts its operational halt to the next station.</a:t>
            </a:r>
          </a:p>
          <a:p>
            <a:pPr>
              <a:spcBef>
                <a:spcPts val="400"/>
              </a:spcBef>
              <a:defRPr sz="1300">
                <a:solidFill>
                  <a:srgbClr val="A0AEC0"/>
                </a:solidFill>
              </a:defRPr>
            </a:pPr>
            <a:r>
              <a:t>• Accurate Delay Screen: Exact delay time and updated schedule are shown live on controller dashboard screens with zero error.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SIH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Expected Impact &amp; Value Proposition for Indian Railways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99055" cy="2011680"/>
          </a:xfrm>
          <a:prstGeom prst="roundRect">
            <a:avLst/>
          </a:prstGeom>
          <a:solidFill>
            <a:srgbClr val="17254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0%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Collision Risk</a:t>
            </a:r>
          </a:p>
          <a:p>
            <a:pPr>
              <a:defRPr sz="1100">
                <a:solidFill>
                  <a:srgbClr val="A0AEC0"/>
                </a:solidFill>
                <a:latin typeface="Calibri"/>
              </a:defRPr>
            </a:pPr>
            <a:r>
              <a:t>Guaranteed safe gap distance &amp; automated interlock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99055" cy="2011680"/>
          </a:xfrm>
          <a:prstGeom prst="roundRect">
            <a:avLst/>
          </a:prstGeom>
          <a:solidFill>
            <a:srgbClr val="172544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2800" b="1">
                <a:solidFill>
                  <a:srgbClr val="06B6D4"/>
                </a:solidFill>
                <a:latin typeface="Calibri"/>
              </a:defRPr>
            </a:pPr>
            <a:r>
              <a:t>35-40%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Delay Reduction</a:t>
            </a:r>
          </a:p>
          <a:p>
            <a:pPr>
              <a:defRPr sz="1100">
                <a:solidFill>
                  <a:srgbClr val="A0AEC0"/>
                </a:solidFill>
                <a:latin typeface="Calibri"/>
              </a:defRPr>
            </a:pPr>
            <a:r>
              <a:t>Eliminating bottleneck propagation &amp; freight idling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99055" cy="2011680"/>
          </a:xfrm>
          <a:prstGeom prst="roundRect">
            <a:avLst/>
          </a:prstGeom>
          <a:solidFill>
            <a:srgbClr val="17254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20-30 Min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Advance Loop Pre-routing</a:t>
            </a:r>
          </a:p>
          <a:p>
            <a:pPr>
              <a:defRPr sz="1100">
                <a:solidFill>
                  <a:srgbClr val="A0AEC0"/>
                </a:solidFill>
                <a:latin typeface="Calibri"/>
              </a:defRPr>
            </a:pPr>
            <a:r>
              <a:t>Smooth overtake for Superfast trains without delays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99055" cy="2011680"/>
          </a:xfrm>
          <a:prstGeom prst="roundRect">
            <a:avLst/>
          </a:prstGeom>
          <a:solidFill>
            <a:srgbClr val="17254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Accurate Screen Visibility</a:t>
            </a:r>
          </a:p>
          <a:p>
            <a:pPr>
              <a:defRPr sz="1100">
                <a:solidFill>
                  <a:srgbClr val="A0AEC0"/>
                </a:solidFill>
                <a:latin typeface="Calibri"/>
              </a:defRPr>
            </a:pPr>
            <a:r>
              <a:t>Real-time delay &amp; location gap telemetry on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72544"/>
          </a:solidFill>
          <a:ln w="19050">
            <a:solidFill>
              <a:srgbClr val="28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365760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WHY THIS SYSTEM IS A GAME-CHANGER FOR SIH &amp; INDIAN RAILWAYS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1. Fail-Safe Operations: Integrates dynamic distance gap tracking so higher speed recovery never leads to collision danger.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2. Maximized Track Capacity: Moves freight &amp; local trains to loop lines 20-30 mins prior, ensuring high-speed corridors stay unlocked.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3. Precise Live Controller Display: Shows exact train locations, inter-train distance gaps, and accurate live delay metrics on screen.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4. Scalable &amp; Cost-Effective: Can be deployed on top of existing Kavach signaling hardware with intelligent software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