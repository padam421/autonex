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Calibri"/>
              </a:defRPr>
            </a:pPr>
            <a:r>
              <a:t>AUTONEX</a:t>
            </a:r>
          </a:p>
          <a:p>
            <a:pPr>
              <a:defRPr sz="1600" b="1">
                <a:solidFill>
                  <a:srgbClr val="FFFFFF"/>
                </a:solidFill>
                <a:latin typeface="Calibri"/>
              </a:defRPr>
            </a:pPr>
            <a:r>
              <a:t>Dynamic Forecast of Expected Time of Arrival (ETA) &amp; Safety Management for Coaching Trains</a:t>
            </a:r>
          </a:p>
          <a:p>
            <a:pPr>
              <a:defRPr sz="1100">
                <a:solidFill>
                  <a:srgbClr val="A0AEC0"/>
                </a:solidFill>
                <a:latin typeface="Calibri"/>
              </a:defRPr>
            </a:pPr>
            <a:r>
              <a:t>Smart India Hackathon (SIH) | Intelligent Multi-Sensor Traffic, Safety &amp; Maintenance 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2011680"/>
          </a:xfrm>
          <a:prstGeom prst="roundRect">
            <a:avLst/>
          </a:prstGeom>
          <a:solidFill>
            <a:srgbClr val="1725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274320" rIns="274320"/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PROBLEM STATEMENT: STUDENT INNOVATION TECHNOLOGY IDEAS IN TERTIARY SECTORS LIKE HOSPITALITY, FINANCIAL SERVICES, ENTERTAINMENT AND RETAILS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FFFFFF"/>
                </a:solidFill>
              </a:rPr>
              <a:t>•  Cross-Sector Innovation Transfer:</a:t>
            </a:r>
            <a:r>
              <a:rPr sz="1050">
                <a:solidFill>
                  <a:srgbClr val="A0AEC0"/>
                </a:solidFill>
              </a:rPr>
              <a:t> Translating advanced data analytics, sensor telemetry, dynamic forecasting, and automated queue/resource management from tertiary service sectors into heavy railway transport logistics.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FFFFFF"/>
                </a:solidFill>
              </a:rPr>
              <a:t>•  Operational Friction &amp; Delays:</a:t>
            </a:r>
            <a:r>
              <a:rPr sz="1050">
                <a:solidFill>
                  <a:srgbClr val="A0AEC0"/>
                </a:solidFill>
              </a:rPr>
              <a:t> Traditional transport management suffers from reactive decision-making, manual communication latency, and lack of real-time predictive visibility across complex service networks.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749039"/>
            <a:ext cx="10728655" cy="2743200"/>
          </a:xfrm>
          <a:prstGeom prst="roundRect">
            <a:avLst/>
          </a:prstGeom>
          <a:solidFill>
            <a:srgbClr val="172544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274320" rIns="274320"/>
          <a:lstStyle/>
          <a:p>
            <a:pPr algn="ctr">
              <a:defRPr sz="1200" b="1">
                <a:solidFill>
                  <a:srgbClr val="06B6D4"/>
                </a:solidFill>
                <a:latin typeface="Calibri"/>
              </a:defRPr>
            </a:pPr>
            <a:r>
              <a:t>OBJECTIVE: RAILWAY TRAFFIC BOTTLENECK ELIMINATION, MULTI-SENSOR INTEGRATION &amp; ETA FORECAST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FFFFFF"/>
                </a:solidFill>
              </a:rPr>
              <a:t>•  Cascading Network Delays:</a:t>
            </a:r>
            <a:r>
              <a:rPr sz="1050">
                <a:solidFill>
                  <a:srgbClr val="A0AEC0"/>
                </a:solidFill>
              </a:rPr>
              <a:t> Freight trains (maal gadi) choke express corridors, causing massive cascading delay propagation for high-priority coaching trains.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FFFFFF"/>
                </a:solidFill>
              </a:rPr>
              <a:t>•  Multi-Sensor Integration (Speed, Safety &amp; Track Health):</a:t>
            </a:r>
            <a:r>
              <a:rPr sz="1050">
                <a:solidFill>
                  <a:srgbClr val="A0AEC0"/>
                </a:solidFill>
              </a:rPr>
              <a:t> Deploying wheel tachometers and axle counter sensors for live train speed tracking, proximity/brake sensors for safety management, and trackside strain &amp; vibration sensors for predictive track maintenance.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FFFFFF"/>
                </a:solidFill>
              </a:rPr>
              <a:t>•  Pre-emptive Overtake &amp; Halt Optimization:</a:t>
            </a:r>
            <a:r>
              <a:rPr sz="1050">
                <a:solidFill>
                  <a:srgbClr val="A0AEC0"/>
                </a:solidFill>
              </a:rPr>
              <a:t> Detecting speed deltas and distance gaps 20-30 minutes in advance to shunt freight trains into loop lines smoothly with zero collision risk.</a:t>
            </a:r>
          </a:p>
          <a:p>
            <a:pPr>
              <a:spcBef>
                <a:spcPts val="300"/>
              </a:spcBef>
            </a:pPr>
            <a:r>
              <a:rPr b="1" sz="1050">
                <a:solidFill>
                  <a:srgbClr val="FFFFFF"/>
                </a:solidFill>
              </a:rPr>
              <a:t>•  Dynamic Live ETA Readout:</a:t>
            </a:r>
            <a:r>
              <a:rPr sz="1050">
                <a:solidFill>
                  <a:srgbClr val="A0AEC0"/>
                </a:solidFill>
              </a:rPr>
              <a:t> Delivering sub-second accurate ETA updates to Station Master signaling consoles and passenger screens, eliminating financial and fuel losses.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alibri"/>
              </a:defRPr>
            </a:pPr>
            <a:r>
              <a:t>SIH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AUTONEX Multi-Sensor Engine: Real-Time Speed, Safety &amp; Track Maintenance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13455" cy="457200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400" b="1">
                <a:solidFill>
                  <a:srgbClr val="06B6D4"/>
                </a:solidFill>
                <a:latin typeface="Calibri"/>
              </a:defRPr>
            </a:pPr>
            <a:r>
              <a:t>1. Train Speed &amp; Telemetry Sensors</a:t>
            </a:r>
          </a:p>
          <a:p>
            <a:pPr>
              <a:spcBef>
                <a:spcPts val="1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• Live Speed Tracking: Wheel tachometers and axle counters capture real-time train speed and acceleration profiles.</a:t>
            </a:r>
            <a:br/>
            <a:r>
              <a:t>• GPS + Trackside RFID Telemetry: Calculates exact gap (in meters) between preceding and trailing trains in real-time.</a:t>
            </a:r>
            <a:br/>
            <a:r>
              <a:t>• Fail-Safe Anti-Collision: Enforces dynamic braking curves based on speed sensor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13455" cy="457200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400" b="1">
                <a:solidFill>
                  <a:srgbClr val="10B981"/>
                </a:solidFill>
                <a:latin typeface="Calibri"/>
              </a:defRPr>
            </a:pPr>
            <a:r>
              <a:t>2. Track Maintenance &amp; Safety Sensors</a:t>
            </a:r>
          </a:p>
          <a:p>
            <a:pPr>
              <a:spcBef>
                <a:spcPts val="1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• Track Performance Sensors: Strain gauges and vibration accelerometers monitor rail stress, load distribution, and ballast stability.</a:t>
            </a:r>
            <a:br/>
            <a:r>
              <a:t>• Preventive Maintenance Alerts: Automatically flags track wear &amp; deformation before failures occur.</a:t>
            </a:r>
            <a:br/>
            <a:r>
              <a:t>• Trackside Thermal &amp; Structural Sensors: Monitors rail temperature expansion to prevent track buckling.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13455" cy="457200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400" b="1">
                <a:solidFill>
                  <a:srgbClr val="F59E0B"/>
                </a:solidFill>
                <a:latin typeface="Calibri"/>
              </a:defRPr>
            </a:pPr>
            <a:r>
              <a:t>3. Live Accurate ETA &amp; Signal Advisory</a:t>
            </a:r>
          </a:p>
          <a:p>
            <a:pPr>
              <a:spcBef>
                <a:spcPts val="1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• Dynamic Forecast Readout: Instant calculation of Expected Time of Arrival (ETA) displayed live on station screens (+18 min delay recovery).</a:t>
            </a:r>
            <a:br/>
            <a:r>
              <a:t>• AI Traffic Optimization: Recommends optimal speed recovery profiles 30-40 km in advance.</a:t>
            </a:r>
            <a:br/>
            <a:r>
              <a:t>• Station Master Signal Sync: Seamless interlock with station signaling terminals.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alibri"/>
              </a:defRPr>
            </a:pPr>
            <a:r>
              <a:t>SIH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Scenario 1: Dynamic Speed Recovery, Sensor Safety &amp; Distance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4572000"/>
          </a:xfrm>
          <a:prstGeom prst="roundRect">
            <a:avLst/>
          </a:prstGeom>
          <a:solidFill>
            <a:srgbClr val="172544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365760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SPEED BOOST WITH MULTI-SENSOR SAFETY MANAGEMENT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FFFFF"/>
                </a:solidFill>
              </a:rPr>
              <a:t>• Speed Sensor Telemetry:</a:t>
            </a:r>
            <a:r>
              <a:rPr sz="1200">
                <a:solidFill>
                  <a:srgbClr val="A0AEC0"/>
                </a:solidFill>
              </a:rPr>
              <a:t> Speed sensors (wheel tachometers &amp; axle counters) continuously monitor train speed to ensure permissible section limit acceleration.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FFFFF"/>
                </a:solidFill>
              </a:rPr>
              <a:t>• Track Performance Validation:</a:t>
            </a:r>
            <a:r>
              <a:rPr sz="1200">
                <a:solidFill>
                  <a:srgbClr val="A0AEC0"/>
                </a:solidFill>
              </a:rPr>
              <a:t> Track strain and vibration sensors confirm track health stability before permitting speed recovery.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FFFFF"/>
                </a:solidFill>
              </a:rPr>
              <a:t>• Real-Time Inter-Train Gap Guard:</a:t>
            </a:r>
            <a:r>
              <a:rPr sz="1200">
                <a:solidFill>
                  <a:srgbClr val="A0AEC0"/>
                </a:solidFill>
              </a:rPr>
              <a:t> Telemetry data of preceding and trailing trains streams synchronously to maintain mandatory safe braking distance.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FFFFF"/>
                </a:solidFill>
              </a:rPr>
              <a:t>• Collision Prevention Assurance:</a:t>
            </a:r>
            <a:r>
              <a:rPr sz="1200">
                <a:solidFill>
                  <a:srgbClr val="A0AEC0"/>
                </a:solidFill>
              </a:rPr>
              <a:t> If inter-train gap narrows below safe threshold, the system automatically throttles back or applies controlled braking.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1645920"/>
            <a:ext cx="4327855" cy="457200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AUTONEX SENSOR &amp; SAFETY MATRIX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Speed Telemetry:</a:t>
            </a:r>
            <a:r>
              <a:rPr sz="1200">
                <a:solidFill>
                  <a:srgbClr val="06B6D4"/>
                </a:solidFill>
              </a:rPr>
              <a:t> Wheel Tachometers + Axle Counters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Track Maintenance:</a:t>
            </a:r>
            <a:r>
              <a:rPr sz="1200">
                <a:solidFill>
                  <a:srgbClr val="06B6D4"/>
                </a:solidFill>
              </a:rPr>
              <a:t> Strain Gauges + Vibration Sensors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Location Tracking:</a:t>
            </a:r>
            <a:r>
              <a:rPr sz="1200">
                <a:solidFill>
                  <a:srgbClr val="06B6D4"/>
                </a:solidFill>
              </a:rPr>
              <a:t> GPS + Trackside RFID Transponders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Gap Calculation:</a:t>
            </a:r>
            <a:r>
              <a:rPr sz="1200">
                <a:solidFill>
                  <a:srgbClr val="06B6D4"/>
                </a:solidFill>
              </a:rPr>
              <a:t> Continuous Sub-Second Delta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ETA Forecast Model:</a:t>
            </a:r>
            <a:r>
              <a:rPr sz="1200">
                <a:solidFill>
                  <a:srgbClr val="06B6D4"/>
                </a:solidFill>
              </a:rPr>
              <a:t> Dynamic Live Delay Adjustment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FFFFF"/>
                </a:solidFill>
              </a:rPr>
              <a:t>Collision Risk:</a:t>
            </a:r>
            <a:r>
              <a:rPr sz="1200">
                <a:solidFill>
                  <a:srgbClr val="06B6D4"/>
                </a:solidFill>
              </a:rPr>
              <a:t> 0% (Fail-Safe Sensor Interlock)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alibri"/>
              </a:defRPr>
            </a:pPr>
            <a:r>
              <a:t>SIH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Scenario 2: Pre-emptive Loop Line Routing &amp; Dynamic Station Halt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219456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365760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A) PRE-EMPTIVE 20-30 MIN LOOP LINE SHUNTING (FAST OVERTAKE)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Speed &amp; Distance Gap Detection: When a Coaching train approaches a slower Freight train, AUTONEX speed sensors and gap telemetry detect closing distance 20–30 minutes in advance.</a:t>
            </a:r>
          </a:p>
          <a:p>
            <a:pPr>
              <a:spcBef>
                <a:spcPts val="400"/>
              </a:spcBef>
              <a:defRPr sz="1200">
                <a:solidFill>
                  <a:srgbClr val="A0AEC0"/>
                </a:solidFill>
              </a:defRPr>
            </a:pPr>
            <a:r>
              <a:t>• Seamless Shunting: The slower freight train is pre-routed into a loop line smoothly ahead of time, allowing the coaching train to overtake effortlessly without abrupt stopping.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10728655" cy="219456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365760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B) DYNAMIC STATION HALT SHIFTING (BOTTLENECK AVOIDANCE)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Smart Station Halt Selection: If stopping a train at a congested station will choke section throughput, AUTONEX dynamically shifts operational halts to the next available station.</a:t>
            </a:r>
          </a:p>
          <a:p>
            <a:pPr>
              <a:spcBef>
                <a:spcPts val="400"/>
              </a:spcBef>
              <a:defRPr sz="1200">
                <a:solidFill>
                  <a:srgbClr val="A0AEC0"/>
                </a:solidFill>
              </a:defRPr>
            </a:pPr>
            <a:r>
              <a:t>• Real-Time Controller Sync: Updated ETA schedules and track status are broadcast live to station master signaling screens.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alibri"/>
              </a:defRPr>
            </a:pPr>
            <a:r>
              <a:t>SIH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Expected Impact &amp; Value Proposition for Indian Railways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99055" cy="201168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2400" b="1">
                <a:solidFill>
                  <a:srgbClr val="10B981"/>
                </a:solidFill>
                <a:latin typeface="Calibri"/>
              </a:defRPr>
            </a:pPr>
            <a:r>
              <a:t>0%</a:t>
            </a:r>
          </a:p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Collision Risk</a:t>
            </a:r>
          </a:p>
          <a:p>
            <a:pPr>
              <a:defRPr sz="1050">
                <a:solidFill>
                  <a:srgbClr val="A0AEC0"/>
                </a:solidFill>
                <a:latin typeface="Calibri"/>
              </a:defRPr>
            </a:pPr>
            <a:r>
              <a:t>Fail-safe speed &amp; proximity sensor interlocks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99055" cy="201168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2400" b="1">
                <a:solidFill>
                  <a:srgbClr val="06B6D4"/>
                </a:solidFill>
                <a:latin typeface="Calibri"/>
              </a:defRPr>
            </a:pPr>
            <a:r>
              <a:t>35-40%</a:t>
            </a:r>
          </a:p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Delay Reduction</a:t>
            </a:r>
          </a:p>
          <a:p>
            <a:pPr>
              <a:defRPr sz="1050">
                <a:solidFill>
                  <a:srgbClr val="A0AEC0"/>
                </a:solidFill>
                <a:latin typeface="Calibri"/>
              </a:defRPr>
            </a:pPr>
            <a:r>
              <a:t>Eliminating cascading bottleneck delays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99055" cy="201168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2400" b="1">
                <a:solidFill>
                  <a:srgbClr val="F59E0B"/>
                </a:solidFill>
                <a:latin typeface="Calibri"/>
              </a:defRPr>
            </a:pPr>
            <a:r>
              <a:t>Predictive</a:t>
            </a:r>
          </a:p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Track Maintenance</a:t>
            </a:r>
          </a:p>
          <a:p>
            <a:pPr>
              <a:defRPr sz="1050">
                <a:solidFill>
                  <a:srgbClr val="A0AEC0"/>
                </a:solidFill>
                <a:latin typeface="Calibri"/>
              </a:defRPr>
            </a:pPr>
            <a:r>
              <a:t>Track strain &amp; vibration sensor telemetry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99055" cy="2011680"/>
          </a:xfrm>
          <a:prstGeom prst="roundRect">
            <a:avLst/>
          </a:prstGeom>
          <a:solidFill>
            <a:srgbClr val="17254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Accurate Screen Visibility</a:t>
            </a:r>
          </a:p>
          <a:p>
            <a:pPr>
              <a:defRPr sz="1050">
                <a:solidFill>
                  <a:srgbClr val="A0AEC0"/>
                </a:solidFill>
                <a:latin typeface="Calibri"/>
              </a:defRPr>
            </a:pPr>
            <a:r>
              <a:t>Real-time location, speed &amp; ETA on screen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10728655" cy="2286000"/>
          </a:xfrm>
          <a:prstGeom prst="roundRect">
            <a:avLst/>
          </a:prstGeom>
          <a:solidFill>
            <a:srgbClr val="172544"/>
          </a:solidFill>
          <a:ln w="19050">
            <a:solidFill>
              <a:srgbClr val="284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365760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WHY AUTONEX IS A GAME-CHANGER FOR SIH &amp; INDIAN RAILWAYS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1. Dynamic ETA Forecasting: Accurate live ETA predictions dynamically updated via multi-sensor telemetry.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2. Multi-Sensor Safety Management: Speed sensors, proximity tracking, and track health monitoring ensure 0% collision and derailment risk.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3. Predictive Track Maintenance: Continuous trackside sensor telemetry detects rail strain &amp; ballast wear to prevent unscheduled track failures.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4. Optimized Section Capacity: Pre-emptively shunts slow freight trains to loop lines 20-30 mins prior, keeping high-speed corridors unlocked.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