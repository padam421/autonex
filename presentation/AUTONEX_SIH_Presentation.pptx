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10698480" cy="1371600"/>
          </a:xfrm>
          <a:prstGeom prst="rect">
            <a:avLst/>
          </a:prstGeom>
          <a:noFill/>
        </p:spPr>
        <p:txBody>
          <a:bodyPr wrap="square">
            <a:spAutoFit/>
          </a:bodyPr>
          <a:lstStyle/>
          <a:p>
            <a:pPr>
              <a:defRPr sz="3600" b="1">
                <a:solidFill>
                  <a:srgbClr val="06B6D4"/>
                </a:solidFill>
                <a:latin typeface="Calibri"/>
              </a:defRPr>
            </a:pPr>
            <a:r>
              <a:t>AUTONEX</a:t>
            </a:r>
          </a:p>
          <a:p>
            <a:pPr>
              <a:defRPr sz="1800" b="1">
                <a:solidFill>
                  <a:srgbClr val="FFFFFF"/>
                </a:solidFill>
                <a:latin typeface="Calibri"/>
              </a:defRPr>
            </a:pPr>
            <a:r>
              <a:t>Dynamic Forecast of Expected Time of Arrival (ETA) for Coaching Trains</a:t>
            </a:r>
          </a:p>
          <a:p>
            <a:pPr>
              <a:defRPr sz="1200">
                <a:solidFill>
                  <a:srgbClr val="A0AEC0"/>
                </a:solidFill>
                <a:latin typeface="Calibri"/>
              </a:defRPr>
            </a:pPr>
            <a:r>
              <a:t>Smart India Hackathon (SIH) | Intelligent Traffic &amp; Delay Management System</a:t>
            </a:r>
          </a:p>
        </p:txBody>
      </p:sp>
      <p:sp>
        <p:nvSpPr>
          <p:cNvPr id="3" name="Rounded Rectangle 2"/>
          <p:cNvSpPr/>
          <p:nvPr/>
        </p:nvSpPr>
        <p:spPr>
          <a:xfrm>
            <a:off x="731520" y="1828800"/>
            <a:ext cx="10728655" cy="1371600"/>
          </a:xfrm>
          <a:prstGeom prst="roundRect">
            <a:avLst/>
          </a:prstGeom>
          <a:solidFill>
            <a:srgbClr val="17254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a:lstStyle/>
          <a:p>
            <a:pPr algn="ctr">
              <a:defRPr sz="1300" b="1">
                <a:solidFill>
                  <a:srgbClr val="06B6D4"/>
                </a:solidFill>
              </a:defRPr>
            </a:pPr>
            <a:r>
              <a:t>EXECUTIVE SUMMARY &amp; SYSTEM DESCRIPTION</a:t>
            </a:r>
          </a:p>
          <a:p>
            <a:pPr>
              <a:spcBef>
                <a:spcPts val="400"/>
              </a:spcBef>
              <a:defRPr sz="1100">
                <a:solidFill>
                  <a:srgbClr val="FFFFFF"/>
                </a:solidFill>
              </a:defRPr>
            </a:pPr>
            <a:r>
              <a:t>AUTONEX is an intelligent, AI-powered traffic scheduling and real-time ETA forecasting platform designed for Indian Railways. It dynamically predicts expected arrival times for coaching trains while resolving network bottlenecks caused by delayed freight trains (maal gadi). By combining real-time gap telemetry with 20-30 minute advance loop line routing, AUTONEX eliminates cascading delays with guaranteed 0% collision risk.</a:t>
            </a:r>
          </a:p>
        </p:txBody>
      </p:sp>
      <p:sp>
        <p:nvSpPr>
          <p:cNvPr id="4" name="Rounded Rectangle 3"/>
          <p:cNvSpPr/>
          <p:nvPr/>
        </p:nvSpPr>
        <p:spPr>
          <a:xfrm>
            <a:off x="731520" y="3383280"/>
            <a:ext cx="10728655" cy="3017520"/>
          </a:xfrm>
          <a:prstGeom prst="roundRect">
            <a:avLst/>
          </a:prstGeom>
          <a:solidFill>
            <a:srgbClr val="172544"/>
          </a:solidFill>
          <a:ln w="19050">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300" b="1">
                <a:solidFill>
                  <a:srgbClr val="F59E0B"/>
                </a:solidFill>
                <a:latin typeface="Calibri"/>
              </a:defRPr>
            </a:pPr>
            <a:r>
              <a:t>PROBLEM STATEMENT: DYNAMIC FORECAST OF EXPECTED TIME OF ARRIVAL (ETA) FOR COACHING TRAINS</a:t>
            </a:r>
          </a:p>
          <a:p>
            <a:pPr>
              <a:spcBef>
                <a:spcPts val="400"/>
              </a:spcBef>
            </a:pPr>
            <a:r>
              <a:rPr b="1" sz="1100">
                <a:solidFill>
                  <a:srgbClr val="FFFFFF"/>
                </a:solidFill>
              </a:rPr>
              <a:t>•  Cascading Network Delays:</a:t>
            </a:r>
            <a:r>
              <a:rPr sz="1100">
                <a:solidFill>
                  <a:srgbClr val="A0AEC0"/>
                </a:solidFill>
              </a:rPr>
              <a:t> Unscheduled freight delays block coaching trains, wrecking ETA accuracy across the route.</a:t>
            </a:r>
          </a:p>
          <a:p>
            <a:pPr>
              <a:spcBef>
                <a:spcPts val="400"/>
              </a:spcBef>
            </a:pPr>
            <a:r>
              <a:rPr b="1" sz="1100">
                <a:solidFill>
                  <a:srgbClr val="FFFFFF"/>
                </a:solidFill>
              </a:rPr>
              <a:t>•  Massive Financial Loss:</a:t>
            </a:r>
            <a:r>
              <a:rPr sz="1100">
                <a:solidFill>
                  <a:srgbClr val="A0AEC0"/>
                </a:solidFill>
              </a:rPr>
              <a:t> Heavy operational expenses, fuel wastage, and capacity drop due to uncoordinated signals.</a:t>
            </a:r>
          </a:p>
          <a:p>
            <a:pPr>
              <a:spcBef>
                <a:spcPts val="400"/>
              </a:spcBef>
            </a:pPr>
            <a:r>
              <a:rPr b="1" sz="1100">
                <a:solidFill>
                  <a:srgbClr val="FFFFFF"/>
                </a:solidFill>
              </a:rPr>
              <a:t>•  Reactive Dispatching Issue:</a:t>
            </a:r>
            <a:r>
              <a:rPr sz="1100">
                <a:solidFill>
                  <a:srgbClr val="A0AEC0"/>
                </a:solidFill>
              </a:rPr>
              <a:t> Decisions made late at signals rather than miles in advance cause prolonged idling.</a:t>
            </a:r>
          </a:p>
          <a:p>
            <a:pPr>
              <a:spcBef>
                <a:spcPts val="400"/>
              </a:spcBef>
            </a:pPr>
            <a:r>
              <a:rPr b="1" sz="1100">
                <a:solidFill>
                  <a:srgbClr val="FFFFFF"/>
                </a:solidFill>
              </a:rPr>
              <a:t>•  Speed vs. Safety Barrier:</a:t>
            </a:r>
            <a:r>
              <a:rPr sz="1100">
                <a:solidFill>
                  <a:srgbClr val="A0AEC0"/>
                </a:solidFill>
              </a:rPr>
              <a:t> Accelerating late coaching trains manually without live gap monitoring risks collisions.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Calibri"/>
              </a:defRPr>
            </a:pPr>
            <a:r>
              <a:t>SIH PROJECT PRESENTATION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AUTONEX Engine: Real-Time Distance &amp; ETA Monitoring Screen</a:t>
            </a:r>
          </a:p>
        </p:txBody>
      </p:sp>
      <p:sp>
        <p:nvSpPr>
          <p:cNvPr id="4" name="Rounded Rectangle 3"/>
          <p:cNvSpPr/>
          <p:nvPr/>
        </p:nvSpPr>
        <p:spPr>
          <a:xfrm>
            <a:off x="731520" y="1645920"/>
            <a:ext cx="3413455" cy="4572000"/>
          </a:xfrm>
          <a:prstGeom prst="roundRect">
            <a:avLst/>
          </a:prstGeom>
          <a:solidFill>
            <a:srgbClr val="17254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1500" b="1">
                <a:solidFill>
                  <a:srgbClr val="06B6D4"/>
                </a:solidFill>
                <a:latin typeface="Calibri"/>
              </a:defRPr>
            </a:pPr>
            <a:r>
              <a:t>1. Dynamic Distance &amp; Location Tracking</a:t>
            </a:r>
          </a:p>
          <a:p>
            <a:pPr>
              <a:spcBef>
                <a:spcPts val="1400"/>
              </a:spcBef>
              <a:defRPr sz="1300">
                <a:solidFill>
                  <a:srgbClr val="FFFFFF"/>
                </a:solidFill>
                <a:latin typeface="Calibri"/>
              </a:defRPr>
            </a:pPr>
            <a:r>
              <a:t>• Continuous GPS + Trackside RFID Telemetry.</a:t>
            </a:r>
            <a:br/>
            <a:r>
              <a:t>• Calculates exact gap (in meters) between preceding and trailing trains in real-time.</a:t>
            </a:r>
            <a:br/>
            <a:r>
              <a:t>• Provides fail-safe anti-collision distance boundary enforcement.</a:t>
            </a:r>
          </a:p>
        </p:txBody>
      </p:sp>
      <p:sp>
        <p:nvSpPr>
          <p:cNvPr id="5" name="Rounded Rectangle 4"/>
          <p:cNvSpPr/>
          <p:nvPr/>
        </p:nvSpPr>
        <p:spPr>
          <a:xfrm>
            <a:off x="4389120" y="1645920"/>
            <a:ext cx="3413455" cy="4572000"/>
          </a:xfrm>
          <a:prstGeom prst="roundRect">
            <a:avLst/>
          </a:prstGeom>
          <a:solidFill>
            <a:srgbClr val="17254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1500" b="1">
                <a:solidFill>
                  <a:srgbClr val="10B981"/>
                </a:solidFill>
                <a:latin typeface="Calibri"/>
              </a:defRPr>
            </a:pPr>
            <a:r>
              <a:t>2. Live Accurate ETA Readout</a:t>
            </a:r>
          </a:p>
          <a:p>
            <a:pPr>
              <a:spcBef>
                <a:spcPts val="1400"/>
              </a:spcBef>
              <a:defRPr sz="1300">
                <a:solidFill>
                  <a:srgbClr val="FFFFFF"/>
                </a:solidFill>
                <a:latin typeface="Calibri"/>
              </a:defRPr>
            </a:pPr>
            <a:r>
              <a:t>• Dynamic forecast of Expected Time of Arrival (ETA) for coaching trains displayed on screen.</a:t>
            </a:r>
            <a:br/>
            <a:r>
              <a:t>• Instant calculation of exact lost time (e.g. +18 min delay).</a:t>
            </a:r>
            <a:br/>
            <a:r>
              <a:t>• Eliminates manual estimation and communication latency.</a:t>
            </a:r>
          </a:p>
        </p:txBody>
      </p:sp>
      <p:sp>
        <p:nvSpPr>
          <p:cNvPr id="6" name="Rounded Rectangle 5"/>
          <p:cNvSpPr/>
          <p:nvPr/>
        </p:nvSpPr>
        <p:spPr>
          <a:xfrm>
            <a:off x="8046720" y="1645920"/>
            <a:ext cx="3413455" cy="4572000"/>
          </a:xfrm>
          <a:prstGeom prst="roundRect">
            <a:avLst/>
          </a:prstGeom>
          <a:solidFill>
            <a:srgbClr val="172544"/>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1500" b="1">
                <a:solidFill>
                  <a:srgbClr val="F59E0B"/>
                </a:solidFill>
                <a:latin typeface="Calibri"/>
              </a:defRPr>
            </a:pPr>
            <a:r>
              <a:t>3. Automated Signal &amp; Traffic Advisory</a:t>
            </a:r>
          </a:p>
          <a:p>
            <a:pPr>
              <a:spcBef>
                <a:spcPts val="1400"/>
              </a:spcBef>
              <a:defRPr sz="1300">
                <a:solidFill>
                  <a:srgbClr val="FFFFFF"/>
                </a:solidFill>
                <a:latin typeface="Calibri"/>
              </a:defRPr>
            </a:pPr>
            <a:r>
              <a:t>• AI-driven algorithm recommends optimal speed profiles.</a:t>
            </a:r>
            <a:br/>
            <a:r>
              <a:t>• Predicts potential bottlenecks 30-40 km in advance.</a:t>
            </a:r>
            <a:br/>
            <a:r>
              <a:t>• Automatically coordinates with station master signaling terminals.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Calibri"/>
              </a:defRPr>
            </a:pPr>
            <a:r>
              <a:t>SIH PROJECT PRESENTATION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Scenario 1: Dynamic Speed Recovery &amp; Safe Distance Control</a:t>
            </a:r>
          </a:p>
        </p:txBody>
      </p:sp>
      <p:sp>
        <p:nvSpPr>
          <p:cNvPr id="4" name="Rounded Rectangle 3"/>
          <p:cNvSpPr/>
          <p:nvPr/>
        </p:nvSpPr>
        <p:spPr>
          <a:xfrm>
            <a:off x="731520" y="1645920"/>
            <a:ext cx="6217920" cy="4572000"/>
          </a:xfrm>
          <a:prstGeom prst="roundRect">
            <a:avLst/>
          </a:prstGeom>
          <a:solidFill>
            <a:srgbClr val="172544"/>
          </a:solidFill>
          <a:ln w="19050">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a:lstStyle/>
          <a:p>
            <a:pPr algn="ctr">
              <a:defRPr sz="1500" b="1">
                <a:solidFill>
                  <a:srgbClr val="06B6D4"/>
                </a:solidFill>
              </a:defRPr>
            </a:pPr>
            <a:r>
              <a:t>SPEED BOOST WITH ZERO COLLISION RISK &amp; ACCURATE ETA</a:t>
            </a:r>
          </a:p>
          <a:p>
            <a:pPr>
              <a:spcBef>
                <a:spcPts val="1000"/>
              </a:spcBef>
            </a:pPr>
            <a:r>
              <a:rPr b="1" sz="1300">
                <a:solidFill>
                  <a:srgbClr val="FFFFFF"/>
                </a:solidFill>
              </a:rPr>
              <a:t>• Trailing Coaching Train Speed Optimization:</a:t>
            </a:r>
            <a:r>
              <a:rPr sz="1300">
                <a:solidFill>
                  <a:srgbClr val="A0AEC0"/>
                </a:solidFill>
              </a:rPr>
              <a:t> If a trailing coaching train is running behind schedule, AUTONEX evaluates section limits and permits safe speed acceleration.</a:t>
            </a:r>
          </a:p>
          <a:p>
            <a:pPr>
              <a:spcBef>
                <a:spcPts val="1000"/>
              </a:spcBef>
            </a:pPr>
            <a:r>
              <a:rPr b="1" sz="1300">
                <a:solidFill>
                  <a:srgbClr val="FFFFFF"/>
                </a:solidFill>
              </a:rPr>
              <a:t>• Real-Time Inter-Train Gap Guard:</a:t>
            </a:r>
            <a:r>
              <a:rPr sz="1300">
                <a:solidFill>
                  <a:srgbClr val="A0AEC0"/>
                </a:solidFill>
              </a:rPr>
              <a:t> Location data of both preceding and trailing trains is streamed synchronously to maintain mandatory safe braking distance.</a:t>
            </a:r>
          </a:p>
          <a:p>
            <a:pPr>
              <a:spcBef>
                <a:spcPts val="1000"/>
              </a:spcBef>
            </a:pPr>
            <a:r>
              <a:rPr b="1" sz="1300">
                <a:solidFill>
                  <a:srgbClr val="FFFFFF"/>
                </a:solidFill>
              </a:rPr>
              <a:t>• Collision Prevention Assurance:</a:t>
            </a:r>
            <a:r>
              <a:rPr sz="1300">
                <a:solidFill>
                  <a:srgbClr val="A0AEC0"/>
                </a:solidFill>
              </a:rPr>
              <a:t> If the gap narrows below safe threshold, the engine automatically throttles back or applies controlled braking.</a:t>
            </a:r>
          </a:p>
          <a:p>
            <a:pPr>
              <a:spcBef>
                <a:spcPts val="1000"/>
              </a:spcBef>
            </a:pPr>
            <a:r>
              <a:rPr b="1" sz="1300">
                <a:solidFill>
                  <a:srgbClr val="FFFFFF"/>
                </a:solidFill>
              </a:rPr>
              <a:t>• ETA Recovery &amp; Delay Mitigation:</a:t>
            </a:r>
            <a:r>
              <a:rPr sz="1300">
                <a:solidFill>
                  <a:srgbClr val="A0AEC0"/>
                </a:solidFill>
              </a:rPr>
              <a:t> Allows late trains to make up lost minutes dynamically on clear tracks without risking safety hazards.</a:t>
            </a:r>
          </a:p>
        </p:txBody>
      </p:sp>
      <p:sp>
        <p:nvSpPr>
          <p:cNvPr id="5" name="Rounded Rectangle 4"/>
          <p:cNvSpPr/>
          <p:nvPr/>
        </p:nvSpPr>
        <p:spPr>
          <a:xfrm>
            <a:off x="7132320" y="1645920"/>
            <a:ext cx="4327855" cy="4572000"/>
          </a:xfrm>
          <a:prstGeom prst="roundRect">
            <a:avLst/>
          </a:prstGeom>
          <a:solidFill>
            <a:srgbClr val="17254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a:lstStyle/>
          <a:p>
            <a:pPr algn="ctr">
              <a:defRPr sz="1600" b="1">
                <a:solidFill>
                  <a:srgbClr val="10B981"/>
                </a:solidFill>
              </a:defRPr>
            </a:pPr>
            <a:r>
              <a:t>AUTONEX GAP &amp; SAFETY MATRIX</a:t>
            </a:r>
          </a:p>
          <a:p>
            <a:pPr>
              <a:spcBef>
                <a:spcPts val="1400"/>
              </a:spcBef>
            </a:pPr>
            <a:r>
              <a:rPr b="1" sz="1300">
                <a:solidFill>
                  <a:srgbClr val="FFFFFF"/>
                </a:solidFill>
              </a:rPr>
              <a:t>Location Telemetry:</a:t>
            </a:r>
            <a:r>
              <a:rPr sz="1300">
                <a:solidFill>
                  <a:srgbClr val="06B6D4"/>
                </a:solidFill>
              </a:rPr>
              <a:t> GPS + Trackside Transponders</a:t>
            </a:r>
          </a:p>
          <a:p>
            <a:pPr>
              <a:spcBef>
                <a:spcPts val="1400"/>
              </a:spcBef>
            </a:pPr>
            <a:r>
              <a:rPr b="1" sz="1300">
                <a:solidFill>
                  <a:srgbClr val="FFFFFF"/>
                </a:solidFill>
              </a:rPr>
              <a:t>ETA Forecast Model:</a:t>
            </a:r>
            <a:r>
              <a:rPr sz="1300">
                <a:solidFill>
                  <a:srgbClr val="06B6D4"/>
                </a:solidFill>
              </a:rPr>
              <a:t> Dynamic Live Delay Adjustment</a:t>
            </a:r>
          </a:p>
          <a:p>
            <a:pPr>
              <a:spcBef>
                <a:spcPts val="1400"/>
              </a:spcBef>
            </a:pPr>
            <a:r>
              <a:rPr b="1" sz="1300">
                <a:solidFill>
                  <a:srgbClr val="FFFFFF"/>
                </a:solidFill>
              </a:rPr>
              <a:t>Gap Calculation:</a:t>
            </a:r>
            <a:r>
              <a:rPr sz="1300">
                <a:solidFill>
                  <a:srgbClr val="06B6D4"/>
                </a:solidFill>
              </a:rPr>
              <a:t> Continuous Sub-Second Delta</a:t>
            </a:r>
          </a:p>
          <a:p>
            <a:pPr>
              <a:spcBef>
                <a:spcPts val="1400"/>
              </a:spcBef>
            </a:pPr>
            <a:r>
              <a:rPr b="1" sz="1300">
                <a:solidFill>
                  <a:srgbClr val="FFFFFF"/>
                </a:solidFill>
              </a:rPr>
              <a:t>Speed Curve:</a:t>
            </a:r>
            <a:r>
              <a:rPr sz="1300">
                <a:solidFill>
                  <a:srgbClr val="06B6D4"/>
                </a:solidFill>
              </a:rPr>
              <a:t> AI Braking Curve Calculation</a:t>
            </a:r>
          </a:p>
          <a:p>
            <a:pPr>
              <a:spcBef>
                <a:spcPts val="1400"/>
              </a:spcBef>
            </a:pPr>
            <a:r>
              <a:rPr b="1" sz="1300">
                <a:solidFill>
                  <a:srgbClr val="FFFFFF"/>
                </a:solidFill>
              </a:rPr>
              <a:t>Collision Risk:</a:t>
            </a:r>
            <a:r>
              <a:rPr sz="1300">
                <a:solidFill>
                  <a:srgbClr val="06B6D4"/>
                </a:solidFill>
              </a:rPr>
              <a:t> 0% (Fail-Safe Signal Interlock)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Calibri"/>
              </a:defRPr>
            </a:pPr>
            <a:r>
              <a:t>SIH PROJECT PRESENTATION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Scenario 2: Pre-emptive Loop Line Routing &amp; Dynamic Station Halt</a:t>
            </a:r>
          </a:p>
        </p:txBody>
      </p:sp>
      <p:sp>
        <p:nvSpPr>
          <p:cNvPr id="4" name="Rounded Rectangle 3"/>
          <p:cNvSpPr/>
          <p:nvPr/>
        </p:nvSpPr>
        <p:spPr>
          <a:xfrm>
            <a:off x="731520" y="1645920"/>
            <a:ext cx="10728655" cy="2194560"/>
          </a:xfrm>
          <a:prstGeom prst="roundRect">
            <a:avLst/>
          </a:prstGeom>
          <a:solidFill>
            <a:srgbClr val="17254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82880" lIns="365760"/>
          <a:lstStyle/>
          <a:p>
            <a:pPr algn="ctr">
              <a:defRPr sz="1500" b="1">
                <a:solidFill>
                  <a:srgbClr val="10B981"/>
                </a:solidFill>
              </a:defRPr>
            </a:pPr>
            <a:r>
              <a:t>A) PRE-EMPTIVE 20-30 MIN LOOP LINE SHUNTING (FAST OVERTAKE)</a:t>
            </a:r>
          </a:p>
          <a:p>
            <a:pPr>
              <a:spcBef>
                <a:spcPts val="600"/>
              </a:spcBef>
              <a:defRPr sz="1300">
                <a:solidFill>
                  <a:srgbClr val="FFFFFF"/>
                </a:solidFill>
              </a:defRPr>
            </a:pPr>
            <a:r>
              <a:t>• Early Distance Detection: When a Coaching train approaches a slower Freight train from behind, AUTONEX detects distance gap narrowing 20–30 minutes in advance.</a:t>
            </a:r>
          </a:p>
          <a:p>
            <a:pPr>
              <a:spcBef>
                <a:spcPts val="400"/>
              </a:spcBef>
              <a:defRPr sz="1300">
                <a:solidFill>
                  <a:srgbClr val="A0AEC0"/>
                </a:solidFill>
              </a:defRPr>
            </a:pPr>
            <a:r>
              <a:t>• Seamless Shunting: The slower train is pre-routed into a loop line ahead of time without forcing abrupt braking, letting the coaching train pass effortlessly.</a:t>
            </a:r>
          </a:p>
        </p:txBody>
      </p:sp>
      <p:sp>
        <p:nvSpPr>
          <p:cNvPr id="5" name="Rounded Rectangle 4"/>
          <p:cNvSpPr/>
          <p:nvPr/>
        </p:nvSpPr>
        <p:spPr>
          <a:xfrm>
            <a:off x="731520" y="4023360"/>
            <a:ext cx="10728655" cy="2194560"/>
          </a:xfrm>
          <a:prstGeom prst="roundRect">
            <a:avLst/>
          </a:prstGeom>
          <a:solidFill>
            <a:srgbClr val="17254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0" lIns="365760"/>
          <a:lstStyle/>
          <a:p>
            <a:pPr algn="ctr">
              <a:defRPr sz="1500" b="1">
                <a:solidFill>
                  <a:srgbClr val="06B6D4"/>
                </a:solidFill>
              </a:defRPr>
            </a:pPr>
            <a:r>
              <a:t>B) DYNAMIC STATION HALT SHIFTING (BOTTLENECK AVOIDANCE)</a:t>
            </a:r>
          </a:p>
          <a:p>
            <a:pPr>
              <a:spcBef>
                <a:spcPts val="600"/>
              </a:spcBef>
              <a:defRPr sz="1300">
                <a:solidFill>
                  <a:srgbClr val="FFFFFF"/>
                </a:solidFill>
              </a:defRPr>
            </a:pPr>
            <a:r>
              <a:t>• Smart Station Halt Selection: If stopping a train at a current small station will choke the section, AUTONEX dynamically shifts its operational halt to the next station.</a:t>
            </a:r>
          </a:p>
          <a:p>
            <a:pPr>
              <a:spcBef>
                <a:spcPts val="400"/>
              </a:spcBef>
              <a:defRPr sz="1300">
                <a:solidFill>
                  <a:srgbClr val="A0AEC0"/>
                </a:solidFill>
              </a:defRPr>
            </a:pPr>
            <a:r>
              <a:t>• Accurate Screen Display: Exact delay time and updated ETA schedules are shown live on controller dashboard screens with zero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Calibri"/>
              </a:defRPr>
            </a:pPr>
            <a:r>
              <a:t>SIH PROJECT PRESENTATION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Expected Impact &amp; Value Proposition for Indian Railways</a:t>
            </a:r>
          </a:p>
        </p:txBody>
      </p:sp>
      <p:sp>
        <p:nvSpPr>
          <p:cNvPr id="4" name="Rounded Rectangle 3"/>
          <p:cNvSpPr/>
          <p:nvPr/>
        </p:nvSpPr>
        <p:spPr>
          <a:xfrm>
            <a:off x="731520" y="1645920"/>
            <a:ext cx="2499055" cy="2011680"/>
          </a:xfrm>
          <a:prstGeom prst="roundRect">
            <a:avLst/>
          </a:prstGeom>
          <a:solidFill>
            <a:srgbClr val="17254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2800" b="1">
                <a:solidFill>
                  <a:srgbClr val="10B981"/>
                </a:solidFill>
                <a:latin typeface="Calibri"/>
              </a:defRPr>
            </a:pPr>
            <a:r>
              <a:t>0%</a:t>
            </a:r>
          </a:p>
          <a:p>
            <a:pPr>
              <a:defRPr sz="1300" b="1">
                <a:solidFill>
                  <a:srgbClr val="FFFFFF"/>
                </a:solidFill>
                <a:latin typeface="Calibri"/>
              </a:defRPr>
            </a:pPr>
            <a:r>
              <a:t>Collision Risk</a:t>
            </a:r>
          </a:p>
          <a:p>
            <a:pPr>
              <a:defRPr sz="1100">
                <a:solidFill>
                  <a:srgbClr val="A0AEC0"/>
                </a:solidFill>
                <a:latin typeface="Calibri"/>
              </a:defRPr>
            </a:pPr>
            <a:r>
              <a:t>Guaranteed safe gap distance &amp; automated interlock</a:t>
            </a:r>
          </a:p>
        </p:txBody>
      </p:sp>
      <p:sp>
        <p:nvSpPr>
          <p:cNvPr id="5" name="Rounded Rectangle 4"/>
          <p:cNvSpPr/>
          <p:nvPr/>
        </p:nvSpPr>
        <p:spPr>
          <a:xfrm>
            <a:off x="3474720" y="1645920"/>
            <a:ext cx="2499055" cy="2011680"/>
          </a:xfrm>
          <a:prstGeom prst="roundRect">
            <a:avLst/>
          </a:prstGeom>
          <a:solidFill>
            <a:srgbClr val="17254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2800" b="1">
                <a:solidFill>
                  <a:srgbClr val="06B6D4"/>
                </a:solidFill>
                <a:latin typeface="Calibri"/>
              </a:defRPr>
            </a:pPr>
            <a:r>
              <a:t>35-40%</a:t>
            </a:r>
          </a:p>
          <a:p>
            <a:pPr>
              <a:defRPr sz="1300" b="1">
                <a:solidFill>
                  <a:srgbClr val="FFFFFF"/>
                </a:solidFill>
                <a:latin typeface="Calibri"/>
              </a:defRPr>
            </a:pPr>
            <a:r>
              <a:t>Delay Reduction</a:t>
            </a:r>
          </a:p>
          <a:p>
            <a:pPr>
              <a:defRPr sz="1100">
                <a:solidFill>
                  <a:srgbClr val="A0AEC0"/>
                </a:solidFill>
                <a:latin typeface="Calibri"/>
              </a:defRPr>
            </a:pPr>
            <a:r>
              <a:t>Eliminating cascading delays for express &amp; freight corridors</a:t>
            </a:r>
          </a:p>
        </p:txBody>
      </p:sp>
      <p:sp>
        <p:nvSpPr>
          <p:cNvPr id="6" name="Rounded Rectangle 5"/>
          <p:cNvSpPr/>
          <p:nvPr/>
        </p:nvSpPr>
        <p:spPr>
          <a:xfrm>
            <a:off x="6217920" y="1645920"/>
            <a:ext cx="2499055" cy="2011680"/>
          </a:xfrm>
          <a:prstGeom prst="roundRect">
            <a:avLst/>
          </a:prstGeom>
          <a:solidFill>
            <a:srgbClr val="172544"/>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2800" b="1">
                <a:solidFill>
                  <a:srgbClr val="F59E0B"/>
                </a:solidFill>
                <a:latin typeface="Calibri"/>
              </a:defRPr>
            </a:pPr>
            <a:r>
              <a:t>20-30 Min</a:t>
            </a:r>
          </a:p>
          <a:p>
            <a:pPr>
              <a:defRPr sz="1300" b="1">
                <a:solidFill>
                  <a:srgbClr val="FFFFFF"/>
                </a:solidFill>
                <a:latin typeface="Calibri"/>
              </a:defRPr>
            </a:pPr>
            <a:r>
              <a:t>Advance Loop Pre-routing</a:t>
            </a:r>
          </a:p>
          <a:p>
            <a:pPr>
              <a:defRPr sz="1100">
                <a:solidFill>
                  <a:srgbClr val="A0AEC0"/>
                </a:solidFill>
                <a:latin typeface="Calibri"/>
              </a:defRPr>
            </a:pPr>
            <a:r>
              <a:t>Smooth overtake for Coaching trains without delays</a:t>
            </a:r>
          </a:p>
        </p:txBody>
      </p:sp>
      <p:sp>
        <p:nvSpPr>
          <p:cNvPr id="7" name="Rounded Rectangle 6"/>
          <p:cNvSpPr/>
          <p:nvPr/>
        </p:nvSpPr>
        <p:spPr>
          <a:xfrm>
            <a:off x="8961120" y="1645920"/>
            <a:ext cx="2499055" cy="2011680"/>
          </a:xfrm>
          <a:prstGeom prst="roundRect">
            <a:avLst/>
          </a:prstGeom>
          <a:solidFill>
            <a:srgbClr val="17254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2800" b="1">
                <a:solidFill>
                  <a:srgbClr val="FFFFFF"/>
                </a:solidFill>
                <a:latin typeface="Calibri"/>
              </a:defRPr>
            </a:pPr>
            <a:r>
              <a:t>100%</a:t>
            </a:r>
          </a:p>
          <a:p>
            <a:pPr>
              <a:defRPr sz="1300" b="1">
                <a:solidFill>
                  <a:srgbClr val="FFFFFF"/>
                </a:solidFill>
                <a:latin typeface="Calibri"/>
              </a:defRPr>
            </a:pPr>
            <a:r>
              <a:t>Accurate Screen Visibility</a:t>
            </a:r>
          </a:p>
          <a:p>
            <a:pPr>
              <a:defRPr sz="1100">
                <a:solidFill>
                  <a:srgbClr val="A0AEC0"/>
                </a:solidFill>
                <a:latin typeface="Calibri"/>
              </a:defRPr>
            </a:pPr>
            <a:r>
              <a:t>Real-time delay &amp; location gap telemetry on screen</a:t>
            </a:r>
          </a:p>
        </p:txBody>
      </p:sp>
      <p:sp>
        <p:nvSpPr>
          <p:cNvPr id="8" name="Rounded Rectangle 7"/>
          <p:cNvSpPr/>
          <p:nvPr/>
        </p:nvSpPr>
        <p:spPr>
          <a:xfrm>
            <a:off x="731520" y="3931920"/>
            <a:ext cx="10728655" cy="2286000"/>
          </a:xfrm>
          <a:prstGeom prst="roundRect">
            <a:avLst/>
          </a:prstGeom>
          <a:solidFill>
            <a:srgbClr val="172544"/>
          </a:solidFill>
          <a:ln w="19050">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tIns="182880" lIns="365760"/>
          <a:lstStyle/>
          <a:p>
            <a:pPr algn="ctr">
              <a:defRPr sz="1500" b="1">
                <a:solidFill>
                  <a:srgbClr val="06B6D4"/>
                </a:solidFill>
              </a:defRPr>
            </a:pPr>
            <a:r>
              <a:t>WHY AUTONEX IS A GAME-CHANGER FOR SIH &amp; INDIAN RAILWAYS</a:t>
            </a:r>
          </a:p>
          <a:p>
            <a:pPr>
              <a:spcBef>
                <a:spcPts val="400"/>
              </a:spcBef>
              <a:defRPr sz="1300">
                <a:solidFill>
                  <a:srgbClr val="FFFFFF"/>
                </a:solidFill>
              </a:defRPr>
            </a:pPr>
            <a:r>
              <a:t>1. Dynamic ETA Forecasting: Provides live accurate ETA predictions for coaching trains dynamically updated via telemetry.</a:t>
            </a:r>
          </a:p>
          <a:p>
            <a:pPr>
              <a:spcBef>
                <a:spcPts val="400"/>
              </a:spcBef>
              <a:defRPr sz="1300">
                <a:solidFill>
                  <a:srgbClr val="FFFFFF"/>
                </a:solidFill>
              </a:defRPr>
            </a:pPr>
            <a:r>
              <a:t>2. Fail-Safe Operations: Integrates dynamic distance gap tracking so higher speed recovery never leads to collision danger.</a:t>
            </a:r>
          </a:p>
          <a:p>
            <a:pPr>
              <a:spcBef>
                <a:spcPts val="400"/>
              </a:spcBef>
              <a:defRPr sz="1300">
                <a:solidFill>
                  <a:srgbClr val="FFFFFF"/>
                </a:solidFill>
              </a:defRPr>
            </a:pPr>
            <a:r>
              <a:t>3. Maximized Track Capacity: Moves freight &amp; local trains to loop lines 20-30 mins prior, ensuring high-speed corridors stay unlocked.</a:t>
            </a:r>
          </a:p>
          <a:p>
            <a:pPr>
              <a:spcBef>
                <a:spcPts val="400"/>
              </a:spcBef>
              <a:defRPr sz="1300">
                <a:solidFill>
                  <a:srgbClr val="FFFFFF"/>
                </a:solidFill>
              </a:defRPr>
            </a:pPr>
            <a:r>
              <a:t>4. Precise Live Controller Display: Shows exact train locations, inter-train distance gaps, and accurate live delay metrics on screen.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