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59" r:id="rId5"/>
    <p:sldId id="294" r:id="rId6"/>
    <p:sldId id="261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2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flink.apache.org/" TargetMode="External"/><Relationship Id="rId13" Type="http://schemas.openxmlformats.org/officeDocument/2006/relationships/hyperlink" Target="https://openweathermap.org/api" TargetMode="External"/><Relationship Id="rId3" Type="http://schemas.openxmlformats.org/officeDocument/2006/relationships/hyperlink" Target="https://ai.google.dev/" TargetMode="External"/><Relationship Id="rId7" Type="http://schemas.openxmlformats.org/officeDocument/2006/relationships/hyperlink" Target="https://spark.apache.org/" TargetMode="External"/><Relationship Id="rId12" Type="http://schemas.openxmlformats.org/officeDocument/2006/relationships/hyperlink" Target="https://www.mapbox.com/" TargetMode="External"/><Relationship Id="rId17" Type="http://schemas.openxmlformats.org/officeDocument/2006/relationships/hyperlink" Target="https://rdso.indianrailways.gov.in/" TargetMode="External"/><Relationship Id="rId2" Type="http://schemas.openxmlformats.org/officeDocument/2006/relationships/image" Target="../media/image9.png"/><Relationship Id="rId16" Type="http://schemas.openxmlformats.org/officeDocument/2006/relationships/hyperlink" Target="https://tailwindcss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kafka.apache.org/" TargetMode="External"/><Relationship Id="rId11" Type="http://schemas.openxmlformats.org/officeDocument/2006/relationships/hyperlink" Target="https://about.mappls.com/api/" TargetMode="External"/><Relationship Id="rId5" Type="http://schemas.openxmlformats.org/officeDocument/2006/relationships/hyperlink" Target="https://www.trychroma.com/" TargetMode="External"/><Relationship Id="rId15" Type="http://schemas.openxmlformats.org/officeDocument/2006/relationships/hyperlink" Target="https://grafana.com/" TargetMode="External"/><Relationship Id="rId10" Type="http://schemas.openxmlformats.org/officeDocument/2006/relationships/hyperlink" Target="https://www.docker.com/" TargetMode="External"/><Relationship Id="rId4" Type="http://schemas.openxmlformats.org/officeDocument/2006/relationships/hyperlink" Target="https://scikit-learn.org/stable/" TargetMode="External"/><Relationship Id="rId9" Type="http://schemas.openxmlformats.org/officeDocument/2006/relationships/hyperlink" Target="https://cassandra.apache.org/" TargetMode="External"/><Relationship Id="rId14" Type="http://schemas.openxmlformats.org/officeDocument/2006/relationships/hyperlink" Target="https://fastapi.tiangolo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-10304" y="1925359"/>
            <a:ext cx="720138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Problem Statement ID </a:t>
            </a:r>
            <a:r>
              <a:rPr lang="en-IN" sz="2400" dirty="0"/>
              <a:t>– SIH26028</a:t>
            </a:r>
          </a:p>
          <a:p>
            <a:endParaRPr lang="en-IN" sz="2400" dirty="0"/>
          </a:p>
          <a:p>
            <a:r>
              <a:rPr lang="en-IN" sz="2400" b="1" dirty="0"/>
              <a:t>Problem Statement- Title-</a:t>
            </a:r>
            <a:r>
              <a:rPr lang="en-IN" sz="2400" dirty="0"/>
              <a:t>Dynamic Forecast of Expected</a:t>
            </a:r>
          </a:p>
          <a:p>
            <a:r>
              <a:rPr lang="en-IN" sz="2400" dirty="0"/>
              <a:t>Time of Arrival (ETA) for Coaching Trains</a:t>
            </a:r>
          </a:p>
          <a:p>
            <a:r>
              <a:rPr lang="en-IN" sz="2400" dirty="0"/>
              <a:t> </a:t>
            </a:r>
          </a:p>
          <a:p>
            <a:r>
              <a:rPr lang="en-IN" sz="2400" b="1" dirty="0"/>
              <a:t>Theme-</a:t>
            </a:r>
            <a:r>
              <a:rPr lang="en-IN" sz="2400" dirty="0"/>
              <a:t> Smart Automation</a:t>
            </a:r>
          </a:p>
          <a:p>
            <a:endParaRPr lang="en-IN" sz="2400" b="1" dirty="0"/>
          </a:p>
          <a:p>
            <a:r>
              <a:rPr lang="en-IN" sz="2400" b="1" dirty="0"/>
              <a:t>PS Category- </a:t>
            </a:r>
            <a:r>
              <a:rPr lang="en-IN" sz="2400" dirty="0"/>
              <a:t>Software</a:t>
            </a:r>
          </a:p>
          <a:p>
            <a:endParaRPr lang="en-IN" sz="2400" dirty="0"/>
          </a:p>
          <a:p>
            <a:r>
              <a:rPr lang="en-IN" sz="2400" b="1"/>
              <a:t>Team ID-</a:t>
            </a:r>
            <a:endParaRPr lang="en-IN" sz="2400" dirty="0"/>
          </a:p>
          <a:p>
            <a:endParaRPr lang="en-IN" sz="2400" b="1" dirty="0"/>
          </a:p>
          <a:p>
            <a:r>
              <a:rPr lang="en-IN" sz="2400" b="1" dirty="0"/>
              <a:t>Team Name </a:t>
            </a:r>
            <a:r>
              <a:rPr lang="en-IN" sz="2400" dirty="0"/>
              <a:t>- AutoNeX</a:t>
            </a:r>
          </a:p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iamond 8">
            <a:extLst>
              <a:ext uri="{FF2B5EF4-FFF2-40B4-BE49-F238E27FC236}">
                <a16:creationId xmlns:a16="http://schemas.microsoft.com/office/drawing/2014/main" id="{9C549C32-4DBB-C850-5B0B-44E5DFFD7C81}"/>
              </a:ext>
            </a:extLst>
          </p:cNvPr>
          <p:cNvSpPr/>
          <p:nvPr/>
        </p:nvSpPr>
        <p:spPr>
          <a:xfrm>
            <a:off x="8923711" y="3451928"/>
            <a:ext cx="1275304" cy="1265790"/>
          </a:xfrm>
          <a:prstGeom prst="diamon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2998" y="22346"/>
            <a:ext cx="201030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rial Black" panose="020B0A04020102020204" pitchFamily="34" charset="0"/>
              </a:rPr>
              <a:t>AutoNex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D76B1F3-9FDB-8A3E-3804-BD1290639965}"/>
              </a:ext>
            </a:extLst>
          </p:cNvPr>
          <p:cNvSpPr txBox="1"/>
          <p:nvPr/>
        </p:nvSpPr>
        <p:spPr>
          <a:xfrm>
            <a:off x="237665" y="879171"/>
            <a:ext cx="2390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lgerian" panose="04020705040A02060702" pitchFamily="82" charset="0"/>
              </a:rPr>
              <a:t>Proposed Solution</a:t>
            </a:r>
          </a:p>
        </p:txBody>
      </p:sp>
      <p:pic>
        <p:nvPicPr>
          <p:cNvPr id="3" name="Picture 2" descr="Solution - Free marketing icons">
            <a:extLst>
              <a:ext uri="{FF2B5EF4-FFF2-40B4-BE49-F238E27FC236}">
                <a16:creationId xmlns:a16="http://schemas.microsoft.com/office/drawing/2014/main" id="{3A42FEF5-D7F1-0D0E-868A-2ED1BE2A06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06" y="882084"/>
            <a:ext cx="278384" cy="2783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6EED733-BF75-F8A2-E369-F544B8C3C6B7}"/>
              </a:ext>
            </a:extLst>
          </p:cNvPr>
          <p:cNvSpPr txBox="1"/>
          <p:nvPr/>
        </p:nvSpPr>
        <p:spPr>
          <a:xfrm>
            <a:off x="0" y="1212872"/>
            <a:ext cx="605219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0070C0"/>
                </a:solidFill>
                <a:latin typeface="Bell MT" panose="02020503060305020303" pitchFamily="18" charset="0"/>
              </a:rPr>
              <a:t>1. LIVE TRACK HEALTH MONITORING</a:t>
            </a:r>
            <a:br>
              <a:rPr lang="en-IN" sz="1400" dirty="0"/>
            </a:br>
            <a:r>
              <a:rPr lang="en-IN" sz="1400" dirty="0">
                <a:latin typeface="+mn-lt"/>
              </a:rPr>
              <a:t>• Vibration sensors, rail temperature sensors, laser gauge width and ultrasonic flaw detectors continuously monitor the track.</a:t>
            </a:r>
            <a:br>
              <a:rPr lang="en-IN" sz="1400" dirty="0">
                <a:latin typeface="+mn-lt"/>
              </a:rPr>
            </a:br>
            <a:r>
              <a:rPr lang="en-IN" sz="1400" dirty="0">
                <a:latin typeface="+mn-lt"/>
              </a:rPr>
              <a:t>• Live sensor readings are compared with healthy-track baseline data to detect structural drift, cracks or abnormalities.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AEA85F-164F-41D3-1296-A15D5CE6DAE7}"/>
              </a:ext>
            </a:extLst>
          </p:cNvPr>
          <p:cNvSpPr txBox="1"/>
          <p:nvPr/>
        </p:nvSpPr>
        <p:spPr>
          <a:xfrm>
            <a:off x="10495" y="2349326"/>
            <a:ext cx="56589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0070C0"/>
                </a:solidFill>
                <a:latin typeface="Bell MT" panose="02020503060305020303" pitchFamily="18" charset="0"/>
              </a:rPr>
              <a:t>2. AI-BASED EARLY WARNING</a:t>
            </a:r>
            <a:br>
              <a:rPr lang="en-IN" sz="1400" dirty="0"/>
            </a:br>
            <a:r>
              <a:rPr lang="en-IN" sz="1400" dirty="0"/>
              <a:t>• Detects abnormal track behaviour before it becomes a critical failure.</a:t>
            </a:r>
            <a:br>
              <a:rPr lang="en-IN" sz="1400" dirty="0"/>
            </a:br>
            <a:r>
              <a:rPr lang="en-IN" sz="1400" dirty="0"/>
              <a:t>• Instantly sends alerts to the concerned railway control / maintenance                                        team.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E42030-47D6-AC8F-99AE-38A67242F6B9}"/>
              </a:ext>
            </a:extLst>
          </p:cNvPr>
          <p:cNvSpPr txBox="1"/>
          <p:nvPr/>
        </p:nvSpPr>
        <p:spPr>
          <a:xfrm>
            <a:off x="0" y="3291182"/>
            <a:ext cx="4313795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0070C0"/>
                </a:solidFill>
                <a:latin typeface="Bell MT" panose="02020503060305020303" pitchFamily="18" charset="0"/>
              </a:rPr>
              <a:t>3. REAL-TIME SCENARIO ENGINE</a:t>
            </a:r>
            <a:br>
              <a:rPr lang="en-IN" sz="1400" dirty="0"/>
            </a:br>
            <a:r>
              <a:rPr lang="en-IN" sz="1400" dirty="0"/>
              <a:t>• Uses train speed, distance, emergency braking capability,</a:t>
            </a:r>
            <a:br>
              <a:rPr lang="en-IN" sz="1400" dirty="0"/>
            </a:br>
            <a:r>
              <a:rPr lang="en-IN" sz="1400" dirty="0"/>
              <a:t>track conditions and live kinematics.</a:t>
            </a:r>
            <a:br>
              <a:rPr lang="en-IN" sz="1400" dirty="0"/>
            </a:br>
            <a:r>
              <a:rPr lang="en-IN" sz="1400" dirty="0"/>
              <a:t>• Evaluates multiple real-time scenarios to decide the safest possible train  movement.</a:t>
            </a:r>
            <a:br>
              <a:rPr lang="en-IN" sz="1050" dirty="0"/>
            </a:br>
            <a:br>
              <a:rPr lang="en-IN" sz="1050" dirty="0"/>
            </a:br>
            <a:endParaRPr lang="en-IN" sz="10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B12182-CCB6-BAD9-AF51-A4575E82E2A1}"/>
              </a:ext>
            </a:extLst>
          </p:cNvPr>
          <p:cNvSpPr txBox="1"/>
          <p:nvPr/>
        </p:nvSpPr>
        <p:spPr>
          <a:xfrm>
            <a:off x="-42391" y="4573421"/>
            <a:ext cx="570270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0070C0"/>
                </a:solidFill>
              </a:rPr>
              <a:t>4. CASCADING DELAY REDUCTION</a:t>
            </a:r>
            <a:br>
              <a:rPr lang="en-IN" sz="1400" dirty="0"/>
            </a:br>
            <a:r>
              <a:rPr lang="en-IN" sz="1400" dirty="0"/>
              <a:t>• Instead of holding a local train for 30-40 minutes for a superfast train, Kavach checks the actual safety gap.</a:t>
            </a:r>
            <a:br>
              <a:rPr lang="en-IN" sz="1400" dirty="0"/>
            </a:br>
            <a:r>
              <a:rPr lang="en-IN" sz="1400" dirty="0"/>
              <a:t>• If safe gap is available → local train proceeds safely →</a:t>
            </a:r>
            <a:br>
              <a:rPr lang="en-IN" sz="1400" dirty="0"/>
            </a:br>
            <a:r>
              <a:rPr lang="en-IN" sz="1400" dirty="0"/>
              <a:t>up to 35 minutes delay saved.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58864F-2812-5797-B5B3-635C166D387F}"/>
              </a:ext>
            </a:extLst>
          </p:cNvPr>
          <p:cNvSpPr txBox="1"/>
          <p:nvPr/>
        </p:nvSpPr>
        <p:spPr>
          <a:xfrm>
            <a:off x="-53015" y="5750626"/>
            <a:ext cx="60959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0070C0"/>
                </a:solidFill>
                <a:latin typeface="Bell MT" panose="02020503060305020303" pitchFamily="18" charset="0"/>
              </a:rPr>
              <a:t>5. DYNAMIC SPEED OPTIMIZATION</a:t>
            </a:r>
            <a:br>
              <a:rPr lang="en-IN" sz="1400" dirty="0"/>
            </a:br>
            <a:r>
              <a:rPr lang="en-IN" sz="1400" dirty="0"/>
              <a:t>• When track condition, weather and operational factors are clear, system recommends / allows higher permissible speeds.</a:t>
            </a:r>
            <a:br>
              <a:rPr lang="en-IN" sz="1400" dirty="0"/>
            </a:br>
            <a:r>
              <a:rPr lang="en-IN" sz="1400" dirty="0"/>
              <a:t>• Ensures trains do not run unnecessarily slow and operations remain efficient.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F12E4F-ACC8-7746-84D7-02F1F3B5D28D}"/>
              </a:ext>
            </a:extLst>
          </p:cNvPr>
          <p:cNvSpPr txBox="1"/>
          <p:nvPr/>
        </p:nvSpPr>
        <p:spPr>
          <a:xfrm>
            <a:off x="7942119" y="1030756"/>
            <a:ext cx="33695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     </a:t>
            </a:r>
          </a:p>
        </p:txBody>
      </p:sp>
      <p:sp>
        <p:nvSpPr>
          <p:cNvPr id="15409" name="TextBox 15408">
            <a:extLst>
              <a:ext uri="{FF2B5EF4-FFF2-40B4-BE49-F238E27FC236}">
                <a16:creationId xmlns:a16="http://schemas.microsoft.com/office/drawing/2014/main" id="{D2DD85CE-7C08-713D-00A6-9EC1347D4881}"/>
              </a:ext>
            </a:extLst>
          </p:cNvPr>
          <p:cNvSpPr txBox="1"/>
          <p:nvPr/>
        </p:nvSpPr>
        <p:spPr>
          <a:xfrm>
            <a:off x="7013145" y="2194870"/>
            <a:ext cx="88985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endParaRPr sz="900" b="0" dirty="0">
              <a:solidFill>
                <a:srgbClr val="484848"/>
              </a:solidFill>
              <a:latin typeface="Roboto"/>
            </a:endParaRPr>
          </a:p>
        </p:txBody>
      </p:sp>
      <p:grpSp>
        <p:nvGrpSpPr>
          <p:cNvPr id="15413" name="Group 15412">
            <a:extLst>
              <a:ext uri="{FF2B5EF4-FFF2-40B4-BE49-F238E27FC236}">
                <a16:creationId xmlns:a16="http://schemas.microsoft.com/office/drawing/2014/main" id="{20812FAC-C210-D6C4-A275-0BACF4871D52}"/>
              </a:ext>
            </a:extLst>
          </p:cNvPr>
          <p:cNvGrpSpPr/>
          <p:nvPr/>
        </p:nvGrpSpPr>
        <p:grpSpPr>
          <a:xfrm>
            <a:off x="7744855" y="4818009"/>
            <a:ext cx="569430" cy="274290"/>
            <a:chOff x="1144030" y="3657541"/>
            <a:chExt cx="569430" cy="274290"/>
          </a:xfrm>
        </p:grpSpPr>
        <p:sp>
          <p:nvSpPr>
            <p:cNvPr id="15414" name="TextBox 15413">
              <a:extLst>
                <a:ext uri="{FF2B5EF4-FFF2-40B4-BE49-F238E27FC236}">
                  <a16:creationId xmlns:a16="http://schemas.microsoft.com/office/drawing/2014/main" id="{2967EB7C-6B0C-C2DC-0B27-3598EB968DB0}"/>
                </a:ext>
              </a:extLst>
            </p:cNvPr>
            <p:cNvSpPr txBox="1"/>
            <p:nvPr/>
          </p:nvSpPr>
          <p:spPr>
            <a:xfrm>
              <a:off x="1144030" y="3657541"/>
              <a:ext cx="569430" cy="137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endParaRPr sz="900" b="0" dirty="0">
                <a:solidFill>
                  <a:srgbClr val="484848"/>
                </a:solidFill>
                <a:latin typeface="Roboto"/>
              </a:endParaRPr>
            </a:p>
          </p:txBody>
        </p:sp>
        <p:sp>
          <p:nvSpPr>
            <p:cNvPr id="15415" name="TextBox 15414">
              <a:extLst>
                <a:ext uri="{FF2B5EF4-FFF2-40B4-BE49-F238E27FC236}">
                  <a16:creationId xmlns:a16="http://schemas.microsoft.com/office/drawing/2014/main" id="{F9C95135-6E62-E5FD-FA54-2F5239447641}"/>
                </a:ext>
              </a:extLst>
            </p:cNvPr>
            <p:cNvSpPr txBox="1"/>
            <p:nvPr/>
          </p:nvSpPr>
          <p:spPr>
            <a:xfrm>
              <a:off x="1144030" y="3794605"/>
              <a:ext cx="569430" cy="1372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endParaRPr sz="900" b="0" dirty="0">
                <a:solidFill>
                  <a:srgbClr val="484848"/>
                </a:solidFill>
                <a:latin typeface="Roboto"/>
              </a:endParaRPr>
            </a:p>
          </p:txBody>
        </p:sp>
      </p:grpSp>
      <p:sp>
        <p:nvSpPr>
          <p:cNvPr id="15423" name="TextBox 15422">
            <a:extLst>
              <a:ext uri="{FF2B5EF4-FFF2-40B4-BE49-F238E27FC236}">
                <a16:creationId xmlns:a16="http://schemas.microsoft.com/office/drawing/2014/main" id="{DD18063F-657C-E3BF-42DA-4D59EB84D146}"/>
              </a:ext>
            </a:extLst>
          </p:cNvPr>
          <p:cNvSpPr txBox="1"/>
          <p:nvPr/>
        </p:nvSpPr>
        <p:spPr>
          <a:xfrm>
            <a:off x="6611673" y="1617668"/>
            <a:ext cx="40359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endParaRPr sz="1500" b="1" dirty="0">
              <a:solidFill>
                <a:srgbClr val="484848"/>
              </a:solidFill>
              <a:latin typeface="Roboto"/>
            </a:endParaRPr>
          </a:p>
        </p:txBody>
      </p:sp>
      <p:grpSp>
        <p:nvGrpSpPr>
          <p:cNvPr id="15581" name="Group 15580">
            <a:extLst>
              <a:ext uri="{FF2B5EF4-FFF2-40B4-BE49-F238E27FC236}">
                <a16:creationId xmlns:a16="http://schemas.microsoft.com/office/drawing/2014/main" id="{E153DDED-2C80-CA2A-174A-26A4A6E35A41}"/>
              </a:ext>
            </a:extLst>
          </p:cNvPr>
          <p:cNvGrpSpPr/>
          <p:nvPr/>
        </p:nvGrpSpPr>
        <p:grpSpPr>
          <a:xfrm>
            <a:off x="4386854" y="3611415"/>
            <a:ext cx="936597" cy="1128685"/>
            <a:chOff x="241334" y="2503232"/>
            <a:chExt cx="1045098" cy="1208294"/>
          </a:xfrm>
        </p:grpSpPr>
        <p:sp>
          <p:nvSpPr>
            <p:cNvPr id="15582" name="Rounded Rectangle 2">
              <a:extLst>
                <a:ext uri="{FF2B5EF4-FFF2-40B4-BE49-F238E27FC236}">
                  <a16:creationId xmlns:a16="http://schemas.microsoft.com/office/drawing/2014/main" id="{F65BB8BE-3A4A-2B6C-4156-3085A44AA4CF}"/>
                </a:ext>
              </a:extLst>
            </p:cNvPr>
            <p:cNvSpPr/>
            <p:nvPr/>
          </p:nvSpPr>
          <p:spPr>
            <a:xfrm>
              <a:off x="241334" y="2567588"/>
              <a:ext cx="1045097" cy="1079581"/>
            </a:xfrm>
            <a:custGeom>
              <a:avLst/>
              <a:gdLst/>
              <a:ahLst/>
              <a:cxnLst/>
              <a:rect l="0" t="0" r="0" b="0"/>
              <a:pathLst>
                <a:path w="1045097" h="1079581">
                  <a:moveTo>
                    <a:pt x="4" y="10"/>
                  </a:moveTo>
                  <a:cubicBezTo>
                    <a:pt x="0" y="354221"/>
                    <a:pt x="3" y="737217"/>
                    <a:pt x="4" y="1079581"/>
                  </a:cubicBezTo>
                  <a:moveTo>
                    <a:pt x="1045097" y="1079581"/>
                  </a:moveTo>
                  <a:cubicBezTo>
                    <a:pt x="1045097" y="737217"/>
                    <a:pt x="1045097" y="399816"/>
                    <a:pt x="1045097" y="0"/>
                  </a:cubicBezTo>
                </a:path>
              </a:pathLst>
            </a:custGeom>
            <a:noFill/>
            <a:ln w="12066">
              <a:solidFill>
                <a:srgbClr val="3CC583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583" name="Rounded Rectangle 3">
              <a:extLst>
                <a:ext uri="{FF2B5EF4-FFF2-40B4-BE49-F238E27FC236}">
                  <a16:creationId xmlns:a16="http://schemas.microsoft.com/office/drawing/2014/main" id="{440F516C-9803-EF9C-F625-6BFB7B7F4C1F}"/>
                </a:ext>
              </a:extLst>
            </p:cNvPr>
            <p:cNvSpPr/>
            <p:nvPr/>
          </p:nvSpPr>
          <p:spPr>
            <a:xfrm>
              <a:off x="241337" y="2503232"/>
              <a:ext cx="1045095" cy="1208294"/>
            </a:xfrm>
            <a:custGeom>
              <a:avLst/>
              <a:gdLst/>
              <a:ahLst/>
              <a:cxnLst/>
              <a:rect l="0" t="0" r="0" b="0"/>
              <a:pathLst>
                <a:path w="1045095" h="1208294">
                  <a:moveTo>
                    <a:pt x="1045095" y="64356"/>
                  </a:moveTo>
                  <a:cubicBezTo>
                    <a:pt x="1045095" y="28813"/>
                    <a:pt x="811142" y="0"/>
                    <a:pt x="522547" y="0"/>
                  </a:cubicBezTo>
                  <a:cubicBezTo>
                    <a:pt x="233952" y="0"/>
                    <a:pt x="0" y="28813"/>
                    <a:pt x="0" y="64356"/>
                  </a:cubicBezTo>
                  <a:moveTo>
                    <a:pt x="1045095" y="64356"/>
                  </a:moveTo>
                  <a:cubicBezTo>
                    <a:pt x="1045095" y="99899"/>
                    <a:pt x="811142" y="128713"/>
                    <a:pt x="522547" y="128713"/>
                  </a:cubicBezTo>
                  <a:cubicBezTo>
                    <a:pt x="233952" y="128713"/>
                    <a:pt x="0" y="99899"/>
                    <a:pt x="0" y="64356"/>
                  </a:cubicBezTo>
                  <a:moveTo>
                    <a:pt x="1045095" y="1143938"/>
                  </a:moveTo>
                  <a:cubicBezTo>
                    <a:pt x="1045095" y="1179481"/>
                    <a:pt x="811142" y="1208294"/>
                    <a:pt x="522547" y="1208294"/>
                  </a:cubicBezTo>
                  <a:cubicBezTo>
                    <a:pt x="233952" y="1208294"/>
                    <a:pt x="0" y="1179481"/>
                    <a:pt x="0" y="1143938"/>
                  </a:cubicBezTo>
                </a:path>
              </a:pathLst>
            </a:custGeom>
            <a:noFill/>
            <a:ln w="12066">
              <a:solidFill>
                <a:srgbClr val="3CC583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5584" name="Rounded Rectangle 5">
            <a:extLst>
              <a:ext uri="{FF2B5EF4-FFF2-40B4-BE49-F238E27FC236}">
                <a16:creationId xmlns:a16="http://schemas.microsoft.com/office/drawing/2014/main" id="{E1D1ED13-36E4-8819-2A59-0F4839C04A8A}"/>
              </a:ext>
            </a:extLst>
          </p:cNvPr>
          <p:cNvSpPr/>
          <p:nvPr/>
        </p:nvSpPr>
        <p:spPr>
          <a:xfrm>
            <a:off x="6004042" y="3679795"/>
            <a:ext cx="875132" cy="1000938"/>
          </a:xfrm>
          <a:custGeom>
            <a:avLst/>
            <a:gdLst/>
            <a:ahLst/>
            <a:cxnLst/>
            <a:rect l="0" t="0" r="0" b="0"/>
            <a:pathLst>
              <a:path w="976512" h="1071537">
                <a:moveTo>
                  <a:pt x="48267" y="0"/>
                </a:moveTo>
                <a:lnTo>
                  <a:pt x="32178" y="0"/>
                </a:lnTo>
                <a:cubicBezTo>
                  <a:pt x="14407" y="0"/>
                  <a:pt x="0" y="14407"/>
                  <a:pt x="0" y="32178"/>
                </a:cubicBezTo>
                <a:lnTo>
                  <a:pt x="0" y="48267"/>
                </a:lnTo>
                <a:moveTo>
                  <a:pt x="0" y="48267"/>
                </a:moveTo>
                <a:lnTo>
                  <a:pt x="0" y="1023270"/>
                </a:lnTo>
                <a:moveTo>
                  <a:pt x="976512" y="48267"/>
                </a:moveTo>
                <a:lnTo>
                  <a:pt x="976512" y="1023270"/>
                </a:lnTo>
                <a:moveTo>
                  <a:pt x="48267" y="0"/>
                </a:moveTo>
                <a:lnTo>
                  <a:pt x="928244" y="0"/>
                </a:lnTo>
                <a:moveTo>
                  <a:pt x="48267" y="1071537"/>
                </a:moveTo>
                <a:lnTo>
                  <a:pt x="32178" y="1071537"/>
                </a:lnTo>
                <a:cubicBezTo>
                  <a:pt x="14407" y="1071537"/>
                  <a:pt x="0" y="1057130"/>
                  <a:pt x="0" y="1039359"/>
                </a:cubicBezTo>
                <a:lnTo>
                  <a:pt x="0" y="1023270"/>
                </a:lnTo>
                <a:moveTo>
                  <a:pt x="928244" y="0"/>
                </a:moveTo>
                <a:lnTo>
                  <a:pt x="944334" y="0"/>
                </a:lnTo>
                <a:cubicBezTo>
                  <a:pt x="962105" y="0"/>
                  <a:pt x="976512" y="14407"/>
                  <a:pt x="976512" y="32178"/>
                </a:cubicBezTo>
                <a:lnTo>
                  <a:pt x="976512" y="48267"/>
                </a:lnTo>
                <a:moveTo>
                  <a:pt x="928244" y="1071537"/>
                </a:moveTo>
                <a:lnTo>
                  <a:pt x="48267" y="1071537"/>
                </a:lnTo>
                <a:moveTo>
                  <a:pt x="928244" y="1071537"/>
                </a:moveTo>
                <a:lnTo>
                  <a:pt x="944334" y="1071537"/>
                </a:lnTo>
                <a:cubicBezTo>
                  <a:pt x="962105" y="1071537"/>
                  <a:pt x="976512" y="1057130"/>
                  <a:pt x="976512" y="1039359"/>
                </a:cubicBezTo>
                <a:lnTo>
                  <a:pt x="976512" y="1023270"/>
                </a:lnTo>
              </a:path>
            </a:pathLst>
          </a:custGeom>
          <a:noFill/>
          <a:ln w="12066">
            <a:solidFill>
              <a:srgbClr val="1EABD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85" name="Rounded Rectangle 6">
            <a:extLst>
              <a:ext uri="{FF2B5EF4-FFF2-40B4-BE49-F238E27FC236}">
                <a16:creationId xmlns:a16="http://schemas.microsoft.com/office/drawing/2014/main" id="{9979077E-033A-6810-3B06-0DD0EBFB47EE}"/>
              </a:ext>
            </a:extLst>
          </p:cNvPr>
          <p:cNvSpPr/>
          <p:nvPr/>
        </p:nvSpPr>
        <p:spPr>
          <a:xfrm>
            <a:off x="7566622" y="3694274"/>
            <a:ext cx="934342" cy="973885"/>
          </a:xfrm>
          <a:custGeom>
            <a:avLst/>
            <a:gdLst/>
            <a:ahLst/>
            <a:cxnLst/>
            <a:rect l="0" t="0" r="0" b="0"/>
            <a:pathLst>
              <a:path w="1042581" h="1042576">
                <a:moveTo>
                  <a:pt x="48267" y="0"/>
                </a:moveTo>
                <a:lnTo>
                  <a:pt x="32178" y="0"/>
                </a:lnTo>
                <a:cubicBezTo>
                  <a:pt x="14407" y="0"/>
                  <a:pt x="0" y="14407"/>
                  <a:pt x="0" y="32178"/>
                </a:cubicBezTo>
                <a:lnTo>
                  <a:pt x="0" y="48267"/>
                </a:lnTo>
                <a:moveTo>
                  <a:pt x="0" y="48267"/>
                </a:moveTo>
                <a:lnTo>
                  <a:pt x="0" y="994309"/>
                </a:lnTo>
                <a:moveTo>
                  <a:pt x="1042581" y="48267"/>
                </a:moveTo>
                <a:lnTo>
                  <a:pt x="1042581" y="994309"/>
                </a:lnTo>
                <a:moveTo>
                  <a:pt x="48267" y="0"/>
                </a:moveTo>
                <a:lnTo>
                  <a:pt x="994314" y="0"/>
                </a:lnTo>
                <a:moveTo>
                  <a:pt x="48267" y="1042576"/>
                </a:moveTo>
                <a:lnTo>
                  <a:pt x="32178" y="1042576"/>
                </a:lnTo>
                <a:cubicBezTo>
                  <a:pt x="14407" y="1042576"/>
                  <a:pt x="0" y="1028169"/>
                  <a:pt x="0" y="1010398"/>
                </a:cubicBezTo>
                <a:lnTo>
                  <a:pt x="0" y="994309"/>
                </a:lnTo>
                <a:moveTo>
                  <a:pt x="994314" y="0"/>
                </a:moveTo>
                <a:lnTo>
                  <a:pt x="1010403" y="0"/>
                </a:lnTo>
                <a:cubicBezTo>
                  <a:pt x="1028174" y="0"/>
                  <a:pt x="1042581" y="14407"/>
                  <a:pt x="1042581" y="32178"/>
                </a:cubicBezTo>
                <a:lnTo>
                  <a:pt x="1042581" y="48267"/>
                </a:lnTo>
                <a:moveTo>
                  <a:pt x="994314" y="1042576"/>
                </a:moveTo>
                <a:lnTo>
                  <a:pt x="48267" y="1042576"/>
                </a:lnTo>
                <a:moveTo>
                  <a:pt x="994314" y="1042576"/>
                </a:moveTo>
                <a:lnTo>
                  <a:pt x="1010403" y="1042576"/>
                </a:lnTo>
                <a:cubicBezTo>
                  <a:pt x="1028174" y="1042576"/>
                  <a:pt x="1042581" y="1028169"/>
                  <a:pt x="1042581" y="1010398"/>
                </a:cubicBezTo>
                <a:lnTo>
                  <a:pt x="1042581" y="994309"/>
                </a:lnTo>
              </a:path>
            </a:pathLst>
          </a:custGeom>
          <a:noFill/>
          <a:ln w="12066">
            <a:solidFill>
              <a:srgbClr val="1EABD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87" name="Rounded Rectangle 8">
            <a:extLst>
              <a:ext uri="{FF2B5EF4-FFF2-40B4-BE49-F238E27FC236}">
                <a16:creationId xmlns:a16="http://schemas.microsoft.com/office/drawing/2014/main" id="{BA1B23B6-4558-DB2A-CABA-3F2EF70E9350}"/>
              </a:ext>
            </a:extLst>
          </p:cNvPr>
          <p:cNvSpPr/>
          <p:nvPr/>
        </p:nvSpPr>
        <p:spPr>
          <a:xfrm>
            <a:off x="11070368" y="1976997"/>
            <a:ext cx="952816" cy="757467"/>
          </a:xfrm>
          <a:custGeom>
            <a:avLst/>
            <a:gdLst/>
            <a:ahLst/>
            <a:cxnLst/>
            <a:rect l="0" t="0" r="0" b="0"/>
            <a:pathLst>
              <a:path w="1063195" h="810893">
                <a:moveTo>
                  <a:pt x="48267" y="0"/>
                </a:moveTo>
                <a:lnTo>
                  <a:pt x="32178" y="0"/>
                </a:lnTo>
                <a:cubicBezTo>
                  <a:pt x="14407" y="0"/>
                  <a:pt x="0" y="14407"/>
                  <a:pt x="0" y="32178"/>
                </a:cubicBezTo>
                <a:lnTo>
                  <a:pt x="0" y="48267"/>
                </a:lnTo>
                <a:moveTo>
                  <a:pt x="0" y="48267"/>
                </a:moveTo>
                <a:lnTo>
                  <a:pt x="0" y="762625"/>
                </a:lnTo>
                <a:moveTo>
                  <a:pt x="1063195" y="48267"/>
                </a:moveTo>
                <a:lnTo>
                  <a:pt x="1063195" y="762625"/>
                </a:lnTo>
                <a:moveTo>
                  <a:pt x="48267" y="0"/>
                </a:moveTo>
                <a:lnTo>
                  <a:pt x="1014928" y="0"/>
                </a:lnTo>
                <a:moveTo>
                  <a:pt x="48267" y="810893"/>
                </a:moveTo>
                <a:lnTo>
                  <a:pt x="32178" y="810893"/>
                </a:lnTo>
                <a:cubicBezTo>
                  <a:pt x="14407" y="810893"/>
                  <a:pt x="0" y="796486"/>
                  <a:pt x="0" y="778714"/>
                </a:cubicBezTo>
                <a:lnTo>
                  <a:pt x="0" y="762625"/>
                </a:lnTo>
                <a:moveTo>
                  <a:pt x="1014928" y="0"/>
                </a:moveTo>
                <a:lnTo>
                  <a:pt x="1031017" y="0"/>
                </a:lnTo>
                <a:cubicBezTo>
                  <a:pt x="1048788" y="0"/>
                  <a:pt x="1063195" y="14407"/>
                  <a:pt x="1063195" y="32178"/>
                </a:cubicBezTo>
                <a:lnTo>
                  <a:pt x="1063195" y="48267"/>
                </a:lnTo>
                <a:moveTo>
                  <a:pt x="1014928" y="810893"/>
                </a:moveTo>
                <a:lnTo>
                  <a:pt x="48267" y="810893"/>
                </a:lnTo>
                <a:moveTo>
                  <a:pt x="1014928" y="810893"/>
                </a:moveTo>
                <a:lnTo>
                  <a:pt x="1031017" y="810893"/>
                </a:lnTo>
                <a:cubicBezTo>
                  <a:pt x="1048788" y="810893"/>
                  <a:pt x="1063195" y="796486"/>
                  <a:pt x="1063195" y="778714"/>
                </a:cubicBezTo>
                <a:lnTo>
                  <a:pt x="1063195" y="762625"/>
                </a:lnTo>
              </a:path>
            </a:pathLst>
          </a:custGeom>
          <a:noFill/>
          <a:ln w="12066">
            <a:solidFill>
              <a:srgbClr val="1EABD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88" name="Rounded Rectangle 9">
            <a:extLst>
              <a:ext uri="{FF2B5EF4-FFF2-40B4-BE49-F238E27FC236}">
                <a16:creationId xmlns:a16="http://schemas.microsoft.com/office/drawing/2014/main" id="{05EAE830-CC4D-F448-1EB4-BCC4CA9CE089}"/>
              </a:ext>
            </a:extLst>
          </p:cNvPr>
          <p:cNvSpPr/>
          <p:nvPr/>
        </p:nvSpPr>
        <p:spPr>
          <a:xfrm>
            <a:off x="11067705" y="4526651"/>
            <a:ext cx="929829" cy="892728"/>
          </a:xfrm>
          <a:custGeom>
            <a:avLst/>
            <a:gdLst/>
            <a:ahLst/>
            <a:cxnLst/>
            <a:rect l="0" t="0" r="0" b="0"/>
            <a:pathLst>
              <a:path w="1037545" h="955695">
                <a:moveTo>
                  <a:pt x="48267" y="0"/>
                </a:moveTo>
                <a:lnTo>
                  <a:pt x="32178" y="0"/>
                </a:lnTo>
                <a:cubicBezTo>
                  <a:pt x="14407" y="0"/>
                  <a:pt x="0" y="14407"/>
                  <a:pt x="0" y="32178"/>
                </a:cubicBezTo>
                <a:lnTo>
                  <a:pt x="0" y="48267"/>
                </a:lnTo>
                <a:moveTo>
                  <a:pt x="0" y="48267"/>
                </a:moveTo>
                <a:lnTo>
                  <a:pt x="0" y="907428"/>
                </a:lnTo>
                <a:moveTo>
                  <a:pt x="1037545" y="48267"/>
                </a:moveTo>
                <a:lnTo>
                  <a:pt x="1037545" y="907428"/>
                </a:lnTo>
                <a:moveTo>
                  <a:pt x="48267" y="0"/>
                </a:moveTo>
                <a:lnTo>
                  <a:pt x="989278" y="0"/>
                </a:lnTo>
                <a:moveTo>
                  <a:pt x="48267" y="955695"/>
                </a:moveTo>
                <a:lnTo>
                  <a:pt x="32178" y="955695"/>
                </a:lnTo>
                <a:cubicBezTo>
                  <a:pt x="14407" y="955695"/>
                  <a:pt x="0" y="941288"/>
                  <a:pt x="0" y="923517"/>
                </a:cubicBezTo>
                <a:lnTo>
                  <a:pt x="0" y="907428"/>
                </a:lnTo>
                <a:moveTo>
                  <a:pt x="989278" y="0"/>
                </a:moveTo>
                <a:lnTo>
                  <a:pt x="1005367" y="0"/>
                </a:lnTo>
                <a:cubicBezTo>
                  <a:pt x="1023138" y="0"/>
                  <a:pt x="1037545" y="14407"/>
                  <a:pt x="1037545" y="32178"/>
                </a:cubicBezTo>
                <a:lnTo>
                  <a:pt x="1037545" y="48267"/>
                </a:lnTo>
                <a:moveTo>
                  <a:pt x="989278" y="955695"/>
                </a:moveTo>
                <a:lnTo>
                  <a:pt x="48267" y="955695"/>
                </a:lnTo>
                <a:moveTo>
                  <a:pt x="989278" y="955695"/>
                </a:moveTo>
                <a:lnTo>
                  <a:pt x="1005367" y="955695"/>
                </a:lnTo>
                <a:cubicBezTo>
                  <a:pt x="1023138" y="955695"/>
                  <a:pt x="1037545" y="941288"/>
                  <a:pt x="1037545" y="923517"/>
                </a:cubicBezTo>
                <a:lnTo>
                  <a:pt x="1037545" y="907428"/>
                </a:lnTo>
              </a:path>
            </a:pathLst>
          </a:custGeom>
          <a:noFill/>
          <a:ln w="12066">
            <a:solidFill>
              <a:srgbClr val="1EABD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89" name="Rounded Rectangle 10">
            <a:extLst>
              <a:ext uri="{FF2B5EF4-FFF2-40B4-BE49-F238E27FC236}">
                <a16:creationId xmlns:a16="http://schemas.microsoft.com/office/drawing/2014/main" id="{D4F50C15-23D3-BA58-D4FF-56EB005A1FD1}"/>
              </a:ext>
            </a:extLst>
          </p:cNvPr>
          <p:cNvSpPr/>
          <p:nvPr/>
        </p:nvSpPr>
        <p:spPr>
          <a:xfrm>
            <a:off x="11065889" y="5643237"/>
            <a:ext cx="914150" cy="865676"/>
          </a:xfrm>
          <a:custGeom>
            <a:avLst/>
            <a:gdLst/>
            <a:ahLst/>
            <a:cxnLst/>
            <a:rect l="0" t="0" r="0" b="0"/>
            <a:pathLst>
              <a:path w="1020050" h="926735">
                <a:moveTo>
                  <a:pt x="48267" y="0"/>
                </a:moveTo>
                <a:lnTo>
                  <a:pt x="32178" y="0"/>
                </a:lnTo>
                <a:cubicBezTo>
                  <a:pt x="14407" y="0"/>
                  <a:pt x="0" y="14407"/>
                  <a:pt x="0" y="32178"/>
                </a:cubicBezTo>
                <a:lnTo>
                  <a:pt x="0" y="48267"/>
                </a:lnTo>
                <a:moveTo>
                  <a:pt x="0" y="48267"/>
                </a:moveTo>
                <a:lnTo>
                  <a:pt x="0" y="878467"/>
                </a:lnTo>
                <a:moveTo>
                  <a:pt x="1020050" y="48267"/>
                </a:moveTo>
                <a:lnTo>
                  <a:pt x="1020050" y="878467"/>
                </a:lnTo>
                <a:moveTo>
                  <a:pt x="48267" y="0"/>
                </a:moveTo>
                <a:lnTo>
                  <a:pt x="971783" y="0"/>
                </a:lnTo>
                <a:moveTo>
                  <a:pt x="48267" y="926735"/>
                </a:moveTo>
                <a:lnTo>
                  <a:pt x="32178" y="926735"/>
                </a:lnTo>
                <a:cubicBezTo>
                  <a:pt x="14407" y="926735"/>
                  <a:pt x="0" y="912328"/>
                  <a:pt x="0" y="894556"/>
                </a:cubicBezTo>
                <a:lnTo>
                  <a:pt x="0" y="878467"/>
                </a:lnTo>
                <a:moveTo>
                  <a:pt x="971783" y="0"/>
                </a:moveTo>
                <a:lnTo>
                  <a:pt x="987872" y="0"/>
                </a:lnTo>
                <a:cubicBezTo>
                  <a:pt x="1005643" y="0"/>
                  <a:pt x="1020050" y="14407"/>
                  <a:pt x="1020050" y="32178"/>
                </a:cubicBezTo>
                <a:lnTo>
                  <a:pt x="1020050" y="48267"/>
                </a:lnTo>
                <a:moveTo>
                  <a:pt x="971783" y="926735"/>
                </a:moveTo>
                <a:lnTo>
                  <a:pt x="48267" y="926735"/>
                </a:lnTo>
                <a:moveTo>
                  <a:pt x="971783" y="926735"/>
                </a:moveTo>
                <a:lnTo>
                  <a:pt x="987872" y="926735"/>
                </a:lnTo>
                <a:cubicBezTo>
                  <a:pt x="1005643" y="926735"/>
                  <a:pt x="1020050" y="912328"/>
                  <a:pt x="1020050" y="894556"/>
                </a:cubicBezTo>
                <a:lnTo>
                  <a:pt x="1020050" y="878467"/>
                </a:lnTo>
              </a:path>
            </a:pathLst>
          </a:custGeom>
          <a:noFill/>
          <a:ln w="12066">
            <a:solidFill>
              <a:srgbClr val="1EABD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5590" name="Group 15589">
            <a:extLst>
              <a:ext uri="{FF2B5EF4-FFF2-40B4-BE49-F238E27FC236}">
                <a16:creationId xmlns:a16="http://schemas.microsoft.com/office/drawing/2014/main" id="{8F67111E-04EC-CEF0-E974-DCDBC8D86A1F}"/>
              </a:ext>
            </a:extLst>
          </p:cNvPr>
          <p:cNvGrpSpPr/>
          <p:nvPr/>
        </p:nvGrpSpPr>
        <p:grpSpPr>
          <a:xfrm>
            <a:off x="5381914" y="4183385"/>
            <a:ext cx="504658" cy="60116"/>
            <a:chOff x="1286432" y="3075202"/>
            <a:chExt cx="563120" cy="64356"/>
          </a:xfrm>
        </p:grpSpPr>
        <p:sp>
          <p:nvSpPr>
            <p:cNvPr id="15591" name="Rounded Rectangle 11">
              <a:extLst>
                <a:ext uri="{FF2B5EF4-FFF2-40B4-BE49-F238E27FC236}">
                  <a16:creationId xmlns:a16="http://schemas.microsoft.com/office/drawing/2014/main" id="{56E4AF4D-7B66-E59A-0EB1-95A841CBC35D}"/>
                </a:ext>
              </a:extLst>
            </p:cNvPr>
            <p:cNvSpPr/>
            <p:nvPr/>
          </p:nvSpPr>
          <p:spPr>
            <a:xfrm>
              <a:off x="1286432" y="3107380"/>
              <a:ext cx="547031" cy="8044"/>
            </a:xfrm>
            <a:custGeom>
              <a:avLst/>
              <a:gdLst/>
              <a:ahLst/>
              <a:cxnLst/>
              <a:rect l="0" t="0" r="0" b="0"/>
              <a:pathLst>
                <a:path w="547031" h="8044">
                  <a:moveTo>
                    <a:pt x="0" y="0"/>
                  </a:moveTo>
                  <a:lnTo>
                    <a:pt x="547031" y="0"/>
                  </a:lnTo>
                </a:path>
              </a:pathLst>
            </a:custGeom>
            <a:noFill/>
            <a:ln w="12066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592" name="Rounded Rectangle 12">
              <a:extLst>
                <a:ext uri="{FF2B5EF4-FFF2-40B4-BE49-F238E27FC236}">
                  <a16:creationId xmlns:a16="http://schemas.microsoft.com/office/drawing/2014/main" id="{04AB13BE-2A18-CF80-124D-1981A7653837}"/>
                </a:ext>
              </a:extLst>
            </p:cNvPr>
            <p:cNvSpPr/>
            <p:nvPr/>
          </p:nvSpPr>
          <p:spPr>
            <a:xfrm>
              <a:off x="1793240" y="3075202"/>
              <a:ext cx="56312" cy="64356"/>
            </a:xfrm>
            <a:custGeom>
              <a:avLst/>
              <a:gdLst/>
              <a:ahLst/>
              <a:cxnLst/>
              <a:rect l="0" t="0" r="0" b="0"/>
              <a:pathLst>
                <a:path w="56312" h="64356">
                  <a:moveTo>
                    <a:pt x="56312" y="32178"/>
                  </a:moveTo>
                  <a:lnTo>
                    <a:pt x="0" y="643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4848"/>
            </a:solidFill>
            <a:ln w="12066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5593" name="Group 15592">
            <a:extLst>
              <a:ext uri="{FF2B5EF4-FFF2-40B4-BE49-F238E27FC236}">
                <a16:creationId xmlns:a16="http://schemas.microsoft.com/office/drawing/2014/main" id="{808C53E4-580F-08CD-0E90-9C2374E22DD5}"/>
              </a:ext>
            </a:extLst>
          </p:cNvPr>
          <p:cNvGrpSpPr/>
          <p:nvPr/>
        </p:nvGrpSpPr>
        <p:grpSpPr>
          <a:xfrm>
            <a:off x="6937636" y="4183385"/>
            <a:ext cx="504658" cy="60116"/>
            <a:chOff x="2842154" y="3075202"/>
            <a:chExt cx="563120" cy="64356"/>
          </a:xfrm>
        </p:grpSpPr>
        <p:sp>
          <p:nvSpPr>
            <p:cNvPr id="15594" name="Rounded Rectangle 14">
              <a:extLst>
                <a:ext uri="{FF2B5EF4-FFF2-40B4-BE49-F238E27FC236}">
                  <a16:creationId xmlns:a16="http://schemas.microsoft.com/office/drawing/2014/main" id="{2E0046AD-7D88-259C-F00C-C1B829387263}"/>
                </a:ext>
              </a:extLst>
            </p:cNvPr>
            <p:cNvSpPr/>
            <p:nvPr/>
          </p:nvSpPr>
          <p:spPr>
            <a:xfrm>
              <a:off x="2842154" y="3107380"/>
              <a:ext cx="547031" cy="8044"/>
            </a:xfrm>
            <a:custGeom>
              <a:avLst/>
              <a:gdLst/>
              <a:ahLst/>
              <a:cxnLst/>
              <a:rect l="0" t="0" r="0" b="0"/>
              <a:pathLst>
                <a:path w="547031" h="8044">
                  <a:moveTo>
                    <a:pt x="0" y="0"/>
                  </a:moveTo>
                  <a:lnTo>
                    <a:pt x="547031" y="0"/>
                  </a:lnTo>
                </a:path>
              </a:pathLst>
            </a:custGeom>
            <a:noFill/>
            <a:ln w="12066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595" name="Rounded Rectangle 15">
              <a:extLst>
                <a:ext uri="{FF2B5EF4-FFF2-40B4-BE49-F238E27FC236}">
                  <a16:creationId xmlns:a16="http://schemas.microsoft.com/office/drawing/2014/main" id="{75631F28-6393-B83D-6B18-3403D88A4630}"/>
                </a:ext>
              </a:extLst>
            </p:cNvPr>
            <p:cNvSpPr/>
            <p:nvPr/>
          </p:nvSpPr>
          <p:spPr>
            <a:xfrm>
              <a:off x="3348962" y="3075202"/>
              <a:ext cx="56312" cy="64356"/>
            </a:xfrm>
            <a:custGeom>
              <a:avLst/>
              <a:gdLst/>
              <a:ahLst/>
              <a:cxnLst/>
              <a:rect l="0" t="0" r="0" b="0"/>
              <a:pathLst>
                <a:path w="56312" h="64356">
                  <a:moveTo>
                    <a:pt x="56312" y="32178"/>
                  </a:moveTo>
                  <a:lnTo>
                    <a:pt x="0" y="643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4848"/>
            </a:solidFill>
            <a:ln w="12066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5596" name="Group 15595">
            <a:extLst>
              <a:ext uri="{FF2B5EF4-FFF2-40B4-BE49-F238E27FC236}">
                <a16:creationId xmlns:a16="http://schemas.microsoft.com/office/drawing/2014/main" id="{884876DF-F8E2-9FD1-F3D4-BCD98E67B40C}"/>
              </a:ext>
            </a:extLst>
          </p:cNvPr>
          <p:cNvGrpSpPr/>
          <p:nvPr/>
        </p:nvGrpSpPr>
        <p:grpSpPr>
          <a:xfrm>
            <a:off x="8559427" y="4014901"/>
            <a:ext cx="415162" cy="228600"/>
            <a:chOff x="4463945" y="3075202"/>
            <a:chExt cx="563120" cy="64356"/>
          </a:xfrm>
        </p:grpSpPr>
        <p:sp>
          <p:nvSpPr>
            <p:cNvPr id="15597" name="Rounded Rectangle 17">
              <a:extLst>
                <a:ext uri="{FF2B5EF4-FFF2-40B4-BE49-F238E27FC236}">
                  <a16:creationId xmlns:a16="http://schemas.microsoft.com/office/drawing/2014/main" id="{00C6F9E8-8A0E-E4D2-E426-083A55B836D4}"/>
                </a:ext>
              </a:extLst>
            </p:cNvPr>
            <p:cNvSpPr/>
            <p:nvPr/>
          </p:nvSpPr>
          <p:spPr>
            <a:xfrm>
              <a:off x="4463945" y="3107380"/>
              <a:ext cx="547031" cy="8044"/>
            </a:xfrm>
            <a:custGeom>
              <a:avLst/>
              <a:gdLst/>
              <a:ahLst/>
              <a:cxnLst/>
              <a:rect l="0" t="0" r="0" b="0"/>
              <a:pathLst>
                <a:path w="547031" h="8044">
                  <a:moveTo>
                    <a:pt x="0" y="0"/>
                  </a:moveTo>
                  <a:lnTo>
                    <a:pt x="547031" y="0"/>
                  </a:lnTo>
                </a:path>
              </a:pathLst>
            </a:custGeom>
            <a:noFill/>
            <a:ln w="12066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598" name="Rounded Rectangle 18">
              <a:extLst>
                <a:ext uri="{FF2B5EF4-FFF2-40B4-BE49-F238E27FC236}">
                  <a16:creationId xmlns:a16="http://schemas.microsoft.com/office/drawing/2014/main" id="{82BE191D-04EA-DD2F-95DA-B70C41A45076}"/>
                </a:ext>
              </a:extLst>
            </p:cNvPr>
            <p:cNvSpPr/>
            <p:nvPr/>
          </p:nvSpPr>
          <p:spPr>
            <a:xfrm>
              <a:off x="4970753" y="3075202"/>
              <a:ext cx="56312" cy="64356"/>
            </a:xfrm>
            <a:custGeom>
              <a:avLst/>
              <a:gdLst/>
              <a:ahLst/>
              <a:cxnLst/>
              <a:rect l="0" t="0" r="0" b="0"/>
              <a:pathLst>
                <a:path w="56312" h="64356">
                  <a:moveTo>
                    <a:pt x="56312" y="32178"/>
                  </a:moveTo>
                  <a:lnTo>
                    <a:pt x="0" y="643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4848"/>
            </a:solidFill>
            <a:ln w="12066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5599" name="Group 15598">
            <a:extLst>
              <a:ext uri="{FF2B5EF4-FFF2-40B4-BE49-F238E27FC236}">
                <a16:creationId xmlns:a16="http://schemas.microsoft.com/office/drawing/2014/main" id="{447C73E1-1905-92AE-6755-DC758F4FA299}"/>
              </a:ext>
            </a:extLst>
          </p:cNvPr>
          <p:cNvGrpSpPr/>
          <p:nvPr/>
        </p:nvGrpSpPr>
        <p:grpSpPr>
          <a:xfrm>
            <a:off x="10179704" y="2350266"/>
            <a:ext cx="764196" cy="1742399"/>
            <a:chOff x="6054155" y="1242083"/>
            <a:chExt cx="852725" cy="1865295"/>
          </a:xfrm>
        </p:grpSpPr>
        <p:sp>
          <p:nvSpPr>
            <p:cNvPr id="15600" name="Rounded Rectangle 20">
              <a:extLst>
                <a:ext uri="{FF2B5EF4-FFF2-40B4-BE49-F238E27FC236}">
                  <a16:creationId xmlns:a16="http://schemas.microsoft.com/office/drawing/2014/main" id="{8A90A43C-7831-39D8-6248-CE69704872BE}"/>
                </a:ext>
              </a:extLst>
            </p:cNvPr>
            <p:cNvSpPr/>
            <p:nvPr/>
          </p:nvSpPr>
          <p:spPr>
            <a:xfrm>
              <a:off x="6054155" y="1274261"/>
              <a:ext cx="836635" cy="1833117"/>
            </a:xfrm>
            <a:custGeom>
              <a:avLst/>
              <a:gdLst/>
              <a:ahLst/>
              <a:cxnLst/>
              <a:rect l="0" t="0" r="0" b="0"/>
              <a:pathLst>
                <a:path w="836635" h="1833117">
                  <a:moveTo>
                    <a:pt x="0" y="1833117"/>
                  </a:moveTo>
                  <a:lnTo>
                    <a:pt x="193069" y="1833117"/>
                  </a:lnTo>
                  <a:cubicBezTo>
                    <a:pt x="246405" y="1833117"/>
                    <a:pt x="289604" y="1789917"/>
                    <a:pt x="289604" y="1736582"/>
                  </a:cubicBezTo>
                  <a:lnTo>
                    <a:pt x="289604" y="96534"/>
                  </a:lnTo>
                  <a:cubicBezTo>
                    <a:pt x="289604" y="43199"/>
                    <a:pt x="332804" y="0"/>
                    <a:pt x="386139" y="0"/>
                  </a:cubicBezTo>
                  <a:lnTo>
                    <a:pt x="836635" y="0"/>
                  </a:lnTo>
                </a:path>
              </a:pathLst>
            </a:custGeom>
            <a:noFill/>
            <a:ln w="12066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601" name="Rounded Rectangle 21">
              <a:extLst>
                <a:ext uri="{FF2B5EF4-FFF2-40B4-BE49-F238E27FC236}">
                  <a16:creationId xmlns:a16="http://schemas.microsoft.com/office/drawing/2014/main" id="{EA74D466-10A0-FD38-C31F-44DC89DD78C1}"/>
                </a:ext>
              </a:extLst>
            </p:cNvPr>
            <p:cNvSpPr/>
            <p:nvPr/>
          </p:nvSpPr>
          <p:spPr>
            <a:xfrm>
              <a:off x="6850568" y="1242083"/>
              <a:ext cx="56312" cy="64356"/>
            </a:xfrm>
            <a:custGeom>
              <a:avLst/>
              <a:gdLst/>
              <a:ahLst/>
              <a:cxnLst/>
              <a:rect l="0" t="0" r="0" b="0"/>
              <a:pathLst>
                <a:path w="56312" h="64356">
                  <a:moveTo>
                    <a:pt x="56312" y="32178"/>
                  </a:moveTo>
                  <a:lnTo>
                    <a:pt x="0" y="643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4848"/>
            </a:solidFill>
            <a:ln w="12066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5602" name="Group 15601">
            <a:extLst>
              <a:ext uri="{FF2B5EF4-FFF2-40B4-BE49-F238E27FC236}">
                <a16:creationId xmlns:a16="http://schemas.microsoft.com/office/drawing/2014/main" id="{89F0E8D8-CE9B-64DE-23D0-0610948CC823}"/>
              </a:ext>
            </a:extLst>
          </p:cNvPr>
          <p:cNvGrpSpPr/>
          <p:nvPr/>
        </p:nvGrpSpPr>
        <p:grpSpPr>
          <a:xfrm>
            <a:off x="9594257" y="4736321"/>
            <a:ext cx="1216946" cy="270523"/>
            <a:chOff x="5548655" y="3638888"/>
            <a:chExt cx="1357924" cy="289604"/>
          </a:xfrm>
        </p:grpSpPr>
        <p:sp>
          <p:nvSpPr>
            <p:cNvPr id="15603" name="Rounded Rectangle 23">
              <a:extLst>
                <a:ext uri="{FF2B5EF4-FFF2-40B4-BE49-F238E27FC236}">
                  <a16:creationId xmlns:a16="http://schemas.microsoft.com/office/drawing/2014/main" id="{5311C166-A958-E39A-A1CF-3077CE0FB1C5}"/>
                </a:ext>
              </a:extLst>
            </p:cNvPr>
            <p:cNvSpPr/>
            <p:nvPr/>
          </p:nvSpPr>
          <p:spPr>
            <a:xfrm>
              <a:off x="5548655" y="3638888"/>
              <a:ext cx="1342156" cy="257426"/>
            </a:xfrm>
            <a:custGeom>
              <a:avLst/>
              <a:gdLst/>
              <a:ahLst/>
              <a:cxnLst/>
              <a:rect l="0" t="0" r="0" b="0"/>
              <a:pathLst>
                <a:path w="1342156" h="257426">
                  <a:moveTo>
                    <a:pt x="0" y="0"/>
                  </a:moveTo>
                  <a:lnTo>
                    <a:pt x="0" y="160891"/>
                  </a:lnTo>
                  <a:cubicBezTo>
                    <a:pt x="0" y="214227"/>
                    <a:pt x="43199" y="257426"/>
                    <a:pt x="96534" y="257426"/>
                  </a:cubicBezTo>
                  <a:lnTo>
                    <a:pt x="1342156" y="257426"/>
                  </a:lnTo>
                </a:path>
              </a:pathLst>
            </a:custGeom>
            <a:noFill/>
            <a:ln w="12066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604" name="Rounded Rectangle 24">
              <a:extLst>
                <a:ext uri="{FF2B5EF4-FFF2-40B4-BE49-F238E27FC236}">
                  <a16:creationId xmlns:a16="http://schemas.microsoft.com/office/drawing/2014/main" id="{0EE566B3-3587-0205-2FD1-6CEDA4E19C91}"/>
                </a:ext>
              </a:extLst>
            </p:cNvPr>
            <p:cNvSpPr/>
            <p:nvPr/>
          </p:nvSpPr>
          <p:spPr>
            <a:xfrm>
              <a:off x="6850267" y="3864136"/>
              <a:ext cx="56312" cy="64356"/>
            </a:xfrm>
            <a:custGeom>
              <a:avLst/>
              <a:gdLst/>
              <a:ahLst/>
              <a:cxnLst/>
              <a:rect l="0" t="0" r="0" b="0"/>
              <a:pathLst>
                <a:path w="56312" h="64356">
                  <a:moveTo>
                    <a:pt x="56312" y="32178"/>
                  </a:moveTo>
                  <a:lnTo>
                    <a:pt x="0" y="643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4848"/>
            </a:solidFill>
            <a:ln w="12066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5605" name="Group 15604">
            <a:extLst>
              <a:ext uri="{FF2B5EF4-FFF2-40B4-BE49-F238E27FC236}">
                <a16:creationId xmlns:a16="http://schemas.microsoft.com/office/drawing/2014/main" id="{7E39C23F-876E-B037-1E57-B821454B6C65}"/>
              </a:ext>
            </a:extLst>
          </p:cNvPr>
          <p:cNvGrpSpPr/>
          <p:nvPr/>
        </p:nvGrpSpPr>
        <p:grpSpPr>
          <a:xfrm>
            <a:off x="10179704" y="4215563"/>
            <a:ext cx="764196" cy="1796729"/>
            <a:chOff x="6054155" y="3107380"/>
            <a:chExt cx="852725" cy="1923457"/>
          </a:xfrm>
        </p:grpSpPr>
        <p:sp>
          <p:nvSpPr>
            <p:cNvPr id="15606" name="Rounded Rectangle 26">
              <a:extLst>
                <a:ext uri="{FF2B5EF4-FFF2-40B4-BE49-F238E27FC236}">
                  <a16:creationId xmlns:a16="http://schemas.microsoft.com/office/drawing/2014/main" id="{F18415FD-012D-0826-038C-9387CB8CCB8A}"/>
                </a:ext>
              </a:extLst>
            </p:cNvPr>
            <p:cNvSpPr/>
            <p:nvPr/>
          </p:nvSpPr>
          <p:spPr>
            <a:xfrm>
              <a:off x="6054155" y="3107380"/>
              <a:ext cx="836635" cy="1891038"/>
            </a:xfrm>
            <a:custGeom>
              <a:avLst/>
              <a:gdLst/>
              <a:ahLst/>
              <a:cxnLst/>
              <a:rect l="0" t="0" r="0" b="0"/>
              <a:pathLst>
                <a:path w="836635" h="1891038">
                  <a:moveTo>
                    <a:pt x="0" y="0"/>
                  </a:moveTo>
                  <a:lnTo>
                    <a:pt x="193069" y="0"/>
                  </a:lnTo>
                  <a:cubicBezTo>
                    <a:pt x="246405" y="0"/>
                    <a:pt x="289604" y="43199"/>
                    <a:pt x="289604" y="96534"/>
                  </a:cubicBezTo>
                  <a:lnTo>
                    <a:pt x="289604" y="1794503"/>
                  </a:lnTo>
                  <a:cubicBezTo>
                    <a:pt x="289604" y="1847838"/>
                    <a:pt x="332804" y="1891038"/>
                    <a:pt x="386139" y="1891038"/>
                  </a:cubicBezTo>
                  <a:lnTo>
                    <a:pt x="836635" y="1891038"/>
                  </a:lnTo>
                </a:path>
              </a:pathLst>
            </a:custGeom>
            <a:noFill/>
            <a:ln w="12066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607" name="Rounded Rectangle 27">
              <a:extLst>
                <a:ext uri="{FF2B5EF4-FFF2-40B4-BE49-F238E27FC236}">
                  <a16:creationId xmlns:a16="http://schemas.microsoft.com/office/drawing/2014/main" id="{1B43B02F-EA37-08BA-6E94-BCDA9B032C87}"/>
                </a:ext>
              </a:extLst>
            </p:cNvPr>
            <p:cNvSpPr/>
            <p:nvPr/>
          </p:nvSpPr>
          <p:spPr>
            <a:xfrm>
              <a:off x="6850568" y="4966481"/>
              <a:ext cx="56312" cy="64356"/>
            </a:xfrm>
            <a:custGeom>
              <a:avLst/>
              <a:gdLst/>
              <a:ahLst/>
              <a:cxnLst/>
              <a:rect l="0" t="0" r="0" b="0"/>
              <a:pathLst>
                <a:path w="56312" h="64356">
                  <a:moveTo>
                    <a:pt x="56312" y="32178"/>
                  </a:moveTo>
                  <a:lnTo>
                    <a:pt x="0" y="643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4848"/>
            </a:solidFill>
            <a:ln w="12066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5608" name="TextBox 15607">
            <a:extLst>
              <a:ext uri="{FF2B5EF4-FFF2-40B4-BE49-F238E27FC236}">
                <a16:creationId xmlns:a16="http://schemas.microsoft.com/office/drawing/2014/main" id="{1D995548-383E-0037-0EBE-634AC427F18B}"/>
              </a:ext>
            </a:extLst>
          </p:cNvPr>
          <p:cNvSpPr txBox="1"/>
          <p:nvPr/>
        </p:nvSpPr>
        <p:spPr>
          <a:xfrm>
            <a:off x="9293656" y="3869080"/>
            <a:ext cx="660569" cy="112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dirty="0">
                <a:solidFill>
                  <a:srgbClr val="DE8431"/>
                </a:solidFill>
                <a:latin typeface="Roboto"/>
              </a:rPr>
              <a:t>Safety Gap?</a:t>
            </a:r>
          </a:p>
        </p:txBody>
      </p:sp>
      <p:grpSp>
        <p:nvGrpSpPr>
          <p:cNvPr id="15609" name="Group 15608">
            <a:extLst>
              <a:ext uri="{FF2B5EF4-FFF2-40B4-BE49-F238E27FC236}">
                <a16:creationId xmlns:a16="http://schemas.microsoft.com/office/drawing/2014/main" id="{FDD620A5-2206-E766-CD67-3F11817708CA}"/>
              </a:ext>
            </a:extLst>
          </p:cNvPr>
          <p:cNvGrpSpPr/>
          <p:nvPr/>
        </p:nvGrpSpPr>
        <p:grpSpPr>
          <a:xfrm>
            <a:off x="6131562" y="3752196"/>
            <a:ext cx="586665" cy="270522"/>
            <a:chOff x="2026580" y="2644012"/>
            <a:chExt cx="654627" cy="289603"/>
          </a:xfrm>
        </p:grpSpPr>
        <p:sp>
          <p:nvSpPr>
            <p:cNvPr id="15610" name="TextBox 15609">
              <a:extLst>
                <a:ext uri="{FF2B5EF4-FFF2-40B4-BE49-F238E27FC236}">
                  <a16:creationId xmlns:a16="http://schemas.microsoft.com/office/drawing/2014/main" id="{1CB493FC-860E-4FEE-A94C-06B664601BD5}"/>
                </a:ext>
              </a:extLst>
            </p:cNvPr>
            <p:cNvSpPr txBox="1"/>
            <p:nvPr/>
          </p:nvSpPr>
          <p:spPr>
            <a:xfrm>
              <a:off x="1977483" y="2644012"/>
              <a:ext cx="752821" cy="1448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EABDA"/>
                  </a:solidFill>
                  <a:latin typeface="Roboto"/>
                </a:rPr>
                <a:t>Baseline</a:t>
              </a:r>
            </a:p>
          </p:txBody>
        </p:sp>
        <p:sp>
          <p:nvSpPr>
            <p:cNvPr id="15611" name="TextBox 15610">
              <a:extLst>
                <a:ext uri="{FF2B5EF4-FFF2-40B4-BE49-F238E27FC236}">
                  <a16:creationId xmlns:a16="http://schemas.microsoft.com/office/drawing/2014/main" id="{1309B03A-2DEB-00CA-9E8D-ABABE07F1598}"/>
                </a:ext>
              </a:extLst>
            </p:cNvPr>
            <p:cNvSpPr txBox="1"/>
            <p:nvPr/>
          </p:nvSpPr>
          <p:spPr>
            <a:xfrm>
              <a:off x="1977483" y="2788814"/>
              <a:ext cx="752821" cy="144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EABDA"/>
                  </a:solidFill>
                  <a:latin typeface="Roboto"/>
                </a:rPr>
                <a:t>Comparison</a:t>
              </a:r>
            </a:p>
          </p:txBody>
        </p:sp>
      </p:grpSp>
      <p:grpSp>
        <p:nvGrpSpPr>
          <p:cNvPr id="15612" name="Group 15611">
            <a:extLst>
              <a:ext uri="{FF2B5EF4-FFF2-40B4-BE49-F238E27FC236}">
                <a16:creationId xmlns:a16="http://schemas.microsoft.com/office/drawing/2014/main" id="{8394E1E8-B0FE-DB91-69AC-EF9381B2AC21}"/>
              </a:ext>
            </a:extLst>
          </p:cNvPr>
          <p:cNvGrpSpPr/>
          <p:nvPr/>
        </p:nvGrpSpPr>
        <p:grpSpPr>
          <a:xfrm>
            <a:off x="6074157" y="4090068"/>
            <a:ext cx="716528" cy="324627"/>
            <a:chOff x="1954131" y="2981885"/>
            <a:chExt cx="799534" cy="347524"/>
          </a:xfrm>
        </p:grpSpPr>
        <p:sp>
          <p:nvSpPr>
            <p:cNvPr id="15613" name="TextBox 15612">
              <a:extLst>
                <a:ext uri="{FF2B5EF4-FFF2-40B4-BE49-F238E27FC236}">
                  <a16:creationId xmlns:a16="http://schemas.microsoft.com/office/drawing/2014/main" id="{8876CF37-8FEE-36D0-3337-230B5940F58D}"/>
                </a:ext>
              </a:extLst>
            </p:cNvPr>
            <p:cNvSpPr txBox="1"/>
            <p:nvPr/>
          </p:nvSpPr>
          <p:spPr>
            <a:xfrm>
              <a:off x="1894166" y="2981885"/>
              <a:ext cx="919464" cy="1158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484848"/>
                  </a:solidFill>
                  <a:latin typeface="Roboto"/>
                </a:rPr>
                <a:t>Compare live data</a:t>
              </a:r>
            </a:p>
          </p:txBody>
        </p:sp>
        <p:sp>
          <p:nvSpPr>
            <p:cNvPr id="15614" name="TextBox 15613">
              <a:extLst>
                <a:ext uri="{FF2B5EF4-FFF2-40B4-BE49-F238E27FC236}">
                  <a16:creationId xmlns:a16="http://schemas.microsoft.com/office/drawing/2014/main" id="{E62B3D0F-6839-DBAE-B94F-7F7D02DE8894}"/>
                </a:ext>
              </a:extLst>
            </p:cNvPr>
            <p:cNvSpPr txBox="1"/>
            <p:nvPr/>
          </p:nvSpPr>
          <p:spPr>
            <a:xfrm>
              <a:off x="1894166" y="3097726"/>
              <a:ext cx="919464" cy="1158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484848"/>
                  </a:solidFill>
                  <a:latin typeface="Roboto"/>
                </a:rPr>
                <a:t>against healthy</a:t>
              </a:r>
            </a:p>
          </p:txBody>
        </p:sp>
        <p:sp>
          <p:nvSpPr>
            <p:cNvPr id="15615" name="TextBox 15614">
              <a:extLst>
                <a:ext uri="{FF2B5EF4-FFF2-40B4-BE49-F238E27FC236}">
                  <a16:creationId xmlns:a16="http://schemas.microsoft.com/office/drawing/2014/main" id="{B1439383-3526-C025-BE0E-598716D2AFD6}"/>
                </a:ext>
              </a:extLst>
            </p:cNvPr>
            <p:cNvSpPr txBox="1"/>
            <p:nvPr/>
          </p:nvSpPr>
          <p:spPr>
            <a:xfrm>
              <a:off x="1894166" y="3213568"/>
              <a:ext cx="919464" cy="1158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484848"/>
                  </a:solidFill>
                  <a:latin typeface="Roboto"/>
                </a:rPr>
                <a:t>track baseline.</a:t>
              </a:r>
            </a:p>
          </p:txBody>
        </p:sp>
      </p:grpSp>
      <p:grpSp>
        <p:nvGrpSpPr>
          <p:cNvPr id="15616" name="Group 15615">
            <a:extLst>
              <a:ext uri="{FF2B5EF4-FFF2-40B4-BE49-F238E27FC236}">
                <a16:creationId xmlns:a16="http://schemas.microsoft.com/office/drawing/2014/main" id="{24C1D765-F60C-3C2F-EC86-6F8D246F3AE6}"/>
              </a:ext>
            </a:extLst>
          </p:cNvPr>
          <p:cNvGrpSpPr/>
          <p:nvPr/>
        </p:nvGrpSpPr>
        <p:grpSpPr>
          <a:xfrm>
            <a:off x="7636742" y="3959746"/>
            <a:ext cx="775738" cy="432837"/>
            <a:chOff x="3509856" y="2851563"/>
            <a:chExt cx="865604" cy="463366"/>
          </a:xfrm>
        </p:grpSpPr>
        <p:sp>
          <p:nvSpPr>
            <p:cNvPr id="15617" name="TextBox 15616">
              <a:extLst>
                <a:ext uri="{FF2B5EF4-FFF2-40B4-BE49-F238E27FC236}">
                  <a16:creationId xmlns:a16="http://schemas.microsoft.com/office/drawing/2014/main" id="{4D1312CF-8783-D7AB-9FCD-0D69381FFF09}"/>
                </a:ext>
              </a:extLst>
            </p:cNvPr>
            <p:cNvSpPr txBox="1"/>
            <p:nvPr/>
          </p:nvSpPr>
          <p:spPr>
            <a:xfrm>
              <a:off x="3444936" y="2851563"/>
              <a:ext cx="995444" cy="1158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484848"/>
                  </a:solidFill>
                  <a:latin typeface="Roboto"/>
                </a:rPr>
                <a:t>Calculate</a:t>
              </a:r>
            </a:p>
          </p:txBody>
        </p:sp>
        <p:sp>
          <p:nvSpPr>
            <p:cNvPr id="15618" name="TextBox 15617">
              <a:extLst>
                <a:ext uri="{FF2B5EF4-FFF2-40B4-BE49-F238E27FC236}">
                  <a16:creationId xmlns:a16="http://schemas.microsoft.com/office/drawing/2014/main" id="{52AAEA28-E049-63B1-2AF0-6CF79722F24B}"/>
                </a:ext>
              </a:extLst>
            </p:cNvPr>
            <p:cNvSpPr txBox="1"/>
            <p:nvPr/>
          </p:nvSpPr>
          <p:spPr>
            <a:xfrm>
              <a:off x="3444936" y="2967404"/>
              <a:ext cx="995444" cy="1158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484848"/>
                  </a:solidFill>
                  <a:latin typeface="Roboto"/>
                </a:rPr>
                <a:t>kinematics using</a:t>
              </a:r>
            </a:p>
          </p:txBody>
        </p:sp>
        <p:sp>
          <p:nvSpPr>
            <p:cNvPr id="15619" name="TextBox 15618">
              <a:extLst>
                <a:ext uri="{FF2B5EF4-FFF2-40B4-BE49-F238E27FC236}">
                  <a16:creationId xmlns:a16="http://schemas.microsoft.com/office/drawing/2014/main" id="{541D095B-2A2D-EDFE-69F0-FBC290768EF8}"/>
                </a:ext>
              </a:extLst>
            </p:cNvPr>
            <p:cNvSpPr txBox="1"/>
            <p:nvPr/>
          </p:nvSpPr>
          <p:spPr>
            <a:xfrm>
              <a:off x="3444936" y="3083246"/>
              <a:ext cx="995444" cy="1158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484848"/>
                  </a:solidFill>
                  <a:latin typeface="Roboto"/>
                </a:rPr>
                <a:t>speed, weather, and</a:t>
              </a:r>
            </a:p>
          </p:txBody>
        </p:sp>
        <p:sp>
          <p:nvSpPr>
            <p:cNvPr id="15620" name="TextBox 15619">
              <a:extLst>
                <a:ext uri="{FF2B5EF4-FFF2-40B4-BE49-F238E27FC236}">
                  <a16:creationId xmlns:a16="http://schemas.microsoft.com/office/drawing/2014/main" id="{312BE7A4-1B01-892D-7B5C-6201C4CB265D}"/>
                </a:ext>
              </a:extLst>
            </p:cNvPr>
            <p:cNvSpPr txBox="1"/>
            <p:nvPr/>
          </p:nvSpPr>
          <p:spPr>
            <a:xfrm>
              <a:off x="3444936" y="3199088"/>
              <a:ext cx="995444" cy="1158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484848"/>
                  </a:solidFill>
                  <a:latin typeface="Roboto"/>
                </a:rPr>
                <a:t>braking.</a:t>
              </a:r>
            </a:p>
          </p:txBody>
        </p:sp>
      </p:grpSp>
      <p:sp>
        <p:nvSpPr>
          <p:cNvPr id="15621" name="TextBox 15620">
            <a:extLst>
              <a:ext uri="{FF2B5EF4-FFF2-40B4-BE49-F238E27FC236}">
                <a16:creationId xmlns:a16="http://schemas.microsoft.com/office/drawing/2014/main" id="{C178407F-A51B-6303-42C8-D32B5447482D}"/>
              </a:ext>
            </a:extLst>
          </p:cNvPr>
          <p:cNvSpPr txBox="1"/>
          <p:nvPr/>
        </p:nvSpPr>
        <p:spPr>
          <a:xfrm>
            <a:off x="7586444" y="3766675"/>
            <a:ext cx="889503" cy="1352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>
                <a:solidFill>
                  <a:srgbClr val="1EABDA"/>
                </a:solidFill>
                <a:latin typeface="Roboto"/>
              </a:rPr>
              <a:t>Scenario Engine</a:t>
            </a:r>
          </a:p>
        </p:txBody>
      </p:sp>
      <p:grpSp>
        <p:nvGrpSpPr>
          <p:cNvPr id="15622" name="Group 15621">
            <a:extLst>
              <a:ext uri="{FF2B5EF4-FFF2-40B4-BE49-F238E27FC236}">
                <a16:creationId xmlns:a16="http://schemas.microsoft.com/office/drawing/2014/main" id="{49C0E139-0916-88C0-D8F2-7B909CCB26BF}"/>
              </a:ext>
            </a:extLst>
          </p:cNvPr>
          <p:cNvGrpSpPr/>
          <p:nvPr/>
        </p:nvGrpSpPr>
        <p:grpSpPr>
          <a:xfrm>
            <a:off x="9368677" y="4038019"/>
            <a:ext cx="490865" cy="309154"/>
            <a:chOff x="5274793" y="2929836"/>
            <a:chExt cx="547730" cy="330960"/>
          </a:xfrm>
        </p:grpSpPr>
        <p:sp>
          <p:nvSpPr>
            <p:cNvPr id="15623" name="TextBox 15622">
              <a:extLst>
                <a:ext uri="{FF2B5EF4-FFF2-40B4-BE49-F238E27FC236}">
                  <a16:creationId xmlns:a16="http://schemas.microsoft.com/office/drawing/2014/main" id="{ADEF4243-BC8D-03BA-A69A-560CB4826545}"/>
                </a:ext>
              </a:extLst>
            </p:cNvPr>
            <p:cNvSpPr txBox="1"/>
            <p:nvPr/>
          </p:nvSpPr>
          <p:spPr>
            <a:xfrm>
              <a:off x="5233714" y="2929836"/>
              <a:ext cx="629889" cy="1102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484848"/>
                  </a:solidFill>
                  <a:latin typeface="Roboto"/>
                </a:rPr>
                <a:t>Determine if</a:t>
              </a:r>
            </a:p>
          </p:txBody>
        </p:sp>
        <p:sp>
          <p:nvSpPr>
            <p:cNvPr id="15624" name="TextBox 15623">
              <a:extLst>
                <a:ext uri="{FF2B5EF4-FFF2-40B4-BE49-F238E27FC236}">
                  <a16:creationId xmlns:a16="http://schemas.microsoft.com/office/drawing/2014/main" id="{A20D4C1C-3EF1-F860-2492-4550AE3ABD56}"/>
                </a:ext>
              </a:extLst>
            </p:cNvPr>
            <p:cNvSpPr txBox="1"/>
            <p:nvPr/>
          </p:nvSpPr>
          <p:spPr>
            <a:xfrm>
              <a:off x="5233714" y="3040127"/>
              <a:ext cx="629889" cy="1102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484848"/>
                  </a:solidFill>
                  <a:latin typeface="Roboto"/>
                </a:rPr>
                <a:t>safe gap is</a:t>
              </a:r>
            </a:p>
          </p:txBody>
        </p:sp>
        <p:sp>
          <p:nvSpPr>
            <p:cNvPr id="15625" name="TextBox 15624">
              <a:extLst>
                <a:ext uri="{FF2B5EF4-FFF2-40B4-BE49-F238E27FC236}">
                  <a16:creationId xmlns:a16="http://schemas.microsoft.com/office/drawing/2014/main" id="{44E3B961-533F-A373-D57A-5ACE5D8EF891}"/>
                </a:ext>
              </a:extLst>
            </p:cNvPr>
            <p:cNvSpPr txBox="1"/>
            <p:nvPr/>
          </p:nvSpPr>
          <p:spPr>
            <a:xfrm>
              <a:off x="5233714" y="3150418"/>
              <a:ext cx="629889" cy="1103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 dirty="0">
                  <a:solidFill>
                    <a:srgbClr val="484848"/>
                  </a:solidFill>
                  <a:latin typeface="Roboto"/>
                </a:rPr>
                <a:t>available.</a:t>
              </a:r>
            </a:p>
          </p:txBody>
        </p:sp>
      </p:grpSp>
      <p:sp>
        <p:nvSpPr>
          <p:cNvPr id="15626" name="TextBox 15625">
            <a:extLst>
              <a:ext uri="{FF2B5EF4-FFF2-40B4-BE49-F238E27FC236}">
                <a16:creationId xmlns:a16="http://schemas.microsoft.com/office/drawing/2014/main" id="{773A2528-E805-F735-FE23-293C70F8B6CC}"/>
              </a:ext>
            </a:extLst>
          </p:cNvPr>
          <p:cNvSpPr txBox="1"/>
          <p:nvPr/>
        </p:nvSpPr>
        <p:spPr>
          <a:xfrm>
            <a:off x="6902316" y="1494324"/>
            <a:ext cx="2824056" cy="2254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500" b="1" dirty="0">
                <a:solidFill>
                  <a:srgbClr val="484848"/>
                </a:solidFill>
                <a:latin typeface="Roboto"/>
              </a:rPr>
              <a:t>Rail Safety Monitoring System</a:t>
            </a:r>
          </a:p>
        </p:txBody>
      </p:sp>
      <p:grpSp>
        <p:nvGrpSpPr>
          <p:cNvPr id="15627" name="Group 15626">
            <a:extLst>
              <a:ext uri="{FF2B5EF4-FFF2-40B4-BE49-F238E27FC236}">
                <a16:creationId xmlns:a16="http://schemas.microsoft.com/office/drawing/2014/main" id="{6EBFFA30-CE4A-AD47-86C9-363D359E1DD1}"/>
              </a:ext>
            </a:extLst>
          </p:cNvPr>
          <p:cNvGrpSpPr/>
          <p:nvPr/>
        </p:nvGrpSpPr>
        <p:grpSpPr>
          <a:xfrm>
            <a:off x="4456969" y="4142357"/>
            <a:ext cx="777988" cy="324628"/>
            <a:chOff x="329823" y="3034173"/>
            <a:chExt cx="868114" cy="347525"/>
          </a:xfrm>
        </p:grpSpPr>
        <p:sp>
          <p:nvSpPr>
            <p:cNvPr id="15628" name="TextBox 15627">
              <a:extLst>
                <a:ext uri="{FF2B5EF4-FFF2-40B4-BE49-F238E27FC236}">
                  <a16:creationId xmlns:a16="http://schemas.microsoft.com/office/drawing/2014/main" id="{0BF4384E-7FB0-3183-3DA8-8C38DF7999CD}"/>
                </a:ext>
              </a:extLst>
            </p:cNvPr>
            <p:cNvSpPr txBox="1"/>
            <p:nvPr/>
          </p:nvSpPr>
          <p:spPr>
            <a:xfrm>
              <a:off x="264715" y="3034173"/>
              <a:ext cx="998331" cy="1158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484848"/>
                  </a:solidFill>
                  <a:latin typeface="Roboto"/>
                </a:rPr>
                <a:t>Vibration,</a:t>
              </a:r>
            </a:p>
          </p:txBody>
        </p:sp>
        <p:sp>
          <p:nvSpPr>
            <p:cNvPr id="15629" name="TextBox 15628">
              <a:extLst>
                <a:ext uri="{FF2B5EF4-FFF2-40B4-BE49-F238E27FC236}">
                  <a16:creationId xmlns:a16="http://schemas.microsoft.com/office/drawing/2014/main" id="{718B577E-C1BF-0F08-CD8E-66B32BDACFB2}"/>
                </a:ext>
              </a:extLst>
            </p:cNvPr>
            <p:cNvSpPr txBox="1"/>
            <p:nvPr/>
          </p:nvSpPr>
          <p:spPr>
            <a:xfrm>
              <a:off x="264715" y="3150015"/>
              <a:ext cx="998331" cy="1158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484848"/>
                  </a:solidFill>
                  <a:latin typeface="Roboto"/>
                </a:rPr>
                <a:t>temperature, gauge,</a:t>
              </a:r>
            </a:p>
          </p:txBody>
        </p:sp>
        <p:sp>
          <p:nvSpPr>
            <p:cNvPr id="15630" name="TextBox 15629">
              <a:extLst>
                <a:ext uri="{FF2B5EF4-FFF2-40B4-BE49-F238E27FC236}">
                  <a16:creationId xmlns:a16="http://schemas.microsoft.com/office/drawing/2014/main" id="{1710DF04-59AF-1026-AE9B-F4767472DB2C}"/>
                </a:ext>
              </a:extLst>
            </p:cNvPr>
            <p:cNvSpPr txBox="1"/>
            <p:nvPr/>
          </p:nvSpPr>
          <p:spPr>
            <a:xfrm>
              <a:off x="264715" y="3265857"/>
              <a:ext cx="998331" cy="1158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484848"/>
                  </a:solidFill>
                  <a:latin typeface="Roboto"/>
                </a:rPr>
                <a:t>and ultrasonic data.</a:t>
              </a:r>
            </a:p>
          </p:txBody>
        </p:sp>
      </p:grpSp>
      <p:sp>
        <p:nvSpPr>
          <p:cNvPr id="15631" name="Rounded Rectangle 52">
            <a:extLst>
              <a:ext uri="{FF2B5EF4-FFF2-40B4-BE49-F238E27FC236}">
                <a16:creationId xmlns:a16="http://schemas.microsoft.com/office/drawing/2014/main" id="{FA7934CB-B906-73B5-3C46-CFA9467FA336}"/>
              </a:ext>
            </a:extLst>
          </p:cNvPr>
          <p:cNvSpPr/>
          <p:nvPr/>
        </p:nvSpPr>
        <p:spPr>
          <a:xfrm>
            <a:off x="4729193" y="4543549"/>
            <a:ext cx="162211" cy="169670"/>
          </a:xfrm>
          <a:custGeom>
            <a:avLst/>
            <a:gdLst/>
            <a:ahLst/>
            <a:cxnLst/>
            <a:rect l="0" t="0" r="0" b="0"/>
            <a:pathLst>
              <a:path w="181002" h="181637">
                <a:moveTo>
                  <a:pt x="64758" y="146241"/>
                </a:moveTo>
                <a:lnTo>
                  <a:pt x="55105" y="146241"/>
                </a:lnTo>
                <a:cubicBezTo>
                  <a:pt x="46256" y="146241"/>
                  <a:pt x="39016" y="154286"/>
                  <a:pt x="39016" y="163939"/>
                </a:cubicBezTo>
                <a:lnTo>
                  <a:pt x="39016" y="172788"/>
                </a:lnTo>
                <a:cubicBezTo>
                  <a:pt x="39016" y="177615"/>
                  <a:pt x="42233" y="181637"/>
                  <a:pt x="47060" y="181637"/>
                </a:cubicBezTo>
                <a:lnTo>
                  <a:pt x="133942" y="181637"/>
                </a:lnTo>
                <a:cubicBezTo>
                  <a:pt x="137964" y="181637"/>
                  <a:pt x="141986" y="177615"/>
                  <a:pt x="141986" y="172788"/>
                </a:cubicBezTo>
                <a:lnTo>
                  <a:pt x="141986" y="163939"/>
                </a:lnTo>
                <a:cubicBezTo>
                  <a:pt x="141986" y="154286"/>
                  <a:pt x="134746" y="146241"/>
                  <a:pt x="125897" y="146241"/>
                </a:cubicBezTo>
                <a:lnTo>
                  <a:pt x="98546" y="146241"/>
                </a:lnTo>
                <a:moveTo>
                  <a:pt x="81652" y="157503"/>
                </a:moveTo>
                <a:cubicBezTo>
                  <a:pt x="91426" y="157503"/>
                  <a:pt x="99350" y="149579"/>
                  <a:pt x="99350" y="139805"/>
                </a:cubicBezTo>
                <a:cubicBezTo>
                  <a:pt x="99350" y="130031"/>
                  <a:pt x="91426" y="122107"/>
                  <a:pt x="81652" y="122107"/>
                </a:cubicBezTo>
                <a:cubicBezTo>
                  <a:pt x="71877" y="122107"/>
                  <a:pt x="63953" y="130031"/>
                  <a:pt x="63953" y="139805"/>
                </a:cubicBezTo>
                <a:cubicBezTo>
                  <a:pt x="63953" y="149579"/>
                  <a:pt x="71877" y="157503"/>
                  <a:pt x="81652" y="157503"/>
                </a:cubicBezTo>
                <a:close/>
                <a:moveTo>
                  <a:pt x="2413" y="59764"/>
                </a:moveTo>
                <a:cubicBezTo>
                  <a:pt x="1080" y="59764"/>
                  <a:pt x="0" y="58683"/>
                  <a:pt x="0" y="57350"/>
                </a:cubicBezTo>
                <a:cubicBezTo>
                  <a:pt x="0" y="56017"/>
                  <a:pt x="1080" y="54937"/>
                  <a:pt x="2413" y="54937"/>
                </a:cubicBezTo>
                <a:moveTo>
                  <a:pt x="2413" y="59764"/>
                </a:moveTo>
                <a:cubicBezTo>
                  <a:pt x="3746" y="59764"/>
                  <a:pt x="4826" y="58683"/>
                  <a:pt x="4826" y="57350"/>
                </a:cubicBezTo>
                <a:cubicBezTo>
                  <a:pt x="4826" y="56017"/>
                  <a:pt x="3746" y="54937"/>
                  <a:pt x="2413" y="54937"/>
                </a:cubicBezTo>
                <a:moveTo>
                  <a:pt x="23330" y="87114"/>
                </a:moveTo>
                <a:cubicBezTo>
                  <a:pt x="21997" y="87114"/>
                  <a:pt x="20916" y="86034"/>
                  <a:pt x="20916" y="84701"/>
                </a:cubicBezTo>
                <a:cubicBezTo>
                  <a:pt x="20916" y="83368"/>
                  <a:pt x="21997" y="82287"/>
                  <a:pt x="23330" y="82287"/>
                </a:cubicBezTo>
                <a:moveTo>
                  <a:pt x="23328" y="87114"/>
                </a:moveTo>
                <a:cubicBezTo>
                  <a:pt x="24661" y="87114"/>
                  <a:pt x="25742" y="86034"/>
                  <a:pt x="25742" y="84701"/>
                </a:cubicBezTo>
                <a:cubicBezTo>
                  <a:pt x="25742" y="83368"/>
                  <a:pt x="24661" y="82287"/>
                  <a:pt x="23328" y="82287"/>
                </a:cubicBezTo>
                <a:moveTo>
                  <a:pt x="42637" y="112858"/>
                </a:moveTo>
                <a:cubicBezTo>
                  <a:pt x="41304" y="112858"/>
                  <a:pt x="40223" y="111777"/>
                  <a:pt x="40223" y="110444"/>
                </a:cubicBezTo>
                <a:cubicBezTo>
                  <a:pt x="40223" y="109111"/>
                  <a:pt x="41304" y="108031"/>
                  <a:pt x="42637" y="108031"/>
                </a:cubicBezTo>
                <a:moveTo>
                  <a:pt x="42636" y="112858"/>
                </a:moveTo>
                <a:cubicBezTo>
                  <a:pt x="43968" y="112858"/>
                  <a:pt x="45049" y="111777"/>
                  <a:pt x="45049" y="110444"/>
                </a:cubicBezTo>
                <a:cubicBezTo>
                  <a:pt x="45049" y="109111"/>
                  <a:pt x="43968" y="108031"/>
                  <a:pt x="42636" y="108031"/>
                </a:cubicBezTo>
                <a:moveTo>
                  <a:pt x="178589" y="59764"/>
                </a:moveTo>
                <a:cubicBezTo>
                  <a:pt x="179922" y="59764"/>
                  <a:pt x="181002" y="58683"/>
                  <a:pt x="181002" y="57350"/>
                </a:cubicBezTo>
                <a:cubicBezTo>
                  <a:pt x="181002" y="56017"/>
                  <a:pt x="179922" y="54937"/>
                  <a:pt x="178589" y="54937"/>
                </a:cubicBezTo>
                <a:moveTo>
                  <a:pt x="178590" y="59764"/>
                </a:moveTo>
                <a:cubicBezTo>
                  <a:pt x="177258" y="59764"/>
                  <a:pt x="176177" y="58683"/>
                  <a:pt x="176177" y="57350"/>
                </a:cubicBezTo>
                <a:cubicBezTo>
                  <a:pt x="176177" y="56017"/>
                  <a:pt x="177258" y="54937"/>
                  <a:pt x="178590" y="54937"/>
                </a:cubicBezTo>
                <a:moveTo>
                  <a:pt x="157673" y="87114"/>
                </a:moveTo>
                <a:cubicBezTo>
                  <a:pt x="159006" y="87114"/>
                  <a:pt x="160087" y="86034"/>
                  <a:pt x="160087" y="84701"/>
                </a:cubicBezTo>
                <a:cubicBezTo>
                  <a:pt x="160087" y="83368"/>
                  <a:pt x="159006" y="82287"/>
                  <a:pt x="157673" y="82287"/>
                </a:cubicBezTo>
                <a:moveTo>
                  <a:pt x="157673" y="87114"/>
                </a:moveTo>
                <a:cubicBezTo>
                  <a:pt x="156341" y="87114"/>
                  <a:pt x="155260" y="86034"/>
                  <a:pt x="155260" y="84701"/>
                </a:cubicBezTo>
                <a:cubicBezTo>
                  <a:pt x="155260" y="83368"/>
                  <a:pt x="156341" y="82287"/>
                  <a:pt x="157673" y="82287"/>
                </a:cubicBezTo>
                <a:moveTo>
                  <a:pt x="138366" y="112858"/>
                </a:moveTo>
                <a:cubicBezTo>
                  <a:pt x="139699" y="112858"/>
                  <a:pt x="140780" y="111777"/>
                  <a:pt x="140780" y="110444"/>
                </a:cubicBezTo>
                <a:cubicBezTo>
                  <a:pt x="140780" y="109111"/>
                  <a:pt x="139699" y="108031"/>
                  <a:pt x="138366" y="108031"/>
                </a:cubicBezTo>
                <a:moveTo>
                  <a:pt x="138366" y="112858"/>
                </a:moveTo>
                <a:cubicBezTo>
                  <a:pt x="137033" y="112858"/>
                  <a:pt x="135953" y="111777"/>
                  <a:pt x="135953" y="110444"/>
                </a:cubicBezTo>
                <a:cubicBezTo>
                  <a:pt x="135953" y="109111"/>
                  <a:pt x="137033" y="108031"/>
                  <a:pt x="138366" y="108031"/>
                </a:cubicBezTo>
                <a:moveTo>
                  <a:pt x="90501" y="72627"/>
                </a:moveTo>
                <a:cubicBezTo>
                  <a:pt x="88538" y="72627"/>
                  <a:pt x="86575" y="74590"/>
                  <a:pt x="86575" y="76553"/>
                </a:cubicBezTo>
                <a:cubicBezTo>
                  <a:pt x="86575" y="78516"/>
                  <a:pt x="88538" y="80479"/>
                  <a:pt x="90501" y="80479"/>
                </a:cubicBezTo>
                <a:moveTo>
                  <a:pt x="90500" y="72627"/>
                </a:moveTo>
                <a:cubicBezTo>
                  <a:pt x="92463" y="72627"/>
                  <a:pt x="94426" y="74590"/>
                  <a:pt x="94426" y="76553"/>
                </a:cubicBezTo>
                <a:cubicBezTo>
                  <a:pt x="94426" y="78516"/>
                  <a:pt x="92463" y="80479"/>
                  <a:pt x="90500" y="80479"/>
                </a:cubicBezTo>
                <a:moveTo>
                  <a:pt x="149388" y="27480"/>
                </a:moveTo>
                <a:cubicBezTo>
                  <a:pt x="115037" y="0"/>
                  <a:pt x="65964" y="0"/>
                  <a:pt x="31613" y="27480"/>
                </a:cubicBezTo>
                <a:moveTo>
                  <a:pt x="56150" y="50054"/>
                </a:moveTo>
                <a:cubicBezTo>
                  <a:pt x="75779" y="33369"/>
                  <a:pt x="105223" y="33369"/>
                  <a:pt x="124852" y="50054"/>
                </a:cubicBezTo>
              </a:path>
            </a:pathLst>
          </a:custGeom>
          <a:noFill/>
          <a:ln w="12066">
            <a:solidFill>
              <a:srgbClr val="3CC58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632" name="Rounded Rectangle 53">
            <a:extLst>
              <a:ext uri="{FF2B5EF4-FFF2-40B4-BE49-F238E27FC236}">
                <a16:creationId xmlns:a16="http://schemas.microsoft.com/office/drawing/2014/main" id="{D2B0A3BF-107A-4066-0496-E7A751D87BB9}"/>
              </a:ext>
            </a:extLst>
          </p:cNvPr>
          <p:cNvSpPr/>
          <p:nvPr/>
        </p:nvSpPr>
        <p:spPr>
          <a:xfrm>
            <a:off x="6319183" y="4503208"/>
            <a:ext cx="162267" cy="147942"/>
          </a:xfrm>
          <a:custGeom>
            <a:avLst/>
            <a:gdLst/>
            <a:ahLst/>
            <a:cxnLst/>
            <a:rect l="0" t="0" r="0" b="0"/>
            <a:pathLst>
              <a:path w="181065" h="158377">
                <a:moveTo>
                  <a:pt x="0" y="158377"/>
                </a:moveTo>
                <a:lnTo>
                  <a:pt x="16152" y="158377"/>
                </a:lnTo>
                <a:moveTo>
                  <a:pt x="164913" y="158377"/>
                </a:moveTo>
                <a:lnTo>
                  <a:pt x="181065" y="158377"/>
                </a:lnTo>
                <a:moveTo>
                  <a:pt x="123685" y="158377"/>
                </a:moveTo>
                <a:lnTo>
                  <a:pt x="139837" y="158377"/>
                </a:lnTo>
                <a:moveTo>
                  <a:pt x="82456" y="158377"/>
                </a:moveTo>
                <a:lnTo>
                  <a:pt x="98608" y="158377"/>
                </a:lnTo>
                <a:moveTo>
                  <a:pt x="41228" y="158377"/>
                </a:moveTo>
                <a:lnTo>
                  <a:pt x="57380" y="158377"/>
                </a:lnTo>
                <a:moveTo>
                  <a:pt x="0" y="127369"/>
                </a:moveTo>
                <a:lnTo>
                  <a:pt x="42055" y="70201"/>
                </a:lnTo>
                <a:cubicBezTo>
                  <a:pt x="45191" y="65936"/>
                  <a:pt x="49483" y="62659"/>
                  <a:pt x="54424" y="60758"/>
                </a:cubicBezTo>
                <a:cubicBezTo>
                  <a:pt x="59364" y="58856"/>
                  <a:pt x="64746" y="58410"/>
                  <a:pt x="69932" y="59471"/>
                </a:cubicBezTo>
                <a:lnTo>
                  <a:pt x="111068" y="67888"/>
                </a:lnTo>
                <a:cubicBezTo>
                  <a:pt x="116253" y="68951"/>
                  <a:pt x="121635" y="68506"/>
                  <a:pt x="126575" y="66606"/>
                </a:cubicBezTo>
                <a:cubicBezTo>
                  <a:pt x="131516" y="64706"/>
                  <a:pt x="135810" y="61430"/>
                  <a:pt x="138947" y="57167"/>
                </a:cubicBezTo>
                <a:lnTo>
                  <a:pt x="181002" y="0"/>
                </a:lnTo>
              </a:path>
            </a:pathLst>
          </a:custGeom>
          <a:noFill/>
          <a:ln w="12066">
            <a:solidFill>
              <a:srgbClr val="1EABD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633" name="Rounded Rectangle 54">
            <a:extLst>
              <a:ext uri="{FF2B5EF4-FFF2-40B4-BE49-F238E27FC236}">
                <a16:creationId xmlns:a16="http://schemas.microsoft.com/office/drawing/2014/main" id="{C615208E-75B2-52FB-FFF4-F126A4313D32}"/>
              </a:ext>
            </a:extLst>
          </p:cNvPr>
          <p:cNvSpPr/>
          <p:nvPr/>
        </p:nvSpPr>
        <p:spPr>
          <a:xfrm>
            <a:off x="7909558" y="4478614"/>
            <a:ext cx="158606" cy="166844"/>
          </a:xfrm>
          <a:custGeom>
            <a:avLst/>
            <a:gdLst/>
            <a:ahLst/>
            <a:cxnLst/>
            <a:rect l="0" t="0" r="0" b="0"/>
            <a:pathLst>
              <a:path w="176980" h="178612">
                <a:moveTo>
                  <a:pt x="176980" y="6"/>
                </a:moveTo>
                <a:lnTo>
                  <a:pt x="105802" y="6"/>
                </a:lnTo>
                <a:cubicBezTo>
                  <a:pt x="95389" y="0"/>
                  <a:pt x="85258" y="3389"/>
                  <a:pt x="76946" y="9659"/>
                </a:cubicBezTo>
                <a:cubicBezTo>
                  <a:pt x="15437" y="73364"/>
                  <a:pt x="15389" y="70935"/>
                  <a:pt x="15389" y="80838"/>
                </a:cubicBezTo>
                <a:cubicBezTo>
                  <a:pt x="15415" y="91429"/>
                  <a:pt x="24000" y="100006"/>
                  <a:pt x="34591" y="100024"/>
                </a:cubicBezTo>
                <a:lnTo>
                  <a:pt x="176980" y="100024"/>
                </a:lnTo>
                <a:moveTo>
                  <a:pt x="63914" y="23078"/>
                </a:moveTo>
                <a:lnTo>
                  <a:pt x="134658" y="23078"/>
                </a:lnTo>
                <a:lnTo>
                  <a:pt x="111578" y="46166"/>
                </a:lnTo>
                <a:cubicBezTo>
                  <a:pt x="107943" y="51006"/>
                  <a:pt x="102242" y="53855"/>
                  <a:pt x="96188" y="53856"/>
                </a:cubicBezTo>
                <a:lnTo>
                  <a:pt x="33923" y="53856"/>
                </a:lnTo>
                <a:moveTo>
                  <a:pt x="45138" y="100024"/>
                </a:moveTo>
                <a:cubicBezTo>
                  <a:pt x="48230" y="95480"/>
                  <a:pt x="49925" y="90131"/>
                  <a:pt x="50013" y="84635"/>
                </a:cubicBezTo>
                <a:cubicBezTo>
                  <a:pt x="49547" y="72413"/>
                  <a:pt x="41349" y="61845"/>
                  <a:pt x="29628" y="58353"/>
                </a:cubicBezTo>
                <a:moveTo>
                  <a:pt x="176980" y="126378"/>
                </a:moveTo>
                <a:lnTo>
                  <a:pt x="0" y="126378"/>
                </a:lnTo>
                <a:moveTo>
                  <a:pt x="176980" y="148605"/>
                </a:moveTo>
                <a:lnTo>
                  <a:pt x="0" y="148605"/>
                </a:lnTo>
                <a:moveTo>
                  <a:pt x="19234" y="178612"/>
                </a:moveTo>
                <a:lnTo>
                  <a:pt x="19234" y="148605"/>
                </a:lnTo>
                <a:lnTo>
                  <a:pt x="42322" y="148605"/>
                </a:lnTo>
                <a:lnTo>
                  <a:pt x="42322" y="178612"/>
                </a:lnTo>
                <a:moveTo>
                  <a:pt x="76946" y="178612"/>
                </a:moveTo>
                <a:lnTo>
                  <a:pt x="76946" y="148605"/>
                </a:lnTo>
                <a:lnTo>
                  <a:pt x="100034" y="148605"/>
                </a:lnTo>
                <a:lnTo>
                  <a:pt x="100034" y="178612"/>
                </a:lnTo>
                <a:moveTo>
                  <a:pt x="134658" y="178612"/>
                </a:moveTo>
                <a:lnTo>
                  <a:pt x="134658" y="148605"/>
                </a:lnTo>
                <a:lnTo>
                  <a:pt x="157746" y="148605"/>
                </a:lnTo>
                <a:lnTo>
                  <a:pt x="157746" y="178612"/>
                </a:lnTo>
              </a:path>
            </a:pathLst>
          </a:custGeom>
          <a:noFill/>
          <a:ln w="12066">
            <a:solidFill>
              <a:srgbClr val="1EABD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634" name="Rounded Rectangle 55">
            <a:extLst>
              <a:ext uri="{FF2B5EF4-FFF2-40B4-BE49-F238E27FC236}">
                <a16:creationId xmlns:a16="http://schemas.microsoft.com/office/drawing/2014/main" id="{7F8F5985-5CD4-B981-913C-13B1086DB6EF}"/>
              </a:ext>
            </a:extLst>
          </p:cNvPr>
          <p:cNvSpPr/>
          <p:nvPr/>
        </p:nvSpPr>
        <p:spPr>
          <a:xfrm>
            <a:off x="9514283" y="4455859"/>
            <a:ext cx="161492" cy="168326"/>
          </a:xfrm>
          <a:custGeom>
            <a:avLst/>
            <a:gdLst/>
            <a:ahLst/>
            <a:cxnLst/>
            <a:rect l="0" t="0" r="0" b="0"/>
            <a:pathLst>
              <a:path w="180200" h="180198">
                <a:moveTo>
                  <a:pt x="135954" y="22524"/>
                </a:moveTo>
                <a:cubicBezTo>
                  <a:pt x="135066" y="22524"/>
                  <a:pt x="134345" y="23245"/>
                  <a:pt x="134345" y="24133"/>
                </a:cubicBezTo>
                <a:cubicBezTo>
                  <a:pt x="134345" y="25022"/>
                  <a:pt x="135066" y="25742"/>
                  <a:pt x="135954" y="25742"/>
                </a:cubicBezTo>
                <a:moveTo>
                  <a:pt x="135954" y="25742"/>
                </a:moveTo>
                <a:cubicBezTo>
                  <a:pt x="136843" y="25742"/>
                  <a:pt x="137563" y="25022"/>
                  <a:pt x="137563" y="24133"/>
                </a:cubicBezTo>
                <a:cubicBezTo>
                  <a:pt x="137563" y="23245"/>
                  <a:pt x="136843" y="22524"/>
                  <a:pt x="135954" y="22524"/>
                </a:cubicBezTo>
                <a:moveTo>
                  <a:pt x="146808" y="124690"/>
                </a:moveTo>
                <a:lnTo>
                  <a:pt x="172155" y="124690"/>
                </a:lnTo>
                <a:cubicBezTo>
                  <a:pt x="176982" y="124690"/>
                  <a:pt x="180200" y="121473"/>
                  <a:pt x="180200" y="116646"/>
                </a:cubicBezTo>
                <a:lnTo>
                  <a:pt x="180200" y="32178"/>
                </a:lnTo>
                <a:cubicBezTo>
                  <a:pt x="180200" y="27351"/>
                  <a:pt x="176982" y="24133"/>
                  <a:pt x="172155" y="24133"/>
                </a:cubicBezTo>
                <a:lnTo>
                  <a:pt x="160088" y="24133"/>
                </a:lnTo>
                <a:cubicBezTo>
                  <a:pt x="160088" y="10457"/>
                  <a:pt x="149630" y="0"/>
                  <a:pt x="135955" y="0"/>
                </a:cubicBezTo>
                <a:cubicBezTo>
                  <a:pt x="122279" y="0"/>
                  <a:pt x="111821" y="10457"/>
                  <a:pt x="111821" y="24133"/>
                </a:cubicBezTo>
                <a:lnTo>
                  <a:pt x="99754" y="24133"/>
                </a:lnTo>
                <a:cubicBezTo>
                  <a:pt x="94927" y="24133"/>
                  <a:pt x="91709" y="27351"/>
                  <a:pt x="91709" y="32178"/>
                </a:cubicBezTo>
                <a:lnTo>
                  <a:pt x="91709" y="63158"/>
                </a:lnTo>
                <a:moveTo>
                  <a:pt x="138367" y="52289"/>
                </a:moveTo>
                <a:lnTo>
                  <a:pt x="156065" y="52289"/>
                </a:lnTo>
                <a:moveTo>
                  <a:pt x="138367" y="76423"/>
                </a:moveTo>
                <a:lnTo>
                  <a:pt x="156065" y="76423"/>
                </a:lnTo>
                <a:moveTo>
                  <a:pt x="138367" y="100557"/>
                </a:moveTo>
                <a:lnTo>
                  <a:pt x="156065" y="100557"/>
                </a:lnTo>
                <a:moveTo>
                  <a:pt x="115843" y="52289"/>
                </a:moveTo>
                <a:lnTo>
                  <a:pt x="118256" y="52289"/>
                </a:lnTo>
                <a:moveTo>
                  <a:pt x="115843" y="76423"/>
                </a:moveTo>
                <a:lnTo>
                  <a:pt x="118256" y="76423"/>
                </a:lnTo>
                <a:moveTo>
                  <a:pt x="80445" y="97339"/>
                </a:moveTo>
                <a:cubicBezTo>
                  <a:pt x="103775" y="102970"/>
                  <a:pt x="120668" y="123886"/>
                  <a:pt x="120668" y="148020"/>
                </a:cubicBezTo>
                <a:lnTo>
                  <a:pt x="120668" y="156064"/>
                </a:lnTo>
                <a:moveTo>
                  <a:pt x="56312" y="156064"/>
                </a:moveTo>
                <a:lnTo>
                  <a:pt x="56312" y="91708"/>
                </a:lnTo>
                <a:cubicBezTo>
                  <a:pt x="56312" y="86881"/>
                  <a:pt x="59529" y="83663"/>
                  <a:pt x="64356" y="83663"/>
                </a:cubicBezTo>
                <a:lnTo>
                  <a:pt x="72401" y="83663"/>
                </a:lnTo>
                <a:cubicBezTo>
                  <a:pt x="77228" y="83663"/>
                  <a:pt x="80445" y="86881"/>
                  <a:pt x="80445" y="91708"/>
                </a:cubicBezTo>
                <a:lnTo>
                  <a:pt x="80445" y="156064"/>
                </a:lnTo>
                <a:moveTo>
                  <a:pt x="56312" y="97339"/>
                </a:moveTo>
                <a:cubicBezTo>
                  <a:pt x="32982" y="102970"/>
                  <a:pt x="16089" y="123886"/>
                  <a:pt x="16089" y="148020"/>
                </a:cubicBezTo>
                <a:lnTo>
                  <a:pt x="16089" y="156064"/>
                </a:lnTo>
                <a:moveTo>
                  <a:pt x="136757" y="172153"/>
                </a:moveTo>
                <a:cubicBezTo>
                  <a:pt x="136757" y="176980"/>
                  <a:pt x="133540" y="180198"/>
                  <a:pt x="128713" y="180198"/>
                </a:cubicBezTo>
                <a:lnTo>
                  <a:pt x="8044" y="180198"/>
                </a:lnTo>
                <a:cubicBezTo>
                  <a:pt x="3217" y="180198"/>
                  <a:pt x="0" y="176980"/>
                  <a:pt x="0" y="172153"/>
                </a:cubicBezTo>
                <a:lnTo>
                  <a:pt x="0" y="164109"/>
                </a:lnTo>
                <a:cubicBezTo>
                  <a:pt x="0" y="159282"/>
                  <a:pt x="3217" y="156064"/>
                  <a:pt x="8044" y="156064"/>
                </a:cubicBezTo>
                <a:lnTo>
                  <a:pt x="128713" y="156064"/>
                </a:lnTo>
                <a:cubicBezTo>
                  <a:pt x="133540" y="156064"/>
                  <a:pt x="136757" y="159282"/>
                  <a:pt x="136757" y="164109"/>
                </a:cubicBezTo>
                <a:close/>
              </a:path>
            </a:pathLst>
          </a:custGeom>
          <a:noFill/>
          <a:ln w="12066">
            <a:solidFill>
              <a:srgbClr val="DE843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635" name="TextBox 15634">
            <a:extLst>
              <a:ext uri="{FF2B5EF4-FFF2-40B4-BE49-F238E27FC236}">
                <a16:creationId xmlns:a16="http://schemas.microsoft.com/office/drawing/2014/main" id="{D2D4C8EC-6C8B-7DD1-F46F-4705DF1963AE}"/>
              </a:ext>
            </a:extLst>
          </p:cNvPr>
          <p:cNvSpPr txBox="1"/>
          <p:nvPr/>
        </p:nvSpPr>
        <p:spPr>
          <a:xfrm>
            <a:off x="11289365" y="2049398"/>
            <a:ext cx="457444" cy="1352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>
                <a:solidFill>
                  <a:srgbClr val="1EABDA"/>
                </a:solidFill>
                <a:latin typeface="Roboto"/>
              </a:rPr>
              <a:t>Proceed</a:t>
            </a:r>
          </a:p>
        </p:txBody>
      </p:sp>
      <p:sp>
        <p:nvSpPr>
          <p:cNvPr id="15636" name="Rounded Rectangle 57">
            <a:extLst>
              <a:ext uri="{FF2B5EF4-FFF2-40B4-BE49-F238E27FC236}">
                <a16:creationId xmlns:a16="http://schemas.microsoft.com/office/drawing/2014/main" id="{2C53355E-9432-1CC1-407F-2CE3798328B0}"/>
              </a:ext>
            </a:extLst>
          </p:cNvPr>
          <p:cNvSpPr/>
          <p:nvPr/>
        </p:nvSpPr>
        <p:spPr>
          <a:xfrm>
            <a:off x="11418283" y="2558598"/>
            <a:ext cx="165816" cy="112753"/>
          </a:xfrm>
          <a:custGeom>
            <a:avLst/>
            <a:gdLst/>
            <a:ahLst/>
            <a:cxnLst/>
            <a:rect l="0" t="0" r="0" b="0"/>
            <a:pathLst>
              <a:path w="185025" h="120706">
                <a:moveTo>
                  <a:pt x="0" y="104601"/>
                </a:moveTo>
                <a:lnTo>
                  <a:pt x="148824" y="104601"/>
                </a:lnTo>
                <a:cubicBezTo>
                  <a:pt x="159931" y="104601"/>
                  <a:pt x="168936" y="95597"/>
                  <a:pt x="168936" y="84490"/>
                </a:cubicBezTo>
                <a:cubicBezTo>
                  <a:pt x="168936" y="74136"/>
                  <a:pt x="168887" y="76678"/>
                  <a:pt x="104579" y="10077"/>
                </a:cubicBezTo>
                <a:cubicBezTo>
                  <a:pt x="95886" y="3530"/>
                  <a:pt x="85294" y="0"/>
                  <a:pt x="74412" y="22"/>
                </a:cubicBezTo>
                <a:lnTo>
                  <a:pt x="0" y="22"/>
                </a:lnTo>
                <a:moveTo>
                  <a:pt x="149556" y="56334"/>
                </a:moveTo>
                <a:lnTo>
                  <a:pt x="84468" y="56334"/>
                </a:lnTo>
                <a:cubicBezTo>
                  <a:pt x="78137" y="56334"/>
                  <a:pt x="72177" y="53353"/>
                  <a:pt x="68378" y="48289"/>
                </a:cubicBezTo>
                <a:lnTo>
                  <a:pt x="44245" y="24155"/>
                </a:lnTo>
                <a:lnTo>
                  <a:pt x="118206" y="24155"/>
                </a:lnTo>
                <a:moveTo>
                  <a:pt x="154053" y="61032"/>
                </a:moveTo>
                <a:cubicBezTo>
                  <a:pt x="141795" y="64681"/>
                  <a:pt x="133223" y="75732"/>
                  <a:pt x="132735" y="88512"/>
                </a:cubicBezTo>
                <a:cubicBezTo>
                  <a:pt x="132834" y="94257"/>
                  <a:pt x="134607" y="99848"/>
                  <a:pt x="137835" y="104601"/>
                </a:cubicBezTo>
                <a:moveTo>
                  <a:pt x="76423" y="104601"/>
                </a:moveTo>
                <a:lnTo>
                  <a:pt x="56312" y="84490"/>
                </a:lnTo>
                <a:cubicBezTo>
                  <a:pt x="52834" y="81873"/>
                  <a:pt x="48597" y="80460"/>
                  <a:pt x="44245" y="80467"/>
                </a:cubicBezTo>
                <a:lnTo>
                  <a:pt x="0" y="80467"/>
                </a:lnTo>
                <a:moveTo>
                  <a:pt x="185025" y="120706"/>
                </a:moveTo>
                <a:lnTo>
                  <a:pt x="0" y="120706"/>
                </a:lnTo>
                <a:moveTo>
                  <a:pt x="72401" y="104601"/>
                </a:moveTo>
                <a:cubicBezTo>
                  <a:pt x="72401" y="111266"/>
                  <a:pt x="77803" y="116668"/>
                  <a:pt x="84468" y="116668"/>
                </a:cubicBezTo>
                <a:cubicBezTo>
                  <a:pt x="91132" y="116668"/>
                  <a:pt x="96534" y="111266"/>
                  <a:pt x="96534" y="104601"/>
                </a:cubicBezTo>
                <a:moveTo>
                  <a:pt x="32178" y="104601"/>
                </a:moveTo>
                <a:cubicBezTo>
                  <a:pt x="32178" y="111266"/>
                  <a:pt x="37580" y="116668"/>
                  <a:pt x="44245" y="116668"/>
                </a:cubicBezTo>
                <a:cubicBezTo>
                  <a:pt x="50909" y="116668"/>
                  <a:pt x="56312" y="111266"/>
                  <a:pt x="56312" y="104601"/>
                </a:cubicBezTo>
              </a:path>
            </a:pathLst>
          </a:custGeom>
          <a:noFill/>
          <a:ln w="12066">
            <a:solidFill>
              <a:srgbClr val="1EABD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5637" name="Group 15636">
            <a:extLst>
              <a:ext uri="{FF2B5EF4-FFF2-40B4-BE49-F238E27FC236}">
                <a16:creationId xmlns:a16="http://schemas.microsoft.com/office/drawing/2014/main" id="{C8B55EE6-831D-AD8E-DB63-36A71C2C9E33}"/>
              </a:ext>
            </a:extLst>
          </p:cNvPr>
          <p:cNvGrpSpPr/>
          <p:nvPr/>
        </p:nvGrpSpPr>
        <p:grpSpPr>
          <a:xfrm>
            <a:off x="11257295" y="4599052"/>
            <a:ext cx="500959" cy="270522"/>
            <a:chOff x="7162241" y="3490868"/>
            <a:chExt cx="558993" cy="289603"/>
          </a:xfrm>
        </p:grpSpPr>
        <p:sp>
          <p:nvSpPr>
            <p:cNvPr id="15638" name="TextBox 15637">
              <a:extLst>
                <a:ext uri="{FF2B5EF4-FFF2-40B4-BE49-F238E27FC236}">
                  <a16:creationId xmlns:a16="http://schemas.microsoft.com/office/drawing/2014/main" id="{D5622087-9AEA-6580-A004-4E305307BD9D}"/>
                </a:ext>
              </a:extLst>
            </p:cNvPr>
            <p:cNvSpPr txBox="1"/>
            <p:nvPr/>
          </p:nvSpPr>
          <p:spPr>
            <a:xfrm>
              <a:off x="7120317" y="3490868"/>
              <a:ext cx="642841" cy="1448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EABDA"/>
                  </a:solidFill>
                  <a:latin typeface="Roboto"/>
                </a:rPr>
                <a:t>Hold &amp; Re-</a:t>
              </a:r>
            </a:p>
          </p:txBody>
        </p:sp>
        <p:sp>
          <p:nvSpPr>
            <p:cNvPr id="15639" name="TextBox 15638">
              <a:extLst>
                <a:ext uri="{FF2B5EF4-FFF2-40B4-BE49-F238E27FC236}">
                  <a16:creationId xmlns:a16="http://schemas.microsoft.com/office/drawing/2014/main" id="{8EF9940A-7483-B21D-CEB8-A4960B7AB199}"/>
                </a:ext>
              </a:extLst>
            </p:cNvPr>
            <p:cNvSpPr txBox="1"/>
            <p:nvPr/>
          </p:nvSpPr>
          <p:spPr>
            <a:xfrm>
              <a:off x="7120317" y="3635670"/>
              <a:ext cx="642841" cy="144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EABDA"/>
                  </a:solidFill>
                  <a:latin typeface="Roboto"/>
                </a:rPr>
                <a:t>evaluate</a:t>
              </a:r>
            </a:p>
          </p:txBody>
        </p:sp>
      </p:grpSp>
      <p:sp>
        <p:nvSpPr>
          <p:cNvPr id="15640" name="TextBox 15639">
            <a:extLst>
              <a:ext uri="{FF2B5EF4-FFF2-40B4-BE49-F238E27FC236}">
                <a16:creationId xmlns:a16="http://schemas.microsoft.com/office/drawing/2014/main" id="{4171FFDD-A37F-08E2-C411-41508482E2FF}"/>
              </a:ext>
            </a:extLst>
          </p:cNvPr>
          <p:cNvSpPr txBox="1"/>
          <p:nvPr/>
        </p:nvSpPr>
        <p:spPr>
          <a:xfrm>
            <a:off x="9349105" y="4803383"/>
            <a:ext cx="159705" cy="1352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>
                <a:solidFill>
                  <a:srgbClr val="484848"/>
                </a:solidFill>
                <a:latin typeface="Roboto"/>
              </a:rPr>
              <a:t>No</a:t>
            </a:r>
          </a:p>
        </p:txBody>
      </p:sp>
      <p:grpSp>
        <p:nvGrpSpPr>
          <p:cNvPr id="15641" name="Group 15640">
            <a:extLst>
              <a:ext uri="{FF2B5EF4-FFF2-40B4-BE49-F238E27FC236}">
                <a16:creationId xmlns:a16="http://schemas.microsoft.com/office/drawing/2014/main" id="{FF4962DB-FB8F-E511-88BA-71F58873CC98}"/>
              </a:ext>
            </a:extLst>
          </p:cNvPr>
          <p:cNvGrpSpPr/>
          <p:nvPr/>
        </p:nvGrpSpPr>
        <p:grpSpPr>
          <a:xfrm>
            <a:off x="11137824" y="4936923"/>
            <a:ext cx="771225" cy="216417"/>
            <a:chOff x="7011462" y="3828740"/>
            <a:chExt cx="860568" cy="231682"/>
          </a:xfrm>
        </p:grpSpPr>
        <p:sp>
          <p:nvSpPr>
            <p:cNvPr id="15642" name="TextBox 15641">
              <a:extLst>
                <a:ext uri="{FF2B5EF4-FFF2-40B4-BE49-F238E27FC236}">
                  <a16:creationId xmlns:a16="http://schemas.microsoft.com/office/drawing/2014/main" id="{DAD6D5DA-D96E-320E-49B8-9D27AB7DEC8F}"/>
                </a:ext>
              </a:extLst>
            </p:cNvPr>
            <p:cNvSpPr txBox="1"/>
            <p:nvPr/>
          </p:nvSpPr>
          <p:spPr>
            <a:xfrm>
              <a:off x="6946920" y="3828740"/>
              <a:ext cx="989653" cy="1158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484848"/>
                  </a:solidFill>
                  <a:latin typeface="Roboto"/>
                </a:rPr>
                <a:t>Stop train and re-</a:t>
              </a:r>
            </a:p>
          </p:txBody>
        </p:sp>
        <p:sp>
          <p:nvSpPr>
            <p:cNvPr id="15643" name="TextBox 15642">
              <a:extLst>
                <a:ext uri="{FF2B5EF4-FFF2-40B4-BE49-F238E27FC236}">
                  <a16:creationId xmlns:a16="http://schemas.microsoft.com/office/drawing/2014/main" id="{97CE5934-574D-2247-19AB-5F9243FDDD8B}"/>
                </a:ext>
              </a:extLst>
            </p:cNvPr>
            <p:cNvSpPr txBox="1"/>
            <p:nvPr/>
          </p:nvSpPr>
          <p:spPr>
            <a:xfrm>
              <a:off x="6946920" y="3944581"/>
              <a:ext cx="989653" cy="1158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484848"/>
                  </a:solidFill>
                  <a:latin typeface="Roboto"/>
                </a:rPr>
                <a:t>evaluate conditions.</a:t>
              </a:r>
            </a:p>
          </p:txBody>
        </p:sp>
      </p:grpSp>
      <p:sp>
        <p:nvSpPr>
          <p:cNvPr id="15644" name="Rounded Rectangle 65">
            <a:extLst>
              <a:ext uri="{FF2B5EF4-FFF2-40B4-BE49-F238E27FC236}">
                <a16:creationId xmlns:a16="http://schemas.microsoft.com/office/drawing/2014/main" id="{2140A6F7-926B-7E4A-680B-DC56B2AF8FFA}"/>
              </a:ext>
            </a:extLst>
          </p:cNvPr>
          <p:cNvSpPr/>
          <p:nvPr/>
        </p:nvSpPr>
        <p:spPr>
          <a:xfrm>
            <a:off x="11405458" y="5222031"/>
            <a:ext cx="165816" cy="170715"/>
          </a:xfrm>
          <a:custGeom>
            <a:avLst/>
            <a:gdLst/>
            <a:ahLst/>
            <a:cxnLst/>
            <a:rect l="0" t="0" r="0" b="0"/>
            <a:pathLst>
              <a:path w="185025" h="182756">
                <a:moveTo>
                  <a:pt x="22162" y="46795"/>
                </a:moveTo>
                <a:lnTo>
                  <a:pt x="85521" y="46795"/>
                </a:lnTo>
                <a:cubicBezTo>
                  <a:pt x="94407" y="46795"/>
                  <a:pt x="101611" y="53998"/>
                  <a:pt x="101611" y="62884"/>
                </a:cubicBezTo>
                <a:lnTo>
                  <a:pt x="101611" y="137964"/>
                </a:lnTo>
                <a:cubicBezTo>
                  <a:pt x="101611" y="142407"/>
                  <a:pt x="98009" y="146009"/>
                  <a:pt x="93566" y="146009"/>
                </a:cubicBezTo>
                <a:lnTo>
                  <a:pt x="14118" y="146009"/>
                </a:lnTo>
                <a:cubicBezTo>
                  <a:pt x="9675" y="146009"/>
                  <a:pt x="6073" y="142407"/>
                  <a:pt x="6073" y="137964"/>
                </a:cubicBezTo>
                <a:lnTo>
                  <a:pt x="6073" y="62884"/>
                </a:lnTo>
                <a:cubicBezTo>
                  <a:pt x="6073" y="53998"/>
                  <a:pt x="13277" y="46795"/>
                  <a:pt x="22162" y="46795"/>
                </a:cubicBezTo>
                <a:close/>
                <a:moveTo>
                  <a:pt x="14978" y="146362"/>
                </a:moveTo>
                <a:lnTo>
                  <a:pt x="6073" y="182756"/>
                </a:lnTo>
                <a:moveTo>
                  <a:pt x="101611" y="182756"/>
                </a:moveTo>
                <a:lnTo>
                  <a:pt x="92713" y="146362"/>
                </a:lnTo>
                <a:moveTo>
                  <a:pt x="6073" y="68845"/>
                </a:moveTo>
                <a:lnTo>
                  <a:pt x="101611" y="68845"/>
                </a:lnTo>
                <a:moveTo>
                  <a:pt x="6073" y="101916"/>
                </a:moveTo>
                <a:lnTo>
                  <a:pt x="101611" y="101916"/>
                </a:lnTo>
                <a:moveTo>
                  <a:pt x="96840" y="164382"/>
                </a:moveTo>
                <a:lnTo>
                  <a:pt x="10570" y="164382"/>
                </a:lnTo>
                <a:moveTo>
                  <a:pt x="46497" y="123958"/>
                </a:moveTo>
                <a:lnTo>
                  <a:pt x="61195" y="123958"/>
                </a:lnTo>
                <a:moveTo>
                  <a:pt x="0" y="182756"/>
                </a:moveTo>
                <a:lnTo>
                  <a:pt x="185025" y="182756"/>
                </a:lnTo>
                <a:lnTo>
                  <a:pt x="185025" y="0"/>
                </a:lnTo>
                <a:lnTo>
                  <a:pt x="116614" y="0"/>
                </a:lnTo>
                <a:moveTo>
                  <a:pt x="140780" y="149363"/>
                </a:moveTo>
                <a:lnTo>
                  <a:pt x="185025" y="149363"/>
                </a:lnTo>
                <a:lnTo>
                  <a:pt x="185025" y="149363"/>
                </a:lnTo>
                <a:lnTo>
                  <a:pt x="185025" y="182756"/>
                </a:lnTo>
                <a:lnTo>
                  <a:pt x="185025" y="182756"/>
                </a:lnTo>
                <a:lnTo>
                  <a:pt x="132735" y="182756"/>
                </a:lnTo>
                <a:lnTo>
                  <a:pt x="132735" y="182756"/>
                </a:lnTo>
                <a:lnTo>
                  <a:pt x="132735" y="157408"/>
                </a:lnTo>
                <a:cubicBezTo>
                  <a:pt x="132735" y="152965"/>
                  <a:pt x="136337" y="149363"/>
                  <a:pt x="140780" y="149363"/>
                </a:cubicBezTo>
                <a:close/>
                <a:moveTo>
                  <a:pt x="121802" y="20175"/>
                </a:moveTo>
                <a:lnTo>
                  <a:pt x="165267" y="20175"/>
                </a:lnTo>
                <a:lnTo>
                  <a:pt x="165267" y="49104"/>
                </a:lnTo>
                <a:lnTo>
                  <a:pt x="121802" y="49104"/>
                </a:lnTo>
                <a:close/>
                <a:moveTo>
                  <a:pt x="129767" y="20175"/>
                </a:moveTo>
                <a:lnTo>
                  <a:pt x="129767" y="0"/>
                </a:lnTo>
                <a:moveTo>
                  <a:pt x="159411" y="20175"/>
                </a:moveTo>
                <a:lnTo>
                  <a:pt x="159411" y="0"/>
                </a:lnTo>
              </a:path>
            </a:pathLst>
          </a:custGeom>
          <a:noFill/>
          <a:ln w="12066">
            <a:solidFill>
              <a:srgbClr val="1EABD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5645" name="Group 15644">
            <a:extLst>
              <a:ext uri="{FF2B5EF4-FFF2-40B4-BE49-F238E27FC236}">
                <a16:creationId xmlns:a16="http://schemas.microsoft.com/office/drawing/2014/main" id="{46367EFE-58DE-1993-65EF-E2776EED8BEE}"/>
              </a:ext>
            </a:extLst>
          </p:cNvPr>
          <p:cNvGrpSpPr/>
          <p:nvPr/>
        </p:nvGrpSpPr>
        <p:grpSpPr>
          <a:xfrm>
            <a:off x="11140480" y="2242468"/>
            <a:ext cx="794209" cy="216417"/>
            <a:chOff x="7011456" y="1134285"/>
            <a:chExt cx="886214" cy="231682"/>
          </a:xfrm>
        </p:grpSpPr>
        <p:sp>
          <p:nvSpPr>
            <p:cNvPr id="15646" name="TextBox 15645">
              <a:extLst>
                <a:ext uri="{FF2B5EF4-FFF2-40B4-BE49-F238E27FC236}">
                  <a16:creationId xmlns:a16="http://schemas.microsoft.com/office/drawing/2014/main" id="{AF7CC255-8A20-5425-5069-A0313B7E4A49}"/>
                </a:ext>
              </a:extLst>
            </p:cNvPr>
            <p:cNvSpPr txBox="1"/>
            <p:nvPr/>
          </p:nvSpPr>
          <p:spPr>
            <a:xfrm>
              <a:off x="6944990" y="1134285"/>
              <a:ext cx="1019146" cy="1158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484848"/>
                  </a:solidFill>
                  <a:latin typeface="Roboto"/>
                </a:rPr>
                <a:t>Local train proceeds</a:t>
              </a:r>
            </a:p>
          </p:txBody>
        </p:sp>
        <p:sp>
          <p:nvSpPr>
            <p:cNvPr id="15647" name="TextBox 15646">
              <a:extLst>
                <a:ext uri="{FF2B5EF4-FFF2-40B4-BE49-F238E27FC236}">
                  <a16:creationId xmlns:a16="http://schemas.microsoft.com/office/drawing/2014/main" id="{1DB33FFD-A8FC-ECFB-1425-53BAE5E70444}"/>
                </a:ext>
              </a:extLst>
            </p:cNvPr>
            <p:cNvSpPr txBox="1"/>
            <p:nvPr/>
          </p:nvSpPr>
          <p:spPr>
            <a:xfrm>
              <a:off x="6944990" y="1250126"/>
              <a:ext cx="1019146" cy="1158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484848"/>
                  </a:solidFill>
                  <a:latin typeface="Roboto"/>
                </a:rPr>
                <a:t>safely.</a:t>
              </a:r>
            </a:p>
          </p:txBody>
        </p:sp>
      </p:grpSp>
      <p:sp>
        <p:nvSpPr>
          <p:cNvPr id="15648" name="TextBox 15647">
            <a:extLst>
              <a:ext uri="{FF2B5EF4-FFF2-40B4-BE49-F238E27FC236}">
                <a16:creationId xmlns:a16="http://schemas.microsoft.com/office/drawing/2014/main" id="{E99A1F4E-9E33-6E34-738B-121948380AA2}"/>
              </a:ext>
            </a:extLst>
          </p:cNvPr>
          <p:cNvSpPr txBox="1"/>
          <p:nvPr/>
        </p:nvSpPr>
        <p:spPr>
          <a:xfrm>
            <a:off x="11085903" y="5715638"/>
            <a:ext cx="868876" cy="1352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>
                <a:solidFill>
                  <a:srgbClr val="1EABDA"/>
                </a:solidFill>
                <a:latin typeface="Roboto"/>
              </a:rPr>
              <a:t>Optimize Speed</a:t>
            </a:r>
          </a:p>
        </p:txBody>
      </p:sp>
      <p:grpSp>
        <p:nvGrpSpPr>
          <p:cNvPr id="15649" name="Group 15648">
            <a:extLst>
              <a:ext uri="{FF2B5EF4-FFF2-40B4-BE49-F238E27FC236}">
                <a16:creationId xmlns:a16="http://schemas.microsoft.com/office/drawing/2014/main" id="{8E6D3DD3-18B3-AFA6-EBB5-591C3F02BF7A}"/>
              </a:ext>
            </a:extLst>
          </p:cNvPr>
          <p:cNvGrpSpPr/>
          <p:nvPr/>
        </p:nvGrpSpPr>
        <p:grpSpPr>
          <a:xfrm>
            <a:off x="11170304" y="5908707"/>
            <a:ext cx="677957" cy="324627"/>
            <a:chOff x="7054746" y="4800524"/>
            <a:chExt cx="756495" cy="347524"/>
          </a:xfrm>
        </p:grpSpPr>
        <p:sp>
          <p:nvSpPr>
            <p:cNvPr id="15650" name="TextBox 15649">
              <a:extLst>
                <a:ext uri="{FF2B5EF4-FFF2-40B4-BE49-F238E27FC236}">
                  <a16:creationId xmlns:a16="http://schemas.microsoft.com/office/drawing/2014/main" id="{B9F3C5C2-3B20-C567-C168-95B4D62274C8}"/>
                </a:ext>
              </a:extLst>
            </p:cNvPr>
            <p:cNvSpPr txBox="1"/>
            <p:nvPr/>
          </p:nvSpPr>
          <p:spPr>
            <a:xfrm>
              <a:off x="6998009" y="4800524"/>
              <a:ext cx="869969" cy="1158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484848"/>
                  </a:solidFill>
                  <a:latin typeface="Roboto"/>
                </a:rPr>
                <a:t>Increase speed if</a:t>
              </a:r>
            </a:p>
          </p:txBody>
        </p:sp>
        <p:sp>
          <p:nvSpPr>
            <p:cNvPr id="15651" name="TextBox 15650">
              <a:extLst>
                <a:ext uri="{FF2B5EF4-FFF2-40B4-BE49-F238E27FC236}">
                  <a16:creationId xmlns:a16="http://schemas.microsoft.com/office/drawing/2014/main" id="{C7D26A9C-F35B-9ED8-C5F9-9AC61987ED8C}"/>
                </a:ext>
              </a:extLst>
            </p:cNvPr>
            <p:cNvSpPr txBox="1"/>
            <p:nvPr/>
          </p:nvSpPr>
          <p:spPr>
            <a:xfrm>
              <a:off x="6998009" y="4916365"/>
              <a:ext cx="869969" cy="1158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484848"/>
                  </a:solidFill>
                  <a:latin typeface="Roboto"/>
                </a:rPr>
                <a:t>conditions are</a:t>
              </a:r>
            </a:p>
          </p:txBody>
        </p:sp>
        <p:sp>
          <p:nvSpPr>
            <p:cNvPr id="15652" name="TextBox 15651">
              <a:extLst>
                <a:ext uri="{FF2B5EF4-FFF2-40B4-BE49-F238E27FC236}">
                  <a16:creationId xmlns:a16="http://schemas.microsoft.com/office/drawing/2014/main" id="{8D852A80-3FA9-1AE4-3220-733207CFDC06}"/>
                </a:ext>
              </a:extLst>
            </p:cNvPr>
            <p:cNvSpPr txBox="1"/>
            <p:nvPr/>
          </p:nvSpPr>
          <p:spPr>
            <a:xfrm>
              <a:off x="6998009" y="5032207"/>
              <a:ext cx="869969" cy="1158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484848"/>
                  </a:solidFill>
                  <a:latin typeface="Roboto"/>
                </a:rPr>
                <a:t>optimal.</a:t>
              </a:r>
            </a:p>
          </p:txBody>
        </p:sp>
      </p:grpSp>
      <p:sp>
        <p:nvSpPr>
          <p:cNvPr id="15653" name="TextBox 15652">
            <a:extLst>
              <a:ext uri="{FF2B5EF4-FFF2-40B4-BE49-F238E27FC236}">
                <a16:creationId xmlns:a16="http://schemas.microsoft.com/office/drawing/2014/main" id="{7B54D04F-572F-BC10-9C8B-B772DBC50D14}"/>
              </a:ext>
            </a:extLst>
          </p:cNvPr>
          <p:cNvSpPr txBox="1"/>
          <p:nvPr/>
        </p:nvSpPr>
        <p:spPr>
          <a:xfrm>
            <a:off x="10478835" y="6179005"/>
            <a:ext cx="433301" cy="1352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>
                <a:solidFill>
                  <a:srgbClr val="484848"/>
                </a:solidFill>
                <a:latin typeface="Roboto"/>
              </a:rPr>
              <a:t>Optimal</a:t>
            </a:r>
          </a:p>
        </p:txBody>
      </p:sp>
      <p:sp>
        <p:nvSpPr>
          <p:cNvPr id="15654" name="Rounded Rectangle 75">
            <a:extLst>
              <a:ext uri="{FF2B5EF4-FFF2-40B4-BE49-F238E27FC236}">
                <a16:creationId xmlns:a16="http://schemas.microsoft.com/office/drawing/2014/main" id="{AB33D5A4-6119-BC8E-19FE-32B0EA13729B}"/>
              </a:ext>
            </a:extLst>
          </p:cNvPr>
          <p:cNvSpPr/>
          <p:nvPr/>
        </p:nvSpPr>
        <p:spPr>
          <a:xfrm>
            <a:off x="11396711" y="6308523"/>
            <a:ext cx="165816" cy="172834"/>
          </a:xfrm>
          <a:custGeom>
            <a:avLst/>
            <a:gdLst/>
            <a:ahLst/>
            <a:cxnLst/>
            <a:rect l="0" t="0" r="0" b="0"/>
            <a:pathLst>
              <a:path w="185025" h="185025">
                <a:moveTo>
                  <a:pt x="0" y="92512"/>
                </a:moveTo>
                <a:cubicBezTo>
                  <a:pt x="0" y="143605"/>
                  <a:pt x="41419" y="185025"/>
                  <a:pt x="92512" y="185025"/>
                </a:cubicBezTo>
                <a:cubicBezTo>
                  <a:pt x="143605" y="185025"/>
                  <a:pt x="185025" y="143605"/>
                  <a:pt x="185025" y="92512"/>
                </a:cubicBezTo>
                <a:cubicBezTo>
                  <a:pt x="185025" y="41419"/>
                  <a:pt x="143605" y="0"/>
                  <a:pt x="92512" y="0"/>
                </a:cubicBezTo>
                <a:cubicBezTo>
                  <a:pt x="41419" y="0"/>
                  <a:pt x="0" y="41419"/>
                  <a:pt x="0" y="92512"/>
                </a:cubicBezTo>
                <a:close/>
                <a:moveTo>
                  <a:pt x="103887" y="103887"/>
                </a:moveTo>
                <a:cubicBezTo>
                  <a:pt x="97574" y="109984"/>
                  <a:pt x="87539" y="109897"/>
                  <a:pt x="81333" y="103691"/>
                </a:cubicBezTo>
                <a:cubicBezTo>
                  <a:pt x="75127" y="97485"/>
                  <a:pt x="75040" y="87450"/>
                  <a:pt x="81137" y="81137"/>
                </a:cubicBezTo>
                <a:cubicBezTo>
                  <a:pt x="87420" y="74854"/>
                  <a:pt x="146556" y="38501"/>
                  <a:pt x="146556" y="38501"/>
                </a:cubicBezTo>
                <a:cubicBezTo>
                  <a:pt x="146556" y="38501"/>
                  <a:pt x="110210" y="97604"/>
                  <a:pt x="103887" y="103887"/>
                </a:cubicBezTo>
                <a:close/>
                <a:moveTo>
                  <a:pt x="36200" y="92512"/>
                </a:moveTo>
                <a:lnTo>
                  <a:pt x="24133" y="92512"/>
                </a:lnTo>
                <a:moveTo>
                  <a:pt x="52691" y="52691"/>
                </a:moveTo>
                <a:lnTo>
                  <a:pt x="44164" y="44164"/>
                </a:lnTo>
                <a:moveTo>
                  <a:pt x="92512" y="36200"/>
                </a:moveTo>
                <a:lnTo>
                  <a:pt x="92512" y="24133"/>
                </a:lnTo>
                <a:moveTo>
                  <a:pt x="160891" y="92512"/>
                </a:moveTo>
                <a:lnTo>
                  <a:pt x="148824" y="92512"/>
                </a:lnTo>
                <a:moveTo>
                  <a:pt x="161961" y="153651"/>
                </a:moveTo>
                <a:cubicBezTo>
                  <a:pt x="141572" y="139580"/>
                  <a:pt x="117280" y="132265"/>
                  <a:pt x="92512" y="132735"/>
                </a:cubicBezTo>
                <a:cubicBezTo>
                  <a:pt x="67744" y="132265"/>
                  <a:pt x="43452" y="139580"/>
                  <a:pt x="23063" y="153651"/>
                </a:cubicBezTo>
              </a:path>
            </a:pathLst>
          </a:custGeom>
          <a:noFill/>
          <a:ln w="12066">
            <a:solidFill>
              <a:srgbClr val="1EABD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655" name="TextBox 15654">
            <a:extLst>
              <a:ext uri="{FF2B5EF4-FFF2-40B4-BE49-F238E27FC236}">
                <a16:creationId xmlns:a16="http://schemas.microsoft.com/office/drawing/2014/main" id="{719CE860-B5D5-E109-F3D4-D6E6C91DB709}"/>
              </a:ext>
            </a:extLst>
          </p:cNvPr>
          <p:cNvSpPr txBox="1"/>
          <p:nvPr/>
        </p:nvSpPr>
        <p:spPr>
          <a:xfrm>
            <a:off x="10581547" y="2165240"/>
            <a:ext cx="200944" cy="1352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>
                <a:solidFill>
                  <a:srgbClr val="484848"/>
                </a:solidFill>
                <a:latin typeface="Roboto"/>
              </a:rPr>
              <a:t>Yes</a:t>
            </a:r>
          </a:p>
        </p:txBody>
      </p:sp>
      <p:grpSp>
        <p:nvGrpSpPr>
          <p:cNvPr id="15656" name="Group 15655">
            <a:extLst>
              <a:ext uri="{FF2B5EF4-FFF2-40B4-BE49-F238E27FC236}">
                <a16:creationId xmlns:a16="http://schemas.microsoft.com/office/drawing/2014/main" id="{8280CA30-0274-B5BB-09A0-20C77B325FDB}"/>
              </a:ext>
            </a:extLst>
          </p:cNvPr>
          <p:cNvGrpSpPr/>
          <p:nvPr/>
        </p:nvGrpSpPr>
        <p:grpSpPr>
          <a:xfrm>
            <a:off x="4543309" y="3804483"/>
            <a:ext cx="582692" cy="270523"/>
            <a:chOff x="438787" y="2696300"/>
            <a:chExt cx="650194" cy="289604"/>
          </a:xfrm>
        </p:grpSpPr>
        <p:sp>
          <p:nvSpPr>
            <p:cNvPr id="15657" name="TextBox 15656">
              <a:extLst>
                <a:ext uri="{FF2B5EF4-FFF2-40B4-BE49-F238E27FC236}">
                  <a16:creationId xmlns:a16="http://schemas.microsoft.com/office/drawing/2014/main" id="{517252CD-F7F7-6E0A-4646-59F5F23E7F0B}"/>
                </a:ext>
              </a:extLst>
            </p:cNvPr>
            <p:cNvSpPr txBox="1"/>
            <p:nvPr/>
          </p:nvSpPr>
          <p:spPr>
            <a:xfrm>
              <a:off x="390023" y="2696300"/>
              <a:ext cx="747723" cy="1448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3CC583"/>
                  </a:solidFill>
                  <a:latin typeface="Roboto"/>
                </a:rPr>
                <a:t>Live Sensor</a:t>
              </a:r>
            </a:p>
          </p:txBody>
        </p:sp>
        <p:sp>
          <p:nvSpPr>
            <p:cNvPr id="15658" name="TextBox 15657">
              <a:extLst>
                <a:ext uri="{FF2B5EF4-FFF2-40B4-BE49-F238E27FC236}">
                  <a16:creationId xmlns:a16="http://schemas.microsoft.com/office/drawing/2014/main" id="{CBB22E50-B119-C72C-A46C-7754614B855B}"/>
                </a:ext>
              </a:extLst>
            </p:cNvPr>
            <p:cNvSpPr txBox="1"/>
            <p:nvPr/>
          </p:nvSpPr>
          <p:spPr>
            <a:xfrm>
              <a:off x="390023" y="2841103"/>
              <a:ext cx="747723" cy="144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3CC583"/>
                  </a:solidFill>
                  <a:latin typeface="Roboto"/>
                </a:rPr>
                <a:t>Inputs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29272"/>
            <a:ext cx="1459698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AutoNex</a:t>
            </a:r>
            <a:endParaRPr lang="en-IN" b="1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481FB3-69F6-ED6D-D476-38E1F22DAB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38" y="3908312"/>
            <a:ext cx="4268673" cy="90079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46BC06F-2A04-92C6-19E8-9EAA32C5E8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80" y="4853007"/>
            <a:ext cx="4318451" cy="93688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875B42C-0653-3BED-6E71-A4741B01DA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80" y="5867221"/>
            <a:ext cx="4384472" cy="85457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15C5968-E76E-3A39-875D-ED2349F7B8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2385" y="3906776"/>
            <a:ext cx="1318258" cy="88823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04AFF1E-E705-D9CD-E1C8-79D7030C891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8741" y="4931260"/>
            <a:ext cx="1256015" cy="85863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6DE3F0B-FA23-89A9-91CD-27D49FE0AFDA}"/>
              </a:ext>
            </a:extLst>
          </p:cNvPr>
          <p:cNvSpPr txBox="1"/>
          <p:nvPr/>
        </p:nvSpPr>
        <p:spPr>
          <a:xfrm>
            <a:off x="62176" y="1036606"/>
            <a:ext cx="597608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/>
              <a:t>•IoT &amp; Telemetry:</a:t>
            </a:r>
            <a:r>
              <a:rPr lang="en-IN" dirty="0"/>
              <a:t> GPS, RFID, Axle Counters, Tachometers &amp; Sensors</a:t>
            </a:r>
            <a:br>
              <a:rPr lang="en-IN" dirty="0"/>
            </a:br>
            <a:r>
              <a:rPr lang="en-IN" dirty="0"/>
              <a:t>•</a:t>
            </a:r>
            <a:r>
              <a:rPr lang="en-IN" b="1" dirty="0"/>
              <a:t>Big Data:</a:t>
            </a:r>
            <a:r>
              <a:rPr lang="en-IN" dirty="0"/>
              <a:t> Kafka, Flink &amp; Spark</a:t>
            </a:r>
            <a:br>
              <a:rPr lang="en-IN" dirty="0"/>
            </a:br>
            <a:r>
              <a:rPr lang="en-IN" dirty="0"/>
              <a:t>•</a:t>
            </a:r>
            <a:r>
              <a:rPr lang="en-IN" b="1" dirty="0"/>
              <a:t>AI/ML:</a:t>
            </a:r>
            <a:r>
              <a:rPr lang="en-IN" dirty="0"/>
              <a:t> Scikit-Learn, Gemini RAG, ChromaDB &amp; RDSO Rulebook Engine</a:t>
            </a:r>
            <a:br>
              <a:rPr lang="en-IN" dirty="0"/>
            </a:br>
            <a:r>
              <a:rPr lang="en-IN" dirty="0"/>
              <a:t>•</a:t>
            </a:r>
            <a:r>
              <a:rPr lang="en-IN" b="1" dirty="0"/>
              <a:t>Backend:</a:t>
            </a:r>
            <a:r>
              <a:rPr lang="en-IN" dirty="0"/>
              <a:t> Node.js, ExpressJS, FastAPI, Cassandra &amp; WebSockets</a:t>
            </a:r>
            <a:br>
              <a:rPr lang="en-IN" dirty="0"/>
            </a:br>
            <a:r>
              <a:rPr lang="en-IN" dirty="0"/>
              <a:t>•</a:t>
            </a:r>
            <a:r>
              <a:rPr lang="en-IN" b="1" dirty="0"/>
              <a:t>Frontend:</a:t>
            </a:r>
            <a:r>
              <a:rPr lang="en-IN" dirty="0"/>
              <a:t> HTML5, Tailwind CSS, JavaScript, Leaflet.js &amp; Chart.js</a:t>
            </a:r>
            <a:br>
              <a:rPr lang="en-IN" dirty="0"/>
            </a:br>
            <a:r>
              <a:rPr lang="en-IN" dirty="0"/>
              <a:t>•</a:t>
            </a:r>
            <a:r>
              <a:rPr lang="en-IN" b="1" dirty="0"/>
              <a:t>APIs &amp; Cloud:</a:t>
            </a:r>
            <a:r>
              <a:rPr lang="en-IN" dirty="0"/>
              <a:t> CRIS, NTES, Weather APIs, Docker &amp; Grafana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0F5B7B-0F78-986F-1BDC-2AC565737602}"/>
              </a:ext>
            </a:extLst>
          </p:cNvPr>
          <p:cNvSpPr txBox="1"/>
          <p:nvPr/>
        </p:nvSpPr>
        <p:spPr>
          <a:xfrm>
            <a:off x="8389680" y="1664477"/>
            <a:ext cx="28448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>
                <a:solidFill>
                  <a:schemeClr val="accent2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5EAAC41-2735-3B1A-2B67-EE9E2A4FA161}"/>
              </a:ext>
            </a:extLst>
          </p:cNvPr>
          <p:cNvSpPr/>
          <p:nvPr/>
        </p:nvSpPr>
        <p:spPr>
          <a:xfrm>
            <a:off x="6530390" y="1046458"/>
            <a:ext cx="5356577" cy="58290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31DA782E-232D-CA81-B579-273C908ABEC6}"/>
              </a:ext>
            </a:extLst>
          </p:cNvPr>
          <p:cNvSpPr/>
          <p:nvPr/>
        </p:nvSpPr>
        <p:spPr>
          <a:xfrm>
            <a:off x="7891646" y="1816924"/>
            <a:ext cx="876765" cy="287855"/>
          </a:xfrm>
          <a:custGeom>
            <a:avLst/>
            <a:gdLst/>
            <a:ahLst/>
            <a:cxnLst/>
            <a:rect l="0" t="0" r="0" b="0"/>
            <a:pathLst>
              <a:path w="876765" h="293511">
                <a:moveTo>
                  <a:pt x="36688" y="0"/>
                </a:moveTo>
                <a:cubicBezTo>
                  <a:pt x="16426" y="0"/>
                  <a:pt x="0" y="16426"/>
                  <a:pt x="0" y="36688"/>
                </a:cubicBezTo>
                <a:moveTo>
                  <a:pt x="36688" y="0"/>
                </a:moveTo>
                <a:lnTo>
                  <a:pt x="840076" y="0"/>
                </a:lnTo>
                <a:moveTo>
                  <a:pt x="840076" y="0"/>
                </a:moveTo>
                <a:cubicBezTo>
                  <a:pt x="860339" y="0"/>
                  <a:pt x="876765" y="16426"/>
                  <a:pt x="876765" y="36688"/>
                </a:cubicBezTo>
                <a:moveTo>
                  <a:pt x="876765" y="256822"/>
                </a:moveTo>
                <a:lnTo>
                  <a:pt x="876765" y="36688"/>
                </a:lnTo>
                <a:moveTo>
                  <a:pt x="0" y="256822"/>
                </a:moveTo>
                <a:lnTo>
                  <a:pt x="0" y="36688"/>
                </a:lnTo>
                <a:moveTo>
                  <a:pt x="0" y="256822"/>
                </a:moveTo>
                <a:cubicBezTo>
                  <a:pt x="0" y="277084"/>
                  <a:pt x="16426" y="293511"/>
                  <a:pt x="36688" y="293511"/>
                </a:cubicBezTo>
                <a:moveTo>
                  <a:pt x="840076" y="293511"/>
                </a:moveTo>
                <a:lnTo>
                  <a:pt x="36688" y="293511"/>
                </a:lnTo>
                <a:moveTo>
                  <a:pt x="840076" y="293511"/>
                </a:moveTo>
                <a:cubicBezTo>
                  <a:pt x="860339" y="293511"/>
                  <a:pt x="876765" y="277084"/>
                  <a:pt x="876765" y="256822"/>
                </a:cubicBezTo>
              </a:path>
            </a:pathLst>
          </a:custGeom>
          <a:noFill/>
          <a:ln w="9171">
            <a:solidFill>
              <a:srgbClr val="4E88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3">
            <a:extLst>
              <a:ext uri="{FF2B5EF4-FFF2-40B4-BE49-F238E27FC236}">
                <a16:creationId xmlns:a16="http://schemas.microsoft.com/office/drawing/2014/main" id="{1C6D8F3C-04DE-E86F-1E63-6409F0ED4094}"/>
              </a:ext>
            </a:extLst>
          </p:cNvPr>
          <p:cNvSpPr/>
          <p:nvPr/>
        </p:nvSpPr>
        <p:spPr>
          <a:xfrm>
            <a:off x="9648945" y="1853613"/>
            <a:ext cx="1018170" cy="287855"/>
          </a:xfrm>
          <a:custGeom>
            <a:avLst/>
            <a:gdLst/>
            <a:ahLst/>
            <a:cxnLst/>
            <a:rect l="0" t="0" r="0" b="0"/>
            <a:pathLst>
              <a:path w="1018170" h="293511">
                <a:moveTo>
                  <a:pt x="981481" y="0"/>
                </a:moveTo>
                <a:cubicBezTo>
                  <a:pt x="1001744" y="0"/>
                  <a:pt x="1018170" y="16426"/>
                  <a:pt x="1018170" y="36688"/>
                </a:cubicBezTo>
                <a:moveTo>
                  <a:pt x="981481" y="0"/>
                </a:moveTo>
                <a:lnTo>
                  <a:pt x="36688" y="0"/>
                </a:lnTo>
                <a:moveTo>
                  <a:pt x="36688" y="0"/>
                </a:moveTo>
                <a:cubicBezTo>
                  <a:pt x="16426" y="0"/>
                  <a:pt x="0" y="16426"/>
                  <a:pt x="0" y="36688"/>
                </a:cubicBezTo>
                <a:moveTo>
                  <a:pt x="0" y="256822"/>
                </a:moveTo>
                <a:lnTo>
                  <a:pt x="0" y="36688"/>
                </a:lnTo>
                <a:moveTo>
                  <a:pt x="1018170" y="256822"/>
                </a:moveTo>
                <a:lnTo>
                  <a:pt x="1018170" y="36688"/>
                </a:lnTo>
                <a:moveTo>
                  <a:pt x="1018170" y="256822"/>
                </a:moveTo>
                <a:cubicBezTo>
                  <a:pt x="1018170" y="277084"/>
                  <a:pt x="1001744" y="293511"/>
                  <a:pt x="981481" y="293511"/>
                </a:cubicBezTo>
                <a:moveTo>
                  <a:pt x="36688" y="293511"/>
                </a:moveTo>
                <a:lnTo>
                  <a:pt x="981481" y="293511"/>
                </a:lnTo>
                <a:moveTo>
                  <a:pt x="36688" y="293511"/>
                </a:moveTo>
                <a:cubicBezTo>
                  <a:pt x="16426" y="293511"/>
                  <a:pt x="0" y="277084"/>
                  <a:pt x="0" y="256822"/>
                </a:cubicBezTo>
              </a:path>
            </a:pathLst>
          </a:custGeom>
          <a:noFill/>
          <a:ln w="9171">
            <a:solidFill>
              <a:srgbClr val="DE843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4">
            <a:extLst>
              <a:ext uri="{FF2B5EF4-FFF2-40B4-BE49-F238E27FC236}">
                <a16:creationId xmlns:a16="http://schemas.microsoft.com/office/drawing/2014/main" id="{5EF4E2C8-BFC6-1441-7E73-2459714514C4}"/>
              </a:ext>
            </a:extLst>
          </p:cNvPr>
          <p:cNvSpPr/>
          <p:nvPr/>
        </p:nvSpPr>
        <p:spPr>
          <a:xfrm>
            <a:off x="7561900" y="3467924"/>
            <a:ext cx="656178" cy="287855"/>
          </a:xfrm>
          <a:custGeom>
            <a:avLst/>
            <a:gdLst/>
            <a:ahLst/>
            <a:cxnLst/>
            <a:rect l="0" t="0" r="0" b="0"/>
            <a:pathLst>
              <a:path w="656178" h="293511">
                <a:moveTo>
                  <a:pt x="36688" y="0"/>
                </a:moveTo>
                <a:cubicBezTo>
                  <a:pt x="16426" y="0"/>
                  <a:pt x="0" y="16426"/>
                  <a:pt x="0" y="36688"/>
                </a:cubicBezTo>
                <a:moveTo>
                  <a:pt x="36688" y="0"/>
                </a:moveTo>
                <a:lnTo>
                  <a:pt x="619489" y="0"/>
                </a:lnTo>
                <a:moveTo>
                  <a:pt x="619489" y="0"/>
                </a:moveTo>
                <a:cubicBezTo>
                  <a:pt x="639751" y="0"/>
                  <a:pt x="656178" y="16426"/>
                  <a:pt x="656178" y="36688"/>
                </a:cubicBezTo>
                <a:moveTo>
                  <a:pt x="656178" y="256822"/>
                </a:moveTo>
                <a:lnTo>
                  <a:pt x="656178" y="36688"/>
                </a:lnTo>
                <a:moveTo>
                  <a:pt x="0" y="256822"/>
                </a:moveTo>
                <a:lnTo>
                  <a:pt x="0" y="36688"/>
                </a:lnTo>
                <a:moveTo>
                  <a:pt x="0" y="256822"/>
                </a:moveTo>
                <a:cubicBezTo>
                  <a:pt x="0" y="277084"/>
                  <a:pt x="16426" y="293511"/>
                  <a:pt x="36688" y="293511"/>
                </a:cubicBezTo>
                <a:moveTo>
                  <a:pt x="619489" y="293511"/>
                </a:moveTo>
                <a:lnTo>
                  <a:pt x="36688" y="293511"/>
                </a:lnTo>
                <a:moveTo>
                  <a:pt x="619489" y="293511"/>
                </a:moveTo>
                <a:cubicBezTo>
                  <a:pt x="639751" y="293511"/>
                  <a:pt x="656178" y="277084"/>
                  <a:pt x="656178" y="256822"/>
                </a:cubicBezTo>
              </a:path>
            </a:pathLst>
          </a:custGeom>
          <a:noFill/>
          <a:ln w="9171">
            <a:solidFill>
              <a:srgbClr val="7F64E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">
            <a:extLst>
              <a:ext uri="{FF2B5EF4-FFF2-40B4-BE49-F238E27FC236}">
                <a16:creationId xmlns:a16="http://schemas.microsoft.com/office/drawing/2014/main" id="{155C0C0E-61EE-8414-85C2-C7581D3A9FDD}"/>
              </a:ext>
            </a:extLst>
          </p:cNvPr>
          <p:cNvSpPr/>
          <p:nvPr/>
        </p:nvSpPr>
        <p:spPr>
          <a:xfrm>
            <a:off x="8511590" y="4018258"/>
            <a:ext cx="1394177" cy="323837"/>
          </a:xfrm>
          <a:custGeom>
            <a:avLst/>
            <a:gdLst/>
            <a:ahLst/>
            <a:cxnLst/>
            <a:rect l="0" t="0" r="0" b="0"/>
            <a:pathLst>
              <a:path w="1394177" h="330200">
                <a:moveTo>
                  <a:pt x="36688" y="0"/>
                </a:moveTo>
                <a:cubicBezTo>
                  <a:pt x="16426" y="0"/>
                  <a:pt x="0" y="16426"/>
                  <a:pt x="0" y="36688"/>
                </a:cubicBezTo>
                <a:moveTo>
                  <a:pt x="36688" y="0"/>
                </a:moveTo>
                <a:lnTo>
                  <a:pt x="1357488" y="0"/>
                </a:lnTo>
                <a:moveTo>
                  <a:pt x="1357488" y="0"/>
                </a:moveTo>
                <a:cubicBezTo>
                  <a:pt x="1377751" y="0"/>
                  <a:pt x="1394177" y="16426"/>
                  <a:pt x="1394177" y="36688"/>
                </a:cubicBezTo>
                <a:moveTo>
                  <a:pt x="1394177" y="293511"/>
                </a:moveTo>
                <a:lnTo>
                  <a:pt x="1394177" y="36688"/>
                </a:lnTo>
                <a:moveTo>
                  <a:pt x="0" y="293511"/>
                </a:moveTo>
                <a:lnTo>
                  <a:pt x="0" y="36688"/>
                </a:lnTo>
                <a:moveTo>
                  <a:pt x="0" y="293511"/>
                </a:moveTo>
                <a:cubicBezTo>
                  <a:pt x="0" y="313773"/>
                  <a:pt x="16426" y="330200"/>
                  <a:pt x="36688" y="330200"/>
                </a:cubicBezTo>
                <a:moveTo>
                  <a:pt x="1357488" y="330200"/>
                </a:moveTo>
                <a:lnTo>
                  <a:pt x="36688" y="330200"/>
                </a:lnTo>
                <a:moveTo>
                  <a:pt x="1357488" y="330200"/>
                </a:moveTo>
                <a:cubicBezTo>
                  <a:pt x="1377751" y="330200"/>
                  <a:pt x="1394177" y="313773"/>
                  <a:pt x="1394177" y="293511"/>
                </a:cubicBezTo>
              </a:path>
            </a:pathLst>
          </a:custGeom>
          <a:noFill/>
          <a:ln w="9171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6">
            <a:extLst>
              <a:ext uri="{FF2B5EF4-FFF2-40B4-BE49-F238E27FC236}">
                <a16:creationId xmlns:a16="http://schemas.microsoft.com/office/drawing/2014/main" id="{368CA4C7-AFA9-D0A8-3873-6AAB368EFBAA}"/>
              </a:ext>
            </a:extLst>
          </p:cNvPr>
          <p:cNvSpPr/>
          <p:nvPr/>
        </p:nvSpPr>
        <p:spPr>
          <a:xfrm>
            <a:off x="10199278" y="3706402"/>
            <a:ext cx="629491" cy="287855"/>
          </a:xfrm>
          <a:custGeom>
            <a:avLst/>
            <a:gdLst/>
            <a:ahLst/>
            <a:cxnLst/>
            <a:rect l="0" t="0" r="0" b="0"/>
            <a:pathLst>
              <a:path w="629491" h="293511">
                <a:moveTo>
                  <a:pt x="592802" y="0"/>
                </a:moveTo>
                <a:cubicBezTo>
                  <a:pt x="613065" y="0"/>
                  <a:pt x="629491" y="16426"/>
                  <a:pt x="629491" y="36688"/>
                </a:cubicBezTo>
                <a:moveTo>
                  <a:pt x="592802" y="0"/>
                </a:moveTo>
                <a:lnTo>
                  <a:pt x="36688" y="0"/>
                </a:lnTo>
                <a:moveTo>
                  <a:pt x="36688" y="0"/>
                </a:moveTo>
                <a:cubicBezTo>
                  <a:pt x="16426" y="0"/>
                  <a:pt x="0" y="16426"/>
                  <a:pt x="0" y="36688"/>
                </a:cubicBezTo>
                <a:moveTo>
                  <a:pt x="0" y="256822"/>
                </a:moveTo>
                <a:lnTo>
                  <a:pt x="0" y="36688"/>
                </a:lnTo>
                <a:moveTo>
                  <a:pt x="629491" y="256822"/>
                </a:moveTo>
                <a:lnTo>
                  <a:pt x="629491" y="36688"/>
                </a:lnTo>
                <a:moveTo>
                  <a:pt x="629491" y="256822"/>
                </a:moveTo>
                <a:cubicBezTo>
                  <a:pt x="629491" y="277084"/>
                  <a:pt x="613065" y="293511"/>
                  <a:pt x="592802" y="293511"/>
                </a:cubicBezTo>
                <a:moveTo>
                  <a:pt x="36688" y="293511"/>
                </a:moveTo>
                <a:lnTo>
                  <a:pt x="592802" y="293511"/>
                </a:lnTo>
                <a:moveTo>
                  <a:pt x="36688" y="293511"/>
                </a:moveTo>
                <a:cubicBezTo>
                  <a:pt x="16426" y="293511"/>
                  <a:pt x="0" y="277084"/>
                  <a:pt x="0" y="256822"/>
                </a:cubicBezTo>
              </a:path>
            </a:pathLst>
          </a:custGeom>
          <a:noFill/>
          <a:ln w="9171">
            <a:solidFill>
              <a:srgbClr val="E5575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7">
            <a:extLst>
              <a:ext uri="{FF2B5EF4-FFF2-40B4-BE49-F238E27FC236}">
                <a16:creationId xmlns:a16="http://schemas.microsoft.com/office/drawing/2014/main" id="{549D7FFF-8A9C-F6A2-0C88-503A02D407C3}"/>
              </a:ext>
            </a:extLst>
          </p:cNvPr>
          <p:cNvSpPr/>
          <p:nvPr/>
        </p:nvSpPr>
        <p:spPr>
          <a:xfrm>
            <a:off x="8128261" y="5118924"/>
            <a:ext cx="640150" cy="287855"/>
          </a:xfrm>
          <a:custGeom>
            <a:avLst/>
            <a:gdLst/>
            <a:ahLst/>
            <a:cxnLst/>
            <a:rect l="0" t="0" r="0" b="0"/>
            <a:pathLst>
              <a:path w="640150" h="293511">
                <a:moveTo>
                  <a:pt x="36688" y="0"/>
                </a:moveTo>
                <a:cubicBezTo>
                  <a:pt x="16426" y="0"/>
                  <a:pt x="0" y="16426"/>
                  <a:pt x="0" y="36688"/>
                </a:cubicBezTo>
                <a:moveTo>
                  <a:pt x="36688" y="0"/>
                </a:moveTo>
                <a:lnTo>
                  <a:pt x="603461" y="0"/>
                </a:lnTo>
                <a:moveTo>
                  <a:pt x="603461" y="0"/>
                </a:moveTo>
                <a:cubicBezTo>
                  <a:pt x="623724" y="0"/>
                  <a:pt x="640150" y="16426"/>
                  <a:pt x="640150" y="36688"/>
                </a:cubicBezTo>
                <a:moveTo>
                  <a:pt x="640150" y="256822"/>
                </a:moveTo>
                <a:lnTo>
                  <a:pt x="640150" y="36688"/>
                </a:lnTo>
                <a:moveTo>
                  <a:pt x="0" y="256822"/>
                </a:moveTo>
                <a:lnTo>
                  <a:pt x="0" y="36688"/>
                </a:lnTo>
                <a:moveTo>
                  <a:pt x="0" y="256822"/>
                </a:moveTo>
                <a:cubicBezTo>
                  <a:pt x="0" y="277084"/>
                  <a:pt x="16426" y="293511"/>
                  <a:pt x="36688" y="293511"/>
                </a:cubicBezTo>
                <a:moveTo>
                  <a:pt x="603461" y="293511"/>
                </a:moveTo>
                <a:lnTo>
                  <a:pt x="36688" y="293511"/>
                </a:lnTo>
                <a:moveTo>
                  <a:pt x="603461" y="293511"/>
                </a:moveTo>
                <a:cubicBezTo>
                  <a:pt x="623724" y="293511"/>
                  <a:pt x="640150" y="277084"/>
                  <a:pt x="640150" y="256822"/>
                </a:cubicBezTo>
              </a:path>
            </a:pathLst>
          </a:custGeom>
          <a:noFill/>
          <a:ln w="9171">
            <a:solidFill>
              <a:srgbClr val="BA5DE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8">
            <a:extLst>
              <a:ext uri="{FF2B5EF4-FFF2-40B4-BE49-F238E27FC236}">
                <a16:creationId xmlns:a16="http://schemas.microsoft.com/office/drawing/2014/main" id="{504EDEFA-1EF9-3DE7-2671-A30D5028BA3B}"/>
              </a:ext>
            </a:extLst>
          </p:cNvPr>
          <p:cNvSpPr/>
          <p:nvPr/>
        </p:nvSpPr>
        <p:spPr>
          <a:xfrm>
            <a:off x="9648945" y="5118924"/>
            <a:ext cx="507392" cy="287855"/>
          </a:xfrm>
          <a:custGeom>
            <a:avLst/>
            <a:gdLst/>
            <a:ahLst/>
            <a:cxnLst/>
            <a:rect l="0" t="0" r="0" b="0"/>
            <a:pathLst>
              <a:path w="507392" h="293511">
                <a:moveTo>
                  <a:pt x="470703" y="0"/>
                </a:moveTo>
                <a:cubicBezTo>
                  <a:pt x="490966" y="0"/>
                  <a:pt x="507392" y="16426"/>
                  <a:pt x="507392" y="36688"/>
                </a:cubicBezTo>
                <a:moveTo>
                  <a:pt x="470703" y="0"/>
                </a:moveTo>
                <a:lnTo>
                  <a:pt x="36688" y="0"/>
                </a:lnTo>
                <a:moveTo>
                  <a:pt x="36688" y="0"/>
                </a:moveTo>
                <a:cubicBezTo>
                  <a:pt x="16426" y="0"/>
                  <a:pt x="0" y="16426"/>
                  <a:pt x="0" y="36688"/>
                </a:cubicBezTo>
                <a:moveTo>
                  <a:pt x="0" y="256822"/>
                </a:moveTo>
                <a:lnTo>
                  <a:pt x="0" y="36688"/>
                </a:lnTo>
                <a:moveTo>
                  <a:pt x="507392" y="256822"/>
                </a:moveTo>
                <a:lnTo>
                  <a:pt x="507392" y="36688"/>
                </a:lnTo>
                <a:moveTo>
                  <a:pt x="507392" y="256822"/>
                </a:moveTo>
                <a:cubicBezTo>
                  <a:pt x="507392" y="277084"/>
                  <a:pt x="490966" y="293511"/>
                  <a:pt x="470703" y="293511"/>
                </a:cubicBezTo>
                <a:moveTo>
                  <a:pt x="36688" y="293511"/>
                </a:moveTo>
                <a:lnTo>
                  <a:pt x="470703" y="293511"/>
                </a:lnTo>
                <a:moveTo>
                  <a:pt x="36688" y="293511"/>
                </a:moveTo>
                <a:cubicBezTo>
                  <a:pt x="16426" y="293511"/>
                  <a:pt x="0" y="277084"/>
                  <a:pt x="0" y="256822"/>
                </a:cubicBezTo>
              </a:path>
            </a:pathLst>
          </a:custGeom>
          <a:noFill/>
          <a:ln w="9171">
            <a:solidFill>
              <a:srgbClr val="DE58A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766E60A9-5840-BF18-5F11-AF91D7AA3115}"/>
              </a:ext>
            </a:extLst>
          </p:cNvPr>
          <p:cNvGrpSpPr/>
          <p:nvPr/>
        </p:nvGrpSpPr>
        <p:grpSpPr>
          <a:xfrm>
            <a:off x="9483845" y="1982024"/>
            <a:ext cx="183444" cy="2014983"/>
            <a:chOff x="2953455" y="935566"/>
            <a:chExt cx="183444" cy="2054577"/>
          </a:xfrm>
        </p:grpSpPr>
        <p:sp>
          <p:nvSpPr>
            <p:cNvPr id="62" name="Rounded Rectangle 9">
              <a:extLst>
                <a:ext uri="{FF2B5EF4-FFF2-40B4-BE49-F238E27FC236}">
                  <a16:creationId xmlns:a16="http://schemas.microsoft.com/office/drawing/2014/main" id="{38C24616-853B-EA3A-5FCC-454904D8A22F}"/>
                </a:ext>
              </a:extLst>
            </p:cNvPr>
            <p:cNvSpPr/>
            <p:nvPr/>
          </p:nvSpPr>
          <p:spPr>
            <a:xfrm>
              <a:off x="2971800" y="953911"/>
              <a:ext cx="146755" cy="2017888"/>
            </a:xfrm>
            <a:custGeom>
              <a:avLst/>
              <a:gdLst/>
              <a:ahLst/>
              <a:cxnLst/>
              <a:rect l="0" t="0" r="0" b="0"/>
              <a:pathLst>
                <a:path w="146755" h="2017888">
                  <a:moveTo>
                    <a:pt x="0" y="2017888"/>
                  </a:moveTo>
                  <a:lnTo>
                    <a:pt x="0" y="73377"/>
                  </a:lnTo>
                  <a:cubicBezTo>
                    <a:pt x="0" y="32852"/>
                    <a:pt x="32852" y="0"/>
                    <a:pt x="73377" y="0"/>
                  </a:cubicBezTo>
                  <a:lnTo>
                    <a:pt x="146755" y="0"/>
                  </a:lnTo>
                </a:path>
              </a:pathLst>
            </a:custGeom>
            <a:noFill/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Rounded Rectangle 10">
              <a:extLst>
                <a:ext uri="{FF2B5EF4-FFF2-40B4-BE49-F238E27FC236}">
                  <a16:creationId xmlns:a16="http://schemas.microsoft.com/office/drawing/2014/main" id="{D0BC7E15-E6D3-A259-77C0-3E22E37EC37D}"/>
                </a:ext>
              </a:extLst>
            </p:cNvPr>
            <p:cNvSpPr/>
            <p:nvPr/>
          </p:nvSpPr>
          <p:spPr>
            <a:xfrm>
              <a:off x="2953455" y="2953455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08" name="Rounded Rectangle 11">
              <a:extLst>
                <a:ext uri="{FF2B5EF4-FFF2-40B4-BE49-F238E27FC236}">
                  <a16:creationId xmlns:a16="http://schemas.microsoft.com/office/drawing/2014/main" id="{E93BD18E-5B99-FDC8-FBD4-F8ABBADF4BE3}"/>
                </a:ext>
              </a:extLst>
            </p:cNvPr>
            <p:cNvSpPr/>
            <p:nvPr/>
          </p:nvSpPr>
          <p:spPr>
            <a:xfrm>
              <a:off x="3100211" y="935566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7410" name="Group 17409">
            <a:extLst>
              <a:ext uri="{FF2B5EF4-FFF2-40B4-BE49-F238E27FC236}">
                <a16:creationId xmlns:a16="http://schemas.microsoft.com/office/drawing/2014/main" id="{CFE15363-A33C-AAEA-9F03-BE883DAE654D}"/>
              </a:ext>
            </a:extLst>
          </p:cNvPr>
          <p:cNvGrpSpPr/>
          <p:nvPr/>
        </p:nvGrpSpPr>
        <p:grpSpPr>
          <a:xfrm>
            <a:off x="9703978" y="2128780"/>
            <a:ext cx="110066" cy="1007491"/>
            <a:chOff x="3173588" y="1082322"/>
            <a:chExt cx="110066" cy="1027288"/>
          </a:xfrm>
        </p:grpSpPr>
        <p:sp>
          <p:nvSpPr>
            <p:cNvPr id="17411" name="Rounded Rectangle 13">
              <a:extLst>
                <a:ext uri="{FF2B5EF4-FFF2-40B4-BE49-F238E27FC236}">
                  <a16:creationId xmlns:a16="http://schemas.microsoft.com/office/drawing/2014/main" id="{A8F14847-E93E-D6E1-95B0-8E4DE5565F6B}"/>
                </a:ext>
              </a:extLst>
            </p:cNvPr>
            <p:cNvSpPr/>
            <p:nvPr/>
          </p:nvSpPr>
          <p:spPr>
            <a:xfrm>
              <a:off x="3191933" y="1100666"/>
              <a:ext cx="73377" cy="990600"/>
            </a:xfrm>
            <a:custGeom>
              <a:avLst/>
              <a:gdLst/>
              <a:ahLst/>
              <a:cxnLst/>
              <a:rect l="0" t="0" r="0" b="0"/>
              <a:pathLst>
                <a:path w="73377" h="990600">
                  <a:moveTo>
                    <a:pt x="0" y="0"/>
                  </a:moveTo>
                  <a:lnTo>
                    <a:pt x="0" y="917222"/>
                  </a:lnTo>
                  <a:cubicBezTo>
                    <a:pt x="0" y="957747"/>
                    <a:pt x="32852" y="990600"/>
                    <a:pt x="73377" y="990600"/>
                  </a:cubicBezTo>
                  <a:lnTo>
                    <a:pt x="73377" y="990600"/>
                  </a:lnTo>
                  <a:moveTo>
                    <a:pt x="73377" y="110066"/>
                  </a:moveTo>
                  <a:lnTo>
                    <a:pt x="0" y="110066"/>
                  </a:lnTo>
                  <a:moveTo>
                    <a:pt x="73377" y="330200"/>
                  </a:moveTo>
                  <a:lnTo>
                    <a:pt x="0" y="330200"/>
                  </a:lnTo>
                  <a:moveTo>
                    <a:pt x="73377" y="550333"/>
                  </a:moveTo>
                  <a:lnTo>
                    <a:pt x="0" y="550333"/>
                  </a:lnTo>
                  <a:moveTo>
                    <a:pt x="73377" y="770466"/>
                  </a:moveTo>
                  <a:lnTo>
                    <a:pt x="0" y="770466"/>
                  </a:lnTo>
                </a:path>
              </a:pathLst>
            </a:custGeom>
            <a:noFill/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12" name="Rounded Rectangle 14">
              <a:extLst>
                <a:ext uri="{FF2B5EF4-FFF2-40B4-BE49-F238E27FC236}">
                  <a16:creationId xmlns:a16="http://schemas.microsoft.com/office/drawing/2014/main" id="{76BAC7AC-8F78-B898-35D1-26FAFCE933DB}"/>
                </a:ext>
              </a:extLst>
            </p:cNvPr>
            <p:cNvSpPr/>
            <p:nvPr/>
          </p:nvSpPr>
          <p:spPr>
            <a:xfrm>
              <a:off x="3173588" y="1082322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13" name="Rounded Rectangle 15">
              <a:extLst>
                <a:ext uri="{FF2B5EF4-FFF2-40B4-BE49-F238E27FC236}">
                  <a16:creationId xmlns:a16="http://schemas.microsoft.com/office/drawing/2014/main" id="{EFE2BBB9-53C5-EB71-AC61-AC90C47AE402}"/>
                </a:ext>
              </a:extLst>
            </p:cNvPr>
            <p:cNvSpPr/>
            <p:nvPr/>
          </p:nvSpPr>
          <p:spPr>
            <a:xfrm>
              <a:off x="3246966" y="2072922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14" name="Rounded Rectangle 16">
              <a:extLst>
                <a:ext uri="{FF2B5EF4-FFF2-40B4-BE49-F238E27FC236}">
                  <a16:creationId xmlns:a16="http://schemas.microsoft.com/office/drawing/2014/main" id="{45CEF703-3546-505A-EE82-9EBE7C843344}"/>
                </a:ext>
              </a:extLst>
            </p:cNvPr>
            <p:cNvSpPr/>
            <p:nvPr/>
          </p:nvSpPr>
          <p:spPr>
            <a:xfrm>
              <a:off x="3246966" y="1192388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15" name="Rounded Rectangle 17">
              <a:extLst>
                <a:ext uri="{FF2B5EF4-FFF2-40B4-BE49-F238E27FC236}">
                  <a16:creationId xmlns:a16="http://schemas.microsoft.com/office/drawing/2014/main" id="{F4C7AB82-97E3-036B-3E18-BD27F93E13E8}"/>
                </a:ext>
              </a:extLst>
            </p:cNvPr>
            <p:cNvSpPr/>
            <p:nvPr/>
          </p:nvSpPr>
          <p:spPr>
            <a:xfrm>
              <a:off x="3246966" y="1412522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16" name="Rounded Rectangle 18">
              <a:extLst>
                <a:ext uri="{FF2B5EF4-FFF2-40B4-BE49-F238E27FC236}">
                  <a16:creationId xmlns:a16="http://schemas.microsoft.com/office/drawing/2014/main" id="{BB9621D9-C5AF-B25E-E909-7CE95B1CEDDC}"/>
                </a:ext>
              </a:extLst>
            </p:cNvPr>
            <p:cNvSpPr/>
            <p:nvPr/>
          </p:nvSpPr>
          <p:spPr>
            <a:xfrm>
              <a:off x="3246966" y="1632655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17" name="Rounded Rectangle 19">
              <a:extLst>
                <a:ext uri="{FF2B5EF4-FFF2-40B4-BE49-F238E27FC236}">
                  <a16:creationId xmlns:a16="http://schemas.microsoft.com/office/drawing/2014/main" id="{7127437F-D030-696A-01D4-FDA818EB8F10}"/>
                </a:ext>
              </a:extLst>
            </p:cNvPr>
            <p:cNvSpPr/>
            <p:nvPr/>
          </p:nvSpPr>
          <p:spPr>
            <a:xfrm>
              <a:off x="3246966" y="1852788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7418" name="Group 17417">
            <a:extLst>
              <a:ext uri="{FF2B5EF4-FFF2-40B4-BE49-F238E27FC236}">
                <a16:creationId xmlns:a16="http://schemas.microsoft.com/office/drawing/2014/main" id="{223F2FA9-D29E-3D6E-82D8-A23E5C80A1E4}"/>
              </a:ext>
            </a:extLst>
          </p:cNvPr>
          <p:cNvGrpSpPr/>
          <p:nvPr/>
        </p:nvGrpSpPr>
        <p:grpSpPr>
          <a:xfrm>
            <a:off x="9887423" y="3834813"/>
            <a:ext cx="330199" cy="359818"/>
            <a:chOff x="3357033" y="2788355"/>
            <a:chExt cx="330199" cy="366888"/>
          </a:xfrm>
        </p:grpSpPr>
        <p:sp>
          <p:nvSpPr>
            <p:cNvPr id="17419" name="Rounded Rectangle 21">
              <a:extLst>
                <a:ext uri="{FF2B5EF4-FFF2-40B4-BE49-F238E27FC236}">
                  <a16:creationId xmlns:a16="http://schemas.microsoft.com/office/drawing/2014/main" id="{68004CAC-49A7-26B8-9B13-92CA197B6ED1}"/>
                </a:ext>
              </a:extLst>
            </p:cNvPr>
            <p:cNvSpPr/>
            <p:nvPr/>
          </p:nvSpPr>
          <p:spPr>
            <a:xfrm>
              <a:off x="3375377" y="2806700"/>
              <a:ext cx="293511" cy="330200"/>
            </a:xfrm>
            <a:custGeom>
              <a:avLst/>
              <a:gdLst/>
              <a:ahLst/>
              <a:cxnLst/>
              <a:rect l="0" t="0" r="0" b="0"/>
              <a:pathLst>
                <a:path w="293511" h="330200">
                  <a:moveTo>
                    <a:pt x="0" y="330200"/>
                  </a:moveTo>
                  <a:lnTo>
                    <a:pt x="73377" y="330200"/>
                  </a:lnTo>
                  <a:cubicBezTo>
                    <a:pt x="113903" y="330200"/>
                    <a:pt x="146755" y="297347"/>
                    <a:pt x="146755" y="256822"/>
                  </a:cubicBezTo>
                  <a:lnTo>
                    <a:pt x="146755" y="73377"/>
                  </a:lnTo>
                  <a:cubicBezTo>
                    <a:pt x="146755" y="32852"/>
                    <a:pt x="179607" y="0"/>
                    <a:pt x="220133" y="0"/>
                  </a:cubicBezTo>
                  <a:lnTo>
                    <a:pt x="293511" y="0"/>
                  </a:lnTo>
                </a:path>
              </a:pathLst>
            </a:custGeom>
            <a:noFill/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20" name="Rounded Rectangle 22">
              <a:extLst>
                <a:ext uri="{FF2B5EF4-FFF2-40B4-BE49-F238E27FC236}">
                  <a16:creationId xmlns:a16="http://schemas.microsoft.com/office/drawing/2014/main" id="{39C1F913-C905-4CA2-8525-A8AEFC51D467}"/>
                </a:ext>
              </a:extLst>
            </p:cNvPr>
            <p:cNvSpPr/>
            <p:nvPr/>
          </p:nvSpPr>
          <p:spPr>
            <a:xfrm>
              <a:off x="3357033" y="3118555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21" name="Rounded Rectangle 23">
              <a:extLst>
                <a:ext uri="{FF2B5EF4-FFF2-40B4-BE49-F238E27FC236}">
                  <a16:creationId xmlns:a16="http://schemas.microsoft.com/office/drawing/2014/main" id="{7102B389-3BDA-9A17-472F-D4C5F507EFD2}"/>
                </a:ext>
              </a:extLst>
            </p:cNvPr>
            <p:cNvSpPr/>
            <p:nvPr/>
          </p:nvSpPr>
          <p:spPr>
            <a:xfrm>
              <a:off x="3650544" y="2788355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7422" name="Group 17421">
            <a:extLst>
              <a:ext uri="{FF2B5EF4-FFF2-40B4-BE49-F238E27FC236}">
                <a16:creationId xmlns:a16="http://schemas.microsoft.com/office/drawing/2014/main" id="{4054345E-6213-40AA-7529-2613F59F5270}"/>
              </a:ext>
            </a:extLst>
          </p:cNvPr>
          <p:cNvGrpSpPr/>
          <p:nvPr/>
        </p:nvGrpSpPr>
        <p:grpSpPr>
          <a:xfrm>
            <a:off x="10254312" y="3981570"/>
            <a:ext cx="110066" cy="575708"/>
            <a:chOff x="3723922" y="2935111"/>
            <a:chExt cx="110066" cy="587021"/>
          </a:xfrm>
        </p:grpSpPr>
        <p:sp>
          <p:nvSpPr>
            <p:cNvPr id="17423" name="Rounded Rectangle 25">
              <a:extLst>
                <a:ext uri="{FF2B5EF4-FFF2-40B4-BE49-F238E27FC236}">
                  <a16:creationId xmlns:a16="http://schemas.microsoft.com/office/drawing/2014/main" id="{D897869E-B72D-A05E-57F9-E84A75F1C9CB}"/>
                </a:ext>
              </a:extLst>
            </p:cNvPr>
            <p:cNvSpPr/>
            <p:nvPr/>
          </p:nvSpPr>
          <p:spPr>
            <a:xfrm>
              <a:off x="3742266" y="2953455"/>
              <a:ext cx="73377" cy="550333"/>
            </a:xfrm>
            <a:custGeom>
              <a:avLst/>
              <a:gdLst/>
              <a:ahLst/>
              <a:cxnLst/>
              <a:rect l="0" t="0" r="0" b="0"/>
              <a:pathLst>
                <a:path w="73377" h="550333">
                  <a:moveTo>
                    <a:pt x="0" y="0"/>
                  </a:moveTo>
                  <a:lnTo>
                    <a:pt x="0" y="476955"/>
                  </a:lnTo>
                  <a:cubicBezTo>
                    <a:pt x="0" y="517480"/>
                    <a:pt x="32852" y="550333"/>
                    <a:pt x="73377" y="550333"/>
                  </a:cubicBezTo>
                  <a:lnTo>
                    <a:pt x="73377" y="550333"/>
                  </a:lnTo>
                  <a:moveTo>
                    <a:pt x="73377" y="110066"/>
                  </a:moveTo>
                  <a:lnTo>
                    <a:pt x="0" y="110066"/>
                  </a:lnTo>
                  <a:moveTo>
                    <a:pt x="73377" y="330200"/>
                  </a:moveTo>
                  <a:lnTo>
                    <a:pt x="0" y="330200"/>
                  </a:lnTo>
                </a:path>
              </a:pathLst>
            </a:custGeom>
            <a:noFill/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24" name="Rounded Rectangle 26">
              <a:extLst>
                <a:ext uri="{FF2B5EF4-FFF2-40B4-BE49-F238E27FC236}">
                  <a16:creationId xmlns:a16="http://schemas.microsoft.com/office/drawing/2014/main" id="{536F50AE-F052-0786-A92A-21F5F87F7323}"/>
                </a:ext>
              </a:extLst>
            </p:cNvPr>
            <p:cNvSpPr/>
            <p:nvPr/>
          </p:nvSpPr>
          <p:spPr>
            <a:xfrm>
              <a:off x="3723922" y="2935111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25" name="Rounded Rectangle 27">
              <a:extLst>
                <a:ext uri="{FF2B5EF4-FFF2-40B4-BE49-F238E27FC236}">
                  <a16:creationId xmlns:a16="http://schemas.microsoft.com/office/drawing/2014/main" id="{DE64123F-A3B4-C215-09E3-267A93E64EA5}"/>
                </a:ext>
              </a:extLst>
            </p:cNvPr>
            <p:cNvSpPr/>
            <p:nvPr/>
          </p:nvSpPr>
          <p:spPr>
            <a:xfrm>
              <a:off x="3797300" y="3485444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26" name="Rounded Rectangle 28">
              <a:extLst>
                <a:ext uri="{FF2B5EF4-FFF2-40B4-BE49-F238E27FC236}">
                  <a16:creationId xmlns:a16="http://schemas.microsoft.com/office/drawing/2014/main" id="{F444D775-9C9C-441B-AC3E-E6791BE76B3B}"/>
                </a:ext>
              </a:extLst>
            </p:cNvPr>
            <p:cNvSpPr/>
            <p:nvPr/>
          </p:nvSpPr>
          <p:spPr>
            <a:xfrm>
              <a:off x="3797300" y="3045177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27" name="Rounded Rectangle 29">
              <a:extLst>
                <a:ext uri="{FF2B5EF4-FFF2-40B4-BE49-F238E27FC236}">
                  <a16:creationId xmlns:a16="http://schemas.microsoft.com/office/drawing/2014/main" id="{6B25B1DE-E34E-3161-A363-1BCD9133BD96}"/>
                </a:ext>
              </a:extLst>
            </p:cNvPr>
            <p:cNvSpPr/>
            <p:nvPr/>
          </p:nvSpPr>
          <p:spPr>
            <a:xfrm>
              <a:off x="3797300" y="3265311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7428" name="Group 17427">
            <a:extLst>
              <a:ext uri="{FF2B5EF4-FFF2-40B4-BE49-F238E27FC236}">
                <a16:creationId xmlns:a16="http://schemas.microsoft.com/office/drawing/2014/main" id="{24BFF732-E9AA-B044-6848-DAC01F6675FA}"/>
              </a:ext>
            </a:extLst>
          </p:cNvPr>
          <p:cNvGrpSpPr/>
          <p:nvPr/>
        </p:nvGrpSpPr>
        <p:grpSpPr>
          <a:xfrm>
            <a:off x="9483845" y="4330113"/>
            <a:ext cx="183444" cy="935527"/>
            <a:chOff x="2953455" y="3283655"/>
            <a:chExt cx="183444" cy="953910"/>
          </a:xfrm>
        </p:grpSpPr>
        <p:sp>
          <p:nvSpPr>
            <p:cNvPr id="17429" name="Rounded Rectangle 31">
              <a:extLst>
                <a:ext uri="{FF2B5EF4-FFF2-40B4-BE49-F238E27FC236}">
                  <a16:creationId xmlns:a16="http://schemas.microsoft.com/office/drawing/2014/main" id="{249E7051-D4F5-8DC2-CC20-6A5E1BACA636}"/>
                </a:ext>
              </a:extLst>
            </p:cNvPr>
            <p:cNvSpPr/>
            <p:nvPr/>
          </p:nvSpPr>
          <p:spPr>
            <a:xfrm>
              <a:off x="2971800" y="3302000"/>
              <a:ext cx="146755" cy="917222"/>
            </a:xfrm>
            <a:custGeom>
              <a:avLst/>
              <a:gdLst/>
              <a:ahLst/>
              <a:cxnLst/>
              <a:rect l="0" t="0" r="0" b="0"/>
              <a:pathLst>
                <a:path w="146755" h="917222">
                  <a:moveTo>
                    <a:pt x="0" y="0"/>
                  </a:moveTo>
                  <a:lnTo>
                    <a:pt x="0" y="843844"/>
                  </a:lnTo>
                  <a:cubicBezTo>
                    <a:pt x="0" y="884369"/>
                    <a:pt x="32852" y="917222"/>
                    <a:pt x="73377" y="917222"/>
                  </a:cubicBezTo>
                  <a:lnTo>
                    <a:pt x="146755" y="917222"/>
                  </a:lnTo>
                </a:path>
              </a:pathLst>
            </a:custGeom>
            <a:noFill/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0" name="Rounded Rectangle 32">
              <a:extLst>
                <a:ext uri="{FF2B5EF4-FFF2-40B4-BE49-F238E27FC236}">
                  <a16:creationId xmlns:a16="http://schemas.microsoft.com/office/drawing/2014/main" id="{97D6CDC0-1EEB-09D5-75E0-4ABCD24C4946}"/>
                </a:ext>
              </a:extLst>
            </p:cNvPr>
            <p:cNvSpPr/>
            <p:nvPr/>
          </p:nvSpPr>
          <p:spPr>
            <a:xfrm>
              <a:off x="2953455" y="3283655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1" name="Rounded Rectangle 33">
              <a:extLst>
                <a:ext uri="{FF2B5EF4-FFF2-40B4-BE49-F238E27FC236}">
                  <a16:creationId xmlns:a16="http://schemas.microsoft.com/office/drawing/2014/main" id="{7BE746D5-F0D5-8C2F-0B63-3049E5B93C52}"/>
                </a:ext>
              </a:extLst>
            </p:cNvPr>
            <p:cNvSpPr/>
            <p:nvPr/>
          </p:nvSpPr>
          <p:spPr>
            <a:xfrm>
              <a:off x="3100211" y="4200877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7432" name="Group 17431">
            <a:extLst>
              <a:ext uri="{FF2B5EF4-FFF2-40B4-BE49-F238E27FC236}">
                <a16:creationId xmlns:a16="http://schemas.microsoft.com/office/drawing/2014/main" id="{9BF085A4-4A93-33FE-3045-D0B6AD679053}"/>
              </a:ext>
            </a:extLst>
          </p:cNvPr>
          <p:cNvGrpSpPr/>
          <p:nvPr/>
        </p:nvGrpSpPr>
        <p:grpSpPr>
          <a:xfrm>
            <a:off x="9703978" y="5394092"/>
            <a:ext cx="110066" cy="791600"/>
            <a:chOff x="3173588" y="4347633"/>
            <a:chExt cx="110066" cy="807155"/>
          </a:xfrm>
        </p:grpSpPr>
        <p:sp>
          <p:nvSpPr>
            <p:cNvPr id="17433" name="Rounded Rectangle 35">
              <a:extLst>
                <a:ext uri="{FF2B5EF4-FFF2-40B4-BE49-F238E27FC236}">
                  <a16:creationId xmlns:a16="http://schemas.microsoft.com/office/drawing/2014/main" id="{3118E4BB-CCD4-4F61-EE2F-3DE5EA99B14E}"/>
                </a:ext>
              </a:extLst>
            </p:cNvPr>
            <p:cNvSpPr/>
            <p:nvPr/>
          </p:nvSpPr>
          <p:spPr>
            <a:xfrm>
              <a:off x="3191933" y="4365977"/>
              <a:ext cx="73377" cy="770466"/>
            </a:xfrm>
            <a:custGeom>
              <a:avLst/>
              <a:gdLst/>
              <a:ahLst/>
              <a:cxnLst/>
              <a:rect l="0" t="0" r="0" b="0"/>
              <a:pathLst>
                <a:path w="73377" h="770466">
                  <a:moveTo>
                    <a:pt x="0" y="0"/>
                  </a:moveTo>
                  <a:lnTo>
                    <a:pt x="0" y="697088"/>
                  </a:lnTo>
                  <a:cubicBezTo>
                    <a:pt x="0" y="737614"/>
                    <a:pt x="32852" y="770466"/>
                    <a:pt x="73377" y="770466"/>
                  </a:cubicBezTo>
                  <a:lnTo>
                    <a:pt x="73377" y="770466"/>
                  </a:lnTo>
                  <a:moveTo>
                    <a:pt x="73377" y="110066"/>
                  </a:moveTo>
                  <a:lnTo>
                    <a:pt x="0" y="110066"/>
                  </a:lnTo>
                  <a:moveTo>
                    <a:pt x="73377" y="330200"/>
                  </a:moveTo>
                  <a:lnTo>
                    <a:pt x="0" y="330200"/>
                  </a:lnTo>
                  <a:moveTo>
                    <a:pt x="73377" y="550333"/>
                  </a:moveTo>
                  <a:lnTo>
                    <a:pt x="0" y="550333"/>
                  </a:lnTo>
                </a:path>
              </a:pathLst>
            </a:custGeom>
            <a:noFill/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4" name="Rounded Rectangle 36">
              <a:extLst>
                <a:ext uri="{FF2B5EF4-FFF2-40B4-BE49-F238E27FC236}">
                  <a16:creationId xmlns:a16="http://schemas.microsoft.com/office/drawing/2014/main" id="{D6644EE3-FB92-2842-DA45-F029D8987ABB}"/>
                </a:ext>
              </a:extLst>
            </p:cNvPr>
            <p:cNvSpPr/>
            <p:nvPr/>
          </p:nvSpPr>
          <p:spPr>
            <a:xfrm>
              <a:off x="3173588" y="4347633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5" name="Rounded Rectangle 37">
              <a:extLst>
                <a:ext uri="{FF2B5EF4-FFF2-40B4-BE49-F238E27FC236}">
                  <a16:creationId xmlns:a16="http://schemas.microsoft.com/office/drawing/2014/main" id="{BCD38E2E-4E81-22E2-4881-B7CC040D4BA3}"/>
                </a:ext>
              </a:extLst>
            </p:cNvPr>
            <p:cNvSpPr/>
            <p:nvPr/>
          </p:nvSpPr>
          <p:spPr>
            <a:xfrm>
              <a:off x="3246966" y="5118100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6" name="Rounded Rectangle 38">
              <a:extLst>
                <a:ext uri="{FF2B5EF4-FFF2-40B4-BE49-F238E27FC236}">
                  <a16:creationId xmlns:a16="http://schemas.microsoft.com/office/drawing/2014/main" id="{9546D2EA-0728-858A-BC2A-20971BBECED5}"/>
                </a:ext>
              </a:extLst>
            </p:cNvPr>
            <p:cNvSpPr/>
            <p:nvPr/>
          </p:nvSpPr>
          <p:spPr>
            <a:xfrm>
              <a:off x="3246966" y="4457700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7" name="Rounded Rectangle 39">
              <a:extLst>
                <a:ext uri="{FF2B5EF4-FFF2-40B4-BE49-F238E27FC236}">
                  <a16:creationId xmlns:a16="http://schemas.microsoft.com/office/drawing/2014/main" id="{DD697F66-485D-091C-C8F8-B66609EDE99C}"/>
                </a:ext>
              </a:extLst>
            </p:cNvPr>
            <p:cNvSpPr/>
            <p:nvPr/>
          </p:nvSpPr>
          <p:spPr>
            <a:xfrm>
              <a:off x="3246966" y="4677833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8" name="Rounded Rectangle 40">
              <a:extLst>
                <a:ext uri="{FF2B5EF4-FFF2-40B4-BE49-F238E27FC236}">
                  <a16:creationId xmlns:a16="http://schemas.microsoft.com/office/drawing/2014/main" id="{6166A7B7-81E2-E400-ADFA-9B497E65D5BF}"/>
                </a:ext>
              </a:extLst>
            </p:cNvPr>
            <p:cNvSpPr/>
            <p:nvPr/>
          </p:nvSpPr>
          <p:spPr>
            <a:xfrm>
              <a:off x="3246966" y="4897966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7439" name="Group 17438">
            <a:extLst>
              <a:ext uri="{FF2B5EF4-FFF2-40B4-BE49-F238E27FC236}">
                <a16:creationId xmlns:a16="http://schemas.microsoft.com/office/drawing/2014/main" id="{71935682-2EE8-F781-5E19-4F0D4D15D79D}"/>
              </a:ext>
            </a:extLst>
          </p:cNvPr>
          <p:cNvGrpSpPr/>
          <p:nvPr/>
        </p:nvGrpSpPr>
        <p:grpSpPr>
          <a:xfrm>
            <a:off x="8750067" y="4330113"/>
            <a:ext cx="183444" cy="935527"/>
            <a:chOff x="2219677" y="3283655"/>
            <a:chExt cx="183444" cy="953910"/>
          </a:xfrm>
        </p:grpSpPr>
        <p:sp>
          <p:nvSpPr>
            <p:cNvPr id="17440" name="Rounded Rectangle 42">
              <a:extLst>
                <a:ext uri="{FF2B5EF4-FFF2-40B4-BE49-F238E27FC236}">
                  <a16:creationId xmlns:a16="http://schemas.microsoft.com/office/drawing/2014/main" id="{82EE231C-3256-BBC3-988E-326B9243672B}"/>
                </a:ext>
              </a:extLst>
            </p:cNvPr>
            <p:cNvSpPr/>
            <p:nvPr/>
          </p:nvSpPr>
          <p:spPr>
            <a:xfrm>
              <a:off x="2238022" y="3302000"/>
              <a:ext cx="146755" cy="917222"/>
            </a:xfrm>
            <a:custGeom>
              <a:avLst/>
              <a:gdLst/>
              <a:ahLst/>
              <a:cxnLst/>
              <a:rect l="0" t="0" r="0" b="0"/>
              <a:pathLst>
                <a:path w="146755" h="917222">
                  <a:moveTo>
                    <a:pt x="146755" y="0"/>
                  </a:moveTo>
                  <a:lnTo>
                    <a:pt x="146755" y="843844"/>
                  </a:lnTo>
                  <a:cubicBezTo>
                    <a:pt x="146755" y="884369"/>
                    <a:pt x="113903" y="917222"/>
                    <a:pt x="73377" y="917222"/>
                  </a:cubicBezTo>
                  <a:lnTo>
                    <a:pt x="0" y="917222"/>
                  </a:lnTo>
                </a:path>
              </a:pathLst>
            </a:custGeom>
            <a:noFill/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41" name="Rounded Rectangle 43">
              <a:extLst>
                <a:ext uri="{FF2B5EF4-FFF2-40B4-BE49-F238E27FC236}">
                  <a16:creationId xmlns:a16="http://schemas.microsoft.com/office/drawing/2014/main" id="{A14E8408-69A7-4750-F1BB-A61CB79FEAF1}"/>
                </a:ext>
              </a:extLst>
            </p:cNvPr>
            <p:cNvSpPr/>
            <p:nvPr/>
          </p:nvSpPr>
          <p:spPr>
            <a:xfrm>
              <a:off x="2366433" y="3283655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42" name="Rounded Rectangle 44">
              <a:extLst>
                <a:ext uri="{FF2B5EF4-FFF2-40B4-BE49-F238E27FC236}">
                  <a16:creationId xmlns:a16="http://schemas.microsoft.com/office/drawing/2014/main" id="{70147FEB-7171-0D5D-76D2-D8706D54C71D}"/>
                </a:ext>
              </a:extLst>
            </p:cNvPr>
            <p:cNvSpPr/>
            <p:nvPr/>
          </p:nvSpPr>
          <p:spPr>
            <a:xfrm>
              <a:off x="2219677" y="4200877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7443" name="Group 17442">
            <a:extLst>
              <a:ext uri="{FF2B5EF4-FFF2-40B4-BE49-F238E27FC236}">
                <a16:creationId xmlns:a16="http://schemas.microsoft.com/office/drawing/2014/main" id="{3D908091-A96F-0923-D280-D4ED6FC33524}"/>
              </a:ext>
            </a:extLst>
          </p:cNvPr>
          <p:cNvGrpSpPr/>
          <p:nvPr/>
        </p:nvGrpSpPr>
        <p:grpSpPr>
          <a:xfrm>
            <a:off x="8603312" y="5394091"/>
            <a:ext cx="110066" cy="1043473"/>
            <a:chOff x="2072922" y="4347633"/>
            <a:chExt cx="110066" cy="1063977"/>
          </a:xfrm>
        </p:grpSpPr>
        <p:sp>
          <p:nvSpPr>
            <p:cNvPr id="17444" name="Rounded Rectangle 46">
              <a:extLst>
                <a:ext uri="{FF2B5EF4-FFF2-40B4-BE49-F238E27FC236}">
                  <a16:creationId xmlns:a16="http://schemas.microsoft.com/office/drawing/2014/main" id="{0D726324-0D84-06FD-6B79-7BC58D9514C4}"/>
                </a:ext>
              </a:extLst>
            </p:cNvPr>
            <p:cNvSpPr/>
            <p:nvPr/>
          </p:nvSpPr>
          <p:spPr>
            <a:xfrm>
              <a:off x="2091266" y="4365977"/>
              <a:ext cx="73377" cy="1027288"/>
            </a:xfrm>
            <a:custGeom>
              <a:avLst/>
              <a:gdLst/>
              <a:ahLst/>
              <a:cxnLst/>
              <a:rect l="0" t="0" r="0" b="0"/>
              <a:pathLst>
                <a:path w="73377" h="1027288">
                  <a:moveTo>
                    <a:pt x="73377" y="0"/>
                  </a:moveTo>
                  <a:lnTo>
                    <a:pt x="73377" y="953911"/>
                  </a:lnTo>
                  <a:cubicBezTo>
                    <a:pt x="73377" y="994436"/>
                    <a:pt x="40525" y="1027288"/>
                    <a:pt x="0" y="1027288"/>
                  </a:cubicBezTo>
                  <a:lnTo>
                    <a:pt x="0" y="1027288"/>
                  </a:lnTo>
                  <a:moveTo>
                    <a:pt x="0" y="146755"/>
                  </a:moveTo>
                  <a:lnTo>
                    <a:pt x="73377" y="146755"/>
                  </a:lnTo>
                  <a:moveTo>
                    <a:pt x="0" y="366888"/>
                  </a:moveTo>
                  <a:lnTo>
                    <a:pt x="73377" y="366888"/>
                  </a:lnTo>
                  <a:moveTo>
                    <a:pt x="0" y="587022"/>
                  </a:moveTo>
                  <a:lnTo>
                    <a:pt x="73377" y="587022"/>
                  </a:lnTo>
                  <a:moveTo>
                    <a:pt x="0" y="807155"/>
                  </a:moveTo>
                  <a:lnTo>
                    <a:pt x="73377" y="807155"/>
                  </a:lnTo>
                </a:path>
              </a:pathLst>
            </a:custGeom>
            <a:noFill/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45" name="Rounded Rectangle 47">
              <a:extLst>
                <a:ext uri="{FF2B5EF4-FFF2-40B4-BE49-F238E27FC236}">
                  <a16:creationId xmlns:a16="http://schemas.microsoft.com/office/drawing/2014/main" id="{BFCC0829-29ED-A140-6C0B-9D37945E0D14}"/>
                </a:ext>
              </a:extLst>
            </p:cNvPr>
            <p:cNvSpPr/>
            <p:nvPr/>
          </p:nvSpPr>
          <p:spPr>
            <a:xfrm>
              <a:off x="2146300" y="4347633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46" name="Rounded Rectangle 48">
              <a:extLst>
                <a:ext uri="{FF2B5EF4-FFF2-40B4-BE49-F238E27FC236}">
                  <a16:creationId xmlns:a16="http://schemas.microsoft.com/office/drawing/2014/main" id="{14507260-4F3A-76EB-9A66-620E7DFA907C}"/>
                </a:ext>
              </a:extLst>
            </p:cNvPr>
            <p:cNvSpPr/>
            <p:nvPr/>
          </p:nvSpPr>
          <p:spPr>
            <a:xfrm>
              <a:off x="2072922" y="5374922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47" name="Rounded Rectangle 49">
              <a:extLst>
                <a:ext uri="{FF2B5EF4-FFF2-40B4-BE49-F238E27FC236}">
                  <a16:creationId xmlns:a16="http://schemas.microsoft.com/office/drawing/2014/main" id="{92E59A6C-F27D-135E-9055-4D5A53820AD0}"/>
                </a:ext>
              </a:extLst>
            </p:cNvPr>
            <p:cNvSpPr/>
            <p:nvPr/>
          </p:nvSpPr>
          <p:spPr>
            <a:xfrm>
              <a:off x="2072922" y="4494388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48" name="Rounded Rectangle 50">
              <a:extLst>
                <a:ext uri="{FF2B5EF4-FFF2-40B4-BE49-F238E27FC236}">
                  <a16:creationId xmlns:a16="http://schemas.microsoft.com/office/drawing/2014/main" id="{44EA9A0E-DE75-196F-F9AF-150EFEAA7768}"/>
                </a:ext>
              </a:extLst>
            </p:cNvPr>
            <p:cNvSpPr/>
            <p:nvPr/>
          </p:nvSpPr>
          <p:spPr>
            <a:xfrm>
              <a:off x="2072922" y="4714522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49" name="Rounded Rectangle 51">
              <a:extLst>
                <a:ext uri="{FF2B5EF4-FFF2-40B4-BE49-F238E27FC236}">
                  <a16:creationId xmlns:a16="http://schemas.microsoft.com/office/drawing/2014/main" id="{E65764F0-AB6F-7F94-A614-D0F13945920E}"/>
                </a:ext>
              </a:extLst>
            </p:cNvPr>
            <p:cNvSpPr/>
            <p:nvPr/>
          </p:nvSpPr>
          <p:spPr>
            <a:xfrm>
              <a:off x="2072922" y="4934655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50" name="Rounded Rectangle 52">
              <a:extLst>
                <a:ext uri="{FF2B5EF4-FFF2-40B4-BE49-F238E27FC236}">
                  <a16:creationId xmlns:a16="http://schemas.microsoft.com/office/drawing/2014/main" id="{C911F06C-05EA-8842-99C0-255214CB5BF1}"/>
                </a:ext>
              </a:extLst>
            </p:cNvPr>
            <p:cNvSpPr/>
            <p:nvPr/>
          </p:nvSpPr>
          <p:spPr>
            <a:xfrm>
              <a:off x="2072922" y="5154788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7451" name="Group 17450">
            <a:extLst>
              <a:ext uri="{FF2B5EF4-FFF2-40B4-BE49-F238E27FC236}">
                <a16:creationId xmlns:a16="http://schemas.microsoft.com/office/drawing/2014/main" id="{0995E75E-A550-08F1-118E-26F05BBF1C52}"/>
              </a:ext>
            </a:extLst>
          </p:cNvPr>
          <p:cNvGrpSpPr/>
          <p:nvPr/>
        </p:nvGrpSpPr>
        <p:grpSpPr>
          <a:xfrm>
            <a:off x="8199734" y="3596335"/>
            <a:ext cx="330199" cy="593700"/>
            <a:chOff x="1669344" y="2549877"/>
            <a:chExt cx="330199" cy="605366"/>
          </a:xfrm>
        </p:grpSpPr>
        <p:sp>
          <p:nvSpPr>
            <p:cNvPr id="17452" name="Rounded Rectangle 54">
              <a:extLst>
                <a:ext uri="{FF2B5EF4-FFF2-40B4-BE49-F238E27FC236}">
                  <a16:creationId xmlns:a16="http://schemas.microsoft.com/office/drawing/2014/main" id="{3975EF68-93B3-637A-BFDF-249CD602B7DB}"/>
                </a:ext>
              </a:extLst>
            </p:cNvPr>
            <p:cNvSpPr/>
            <p:nvPr/>
          </p:nvSpPr>
          <p:spPr>
            <a:xfrm>
              <a:off x="1687688" y="2568222"/>
              <a:ext cx="293511" cy="568677"/>
            </a:xfrm>
            <a:custGeom>
              <a:avLst/>
              <a:gdLst/>
              <a:ahLst/>
              <a:cxnLst/>
              <a:rect l="0" t="0" r="0" b="0"/>
              <a:pathLst>
                <a:path w="293511" h="568677">
                  <a:moveTo>
                    <a:pt x="293511" y="568677"/>
                  </a:moveTo>
                  <a:lnTo>
                    <a:pt x="220133" y="568677"/>
                  </a:lnTo>
                  <a:cubicBezTo>
                    <a:pt x="179607" y="568677"/>
                    <a:pt x="146755" y="535825"/>
                    <a:pt x="146755" y="495300"/>
                  </a:cubicBezTo>
                  <a:lnTo>
                    <a:pt x="146755" y="73377"/>
                  </a:lnTo>
                  <a:cubicBezTo>
                    <a:pt x="146755" y="32852"/>
                    <a:pt x="113903" y="0"/>
                    <a:pt x="73377" y="0"/>
                  </a:cubicBezTo>
                  <a:lnTo>
                    <a:pt x="0" y="0"/>
                  </a:lnTo>
                </a:path>
              </a:pathLst>
            </a:custGeom>
            <a:noFill/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53" name="Rounded Rectangle 55">
              <a:extLst>
                <a:ext uri="{FF2B5EF4-FFF2-40B4-BE49-F238E27FC236}">
                  <a16:creationId xmlns:a16="http://schemas.microsoft.com/office/drawing/2014/main" id="{35BFA5EB-5A6B-7A2B-9D9F-B9D563123515}"/>
                </a:ext>
              </a:extLst>
            </p:cNvPr>
            <p:cNvSpPr/>
            <p:nvPr/>
          </p:nvSpPr>
          <p:spPr>
            <a:xfrm>
              <a:off x="1962855" y="3118555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54" name="Rounded Rectangle 56">
              <a:extLst>
                <a:ext uri="{FF2B5EF4-FFF2-40B4-BE49-F238E27FC236}">
                  <a16:creationId xmlns:a16="http://schemas.microsoft.com/office/drawing/2014/main" id="{7BC86827-9EFA-687E-411E-01457672BE17}"/>
                </a:ext>
              </a:extLst>
            </p:cNvPr>
            <p:cNvSpPr/>
            <p:nvPr/>
          </p:nvSpPr>
          <p:spPr>
            <a:xfrm>
              <a:off x="1669344" y="2549877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7455" name="Group 17454">
            <a:extLst>
              <a:ext uri="{FF2B5EF4-FFF2-40B4-BE49-F238E27FC236}">
                <a16:creationId xmlns:a16="http://schemas.microsoft.com/office/drawing/2014/main" id="{A8F361BE-1886-FA05-153E-CAFD3564B250}"/>
              </a:ext>
            </a:extLst>
          </p:cNvPr>
          <p:cNvGrpSpPr/>
          <p:nvPr/>
        </p:nvGrpSpPr>
        <p:grpSpPr>
          <a:xfrm>
            <a:off x="8052978" y="3743091"/>
            <a:ext cx="110066" cy="1043473"/>
            <a:chOff x="1522588" y="2696633"/>
            <a:chExt cx="110066" cy="1063977"/>
          </a:xfrm>
        </p:grpSpPr>
        <p:sp>
          <p:nvSpPr>
            <p:cNvPr id="17456" name="Rounded Rectangle 58">
              <a:extLst>
                <a:ext uri="{FF2B5EF4-FFF2-40B4-BE49-F238E27FC236}">
                  <a16:creationId xmlns:a16="http://schemas.microsoft.com/office/drawing/2014/main" id="{641EAEE5-F357-1412-D4FC-B04EC0008EF2}"/>
                </a:ext>
              </a:extLst>
            </p:cNvPr>
            <p:cNvSpPr/>
            <p:nvPr/>
          </p:nvSpPr>
          <p:spPr>
            <a:xfrm>
              <a:off x="1540933" y="2714977"/>
              <a:ext cx="73377" cy="1027288"/>
            </a:xfrm>
            <a:custGeom>
              <a:avLst/>
              <a:gdLst/>
              <a:ahLst/>
              <a:cxnLst/>
              <a:rect l="0" t="0" r="0" b="0"/>
              <a:pathLst>
                <a:path w="73377" h="1027288">
                  <a:moveTo>
                    <a:pt x="73377" y="0"/>
                  </a:moveTo>
                  <a:lnTo>
                    <a:pt x="73377" y="953911"/>
                  </a:lnTo>
                  <a:cubicBezTo>
                    <a:pt x="73377" y="994436"/>
                    <a:pt x="40525" y="1027288"/>
                    <a:pt x="0" y="1027288"/>
                  </a:cubicBezTo>
                  <a:lnTo>
                    <a:pt x="0" y="1027288"/>
                  </a:lnTo>
                  <a:moveTo>
                    <a:pt x="0" y="146755"/>
                  </a:moveTo>
                  <a:lnTo>
                    <a:pt x="73377" y="146755"/>
                  </a:lnTo>
                  <a:moveTo>
                    <a:pt x="0" y="366888"/>
                  </a:moveTo>
                  <a:lnTo>
                    <a:pt x="73377" y="366888"/>
                  </a:lnTo>
                  <a:moveTo>
                    <a:pt x="0" y="587022"/>
                  </a:moveTo>
                  <a:lnTo>
                    <a:pt x="73377" y="587022"/>
                  </a:lnTo>
                  <a:moveTo>
                    <a:pt x="0" y="807155"/>
                  </a:moveTo>
                  <a:lnTo>
                    <a:pt x="73377" y="807155"/>
                  </a:lnTo>
                </a:path>
              </a:pathLst>
            </a:custGeom>
            <a:noFill/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57" name="Rounded Rectangle 59">
              <a:extLst>
                <a:ext uri="{FF2B5EF4-FFF2-40B4-BE49-F238E27FC236}">
                  <a16:creationId xmlns:a16="http://schemas.microsoft.com/office/drawing/2014/main" id="{603506F8-6ED7-0982-AC38-E4E86157CF97}"/>
                </a:ext>
              </a:extLst>
            </p:cNvPr>
            <p:cNvSpPr/>
            <p:nvPr/>
          </p:nvSpPr>
          <p:spPr>
            <a:xfrm>
              <a:off x="1595966" y="2696633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58" name="Rounded Rectangle 60">
              <a:extLst>
                <a:ext uri="{FF2B5EF4-FFF2-40B4-BE49-F238E27FC236}">
                  <a16:creationId xmlns:a16="http://schemas.microsoft.com/office/drawing/2014/main" id="{EC29D442-E1C6-8170-2FE3-DAC051B1AC68}"/>
                </a:ext>
              </a:extLst>
            </p:cNvPr>
            <p:cNvSpPr/>
            <p:nvPr/>
          </p:nvSpPr>
          <p:spPr>
            <a:xfrm>
              <a:off x="1522588" y="3723922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59" name="Rounded Rectangle 61">
              <a:extLst>
                <a:ext uri="{FF2B5EF4-FFF2-40B4-BE49-F238E27FC236}">
                  <a16:creationId xmlns:a16="http://schemas.microsoft.com/office/drawing/2014/main" id="{4777F88A-0632-3D62-194C-117E0BFE75B5}"/>
                </a:ext>
              </a:extLst>
            </p:cNvPr>
            <p:cNvSpPr/>
            <p:nvPr/>
          </p:nvSpPr>
          <p:spPr>
            <a:xfrm>
              <a:off x="1522588" y="2843388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60" name="Rounded Rectangle 62">
              <a:extLst>
                <a:ext uri="{FF2B5EF4-FFF2-40B4-BE49-F238E27FC236}">
                  <a16:creationId xmlns:a16="http://schemas.microsoft.com/office/drawing/2014/main" id="{195A5F93-D16D-84C9-DF2B-6A0AA64B87A1}"/>
                </a:ext>
              </a:extLst>
            </p:cNvPr>
            <p:cNvSpPr/>
            <p:nvPr/>
          </p:nvSpPr>
          <p:spPr>
            <a:xfrm>
              <a:off x="1522588" y="3063522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61" name="Rounded Rectangle 63">
              <a:extLst>
                <a:ext uri="{FF2B5EF4-FFF2-40B4-BE49-F238E27FC236}">
                  <a16:creationId xmlns:a16="http://schemas.microsoft.com/office/drawing/2014/main" id="{6385B91F-944C-A74B-09F0-BF9FF445991D}"/>
                </a:ext>
              </a:extLst>
            </p:cNvPr>
            <p:cNvSpPr/>
            <p:nvPr/>
          </p:nvSpPr>
          <p:spPr>
            <a:xfrm>
              <a:off x="1522588" y="3283655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62" name="Rounded Rectangle 64">
              <a:extLst>
                <a:ext uri="{FF2B5EF4-FFF2-40B4-BE49-F238E27FC236}">
                  <a16:creationId xmlns:a16="http://schemas.microsoft.com/office/drawing/2014/main" id="{CE7D9180-6C42-A71C-2F47-1B54C0E96092}"/>
                </a:ext>
              </a:extLst>
            </p:cNvPr>
            <p:cNvSpPr/>
            <p:nvPr/>
          </p:nvSpPr>
          <p:spPr>
            <a:xfrm>
              <a:off x="1522588" y="3503788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7463" name="Group 17462">
            <a:extLst>
              <a:ext uri="{FF2B5EF4-FFF2-40B4-BE49-F238E27FC236}">
                <a16:creationId xmlns:a16="http://schemas.microsoft.com/office/drawing/2014/main" id="{8256C300-1B3A-BEAE-1448-2B6C2DD7F8E5}"/>
              </a:ext>
            </a:extLst>
          </p:cNvPr>
          <p:cNvGrpSpPr/>
          <p:nvPr/>
        </p:nvGrpSpPr>
        <p:grpSpPr>
          <a:xfrm>
            <a:off x="8750067" y="1945335"/>
            <a:ext cx="183444" cy="2050965"/>
            <a:chOff x="2219677" y="898877"/>
            <a:chExt cx="183444" cy="2091266"/>
          </a:xfrm>
        </p:grpSpPr>
        <p:sp>
          <p:nvSpPr>
            <p:cNvPr id="17464" name="Rounded Rectangle 66">
              <a:extLst>
                <a:ext uri="{FF2B5EF4-FFF2-40B4-BE49-F238E27FC236}">
                  <a16:creationId xmlns:a16="http://schemas.microsoft.com/office/drawing/2014/main" id="{D796ACFD-1698-8BED-B7CF-A81FB7DEC2F2}"/>
                </a:ext>
              </a:extLst>
            </p:cNvPr>
            <p:cNvSpPr/>
            <p:nvPr/>
          </p:nvSpPr>
          <p:spPr>
            <a:xfrm>
              <a:off x="2238022" y="917222"/>
              <a:ext cx="146755" cy="2054577"/>
            </a:xfrm>
            <a:custGeom>
              <a:avLst/>
              <a:gdLst/>
              <a:ahLst/>
              <a:cxnLst/>
              <a:rect l="0" t="0" r="0" b="0"/>
              <a:pathLst>
                <a:path w="146755" h="2054577">
                  <a:moveTo>
                    <a:pt x="146755" y="2054577"/>
                  </a:moveTo>
                  <a:lnTo>
                    <a:pt x="146755" y="73377"/>
                  </a:lnTo>
                  <a:cubicBezTo>
                    <a:pt x="146755" y="32852"/>
                    <a:pt x="113903" y="0"/>
                    <a:pt x="73377" y="0"/>
                  </a:cubicBezTo>
                  <a:lnTo>
                    <a:pt x="0" y="0"/>
                  </a:lnTo>
                </a:path>
              </a:pathLst>
            </a:custGeom>
            <a:noFill/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65" name="Rounded Rectangle 67">
              <a:extLst>
                <a:ext uri="{FF2B5EF4-FFF2-40B4-BE49-F238E27FC236}">
                  <a16:creationId xmlns:a16="http://schemas.microsoft.com/office/drawing/2014/main" id="{F9F84F7F-1985-79C9-BA2F-F1C4974033CB}"/>
                </a:ext>
              </a:extLst>
            </p:cNvPr>
            <p:cNvSpPr/>
            <p:nvPr/>
          </p:nvSpPr>
          <p:spPr>
            <a:xfrm>
              <a:off x="2366433" y="2953455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66" name="Rounded Rectangle 68">
              <a:extLst>
                <a:ext uri="{FF2B5EF4-FFF2-40B4-BE49-F238E27FC236}">
                  <a16:creationId xmlns:a16="http://schemas.microsoft.com/office/drawing/2014/main" id="{1893E900-AFC1-72DF-66B2-7626C52F4975}"/>
                </a:ext>
              </a:extLst>
            </p:cNvPr>
            <p:cNvSpPr/>
            <p:nvPr/>
          </p:nvSpPr>
          <p:spPr>
            <a:xfrm>
              <a:off x="2219677" y="898877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7467" name="Group 17466">
            <a:extLst>
              <a:ext uri="{FF2B5EF4-FFF2-40B4-BE49-F238E27FC236}">
                <a16:creationId xmlns:a16="http://schemas.microsoft.com/office/drawing/2014/main" id="{35DB924B-2959-9606-205D-9C64DBD68EDE}"/>
              </a:ext>
            </a:extLst>
          </p:cNvPr>
          <p:cNvGrpSpPr/>
          <p:nvPr/>
        </p:nvGrpSpPr>
        <p:grpSpPr>
          <a:xfrm>
            <a:off x="8603312" y="2092091"/>
            <a:ext cx="110066" cy="1043473"/>
            <a:chOff x="2072922" y="1045633"/>
            <a:chExt cx="110066" cy="1063977"/>
          </a:xfrm>
        </p:grpSpPr>
        <p:sp>
          <p:nvSpPr>
            <p:cNvPr id="17468" name="Rounded Rectangle 70">
              <a:extLst>
                <a:ext uri="{FF2B5EF4-FFF2-40B4-BE49-F238E27FC236}">
                  <a16:creationId xmlns:a16="http://schemas.microsoft.com/office/drawing/2014/main" id="{CBF8D9DC-9EF5-2971-34EA-19A807F6C9AA}"/>
                </a:ext>
              </a:extLst>
            </p:cNvPr>
            <p:cNvSpPr/>
            <p:nvPr/>
          </p:nvSpPr>
          <p:spPr>
            <a:xfrm>
              <a:off x="2091266" y="1063977"/>
              <a:ext cx="73377" cy="1027288"/>
            </a:xfrm>
            <a:custGeom>
              <a:avLst/>
              <a:gdLst/>
              <a:ahLst/>
              <a:cxnLst/>
              <a:rect l="0" t="0" r="0" b="0"/>
              <a:pathLst>
                <a:path w="73377" h="1027288">
                  <a:moveTo>
                    <a:pt x="73377" y="0"/>
                  </a:moveTo>
                  <a:lnTo>
                    <a:pt x="73377" y="953911"/>
                  </a:lnTo>
                  <a:cubicBezTo>
                    <a:pt x="73377" y="994436"/>
                    <a:pt x="40525" y="1027288"/>
                    <a:pt x="0" y="1027288"/>
                  </a:cubicBezTo>
                  <a:lnTo>
                    <a:pt x="0" y="1027288"/>
                  </a:lnTo>
                  <a:moveTo>
                    <a:pt x="0" y="146755"/>
                  </a:moveTo>
                  <a:lnTo>
                    <a:pt x="73377" y="146755"/>
                  </a:lnTo>
                  <a:moveTo>
                    <a:pt x="0" y="366888"/>
                  </a:moveTo>
                  <a:lnTo>
                    <a:pt x="73377" y="366888"/>
                  </a:lnTo>
                  <a:moveTo>
                    <a:pt x="0" y="587022"/>
                  </a:moveTo>
                  <a:lnTo>
                    <a:pt x="73377" y="587022"/>
                  </a:lnTo>
                  <a:moveTo>
                    <a:pt x="0" y="807155"/>
                  </a:moveTo>
                  <a:lnTo>
                    <a:pt x="73377" y="807155"/>
                  </a:lnTo>
                </a:path>
              </a:pathLst>
            </a:custGeom>
            <a:noFill/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69" name="Rounded Rectangle 71">
              <a:extLst>
                <a:ext uri="{FF2B5EF4-FFF2-40B4-BE49-F238E27FC236}">
                  <a16:creationId xmlns:a16="http://schemas.microsoft.com/office/drawing/2014/main" id="{F928CF87-521E-FF8A-8ADC-0002E6328389}"/>
                </a:ext>
              </a:extLst>
            </p:cNvPr>
            <p:cNvSpPr/>
            <p:nvPr/>
          </p:nvSpPr>
          <p:spPr>
            <a:xfrm>
              <a:off x="2146300" y="1045633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70" name="Rounded Rectangle 72">
              <a:extLst>
                <a:ext uri="{FF2B5EF4-FFF2-40B4-BE49-F238E27FC236}">
                  <a16:creationId xmlns:a16="http://schemas.microsoft.com/office/drawing/2014/main" id="{393E9E45-94FE-758E-5C52-CB7070C03DBF}"/>
                </a:ext>
              </a:extLst>
            </p:cNvPr>
            <p:cNvSpPr/>
            <p:nvPr/>
          </p:nvSpPr>
          <p:spPr>
            <a:xfrm>
              <a:off x="2072922" y="2072922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71" name="Rounded Rectangle 73">
              <a:extLst>
                <a:ext uri="{FF2B5EF4-FFF2-40B4-BE49-F238E27FC236}">
                  <a16:creationId xmlns:a16="http://schemas.microsoft.com/office/drawing/2014/main" id="{2883868A-187F-8BBB-F8DB-42A94B49BC53}"/>
                </a:ext>
              </a:extLst>
            </p:cNvPr>
            <p:cNvSpPr/>
            <p:nvPr/>
          </p:nvSpPr>
          <p:spPr>
            <a:xfrm>
              <a:off x="2072922" y="1192388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72" name="Rounded Rectangle 74">
              <a:extLst>
                <a:ext uri="{FF2B5EF4-FFF2-40B4-BE49-F238E27FC236}">
                  <a16:creationId xmlns:a16="http://schemas.microsoft.com/office/drawing/2014/main" id="{AE3CB767-B8C9-F555-AD61-91B94F188D81}"/>
                </a:ext>
              </a:extLst>
            </p:cNvPr>
            <p:cNvSpPr/>
            <p:nvPr/>
          </p:nvSpPr>
          <p:spPr>
            <a:xfrm>
              <a:off x="2072922" y="1412522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73" name="Rounded Rectangle 75">
              <a:extLst>
                <a:ext uri="{FF2B5EF4-FFF2-40B4-BE49-F238E27FC236}">
                  <a16:creationId xmlns:a16="http://schemas.microsoft.com/office/drawing/2014/main" id="{7B06F4FA-EBF2-DB3A-5CA7-0589740A6C0C}"/>
                </a:ext>
              </a:extLst>
            </p:cNvPr>
            <p:cNvSpPr/>
            <p:nvPr/>
          </p:nvSpPr>
          <p:spPr>
            <a:xfrm>
              <a:off x="2072922" y="1632655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74" name="Rounded Rectangle 76">
              <a:extLst>
                <a:ext uri="{FF2B5EF4-FFF2-40B4-BE49-F238E27FC236}">
                  <a16:creationId xmlns:a16="http://schemas.microsoft.com/office/drawing/2014/main" id="{F613C3FC-4F0A-4B02-8318-056CE9E5C04E}"/>
                </a:ext>
              </a:extLst>
            </p:cNvPr>
            <p:cNvSpPr/>
            <p:nvPr/>
          </p:nvSpPr>
          <p:spPr>
            <a:xfrm>
              <a:off x="2072922" y="1852788"/>
              <a:ext cx="36688" cy="36688"/>
            </a:xfrm>
            <a:custGeom>
              <a:avLst/>
              <a:gdLst/>
              <a:ahLst/>
              <a:cxnLst/>
              <a:rect l="0" t="0" r="0" b="0"/>
              <a:pathLst>
                <a:path w="36688" h="36688">
                  <a:moveTo>
                    <a:pt x="0" y="18344"/>
                  </a:moveTo>
                  <a:cubicBezTo>
                    <a:pt x="0" y="28475"/>
                    <a:pt x="8213" y="36688"/>
                    <a:pt x="18344" y="36688"/>
                  </a:cubicBezTo>
                  <a:cubicBezTo>
                    <a:pt x="28475" y="36688"/>
                    <a:pt x="36688" y="28475"/>
                    <a:pt x="36688" y="18344"/>
                  </a:cubicBezTo>
                  <a:cubicBezTo>
                    <a:pt x="36688" y="8213"/>
                    <a:pt x="28475" y="0"/>
                    <a:pt x="18344" y="0"/>
                  </a:cubicBezTo>
                  <a:cubicBezTo>
                    <a:pt x="8213" y="0"/>
                    <a:pt x="0" y="8213"/>
                    <a:pt x="0" y="18344"/>
                  </a:cubicBezTo>
                  <a:close/>
                </a:path>
              </a:pathLst>
            </a:custGeom>
            <a:solidFill>
              <a:srgbClr val="484848"/>
            </a:solidFill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7475" name="TextBox 17474">
            <a:extLst>
              <a:ext uri="{FF2B5EF4-FFF2-40B4-BE49-F238E27FC236}">
                <a16:creationId xmlns:a16="http://schemas.microsoft.com/office/drawing/2014/main" id="{F3CFC268-4CA2-DEA1-53D2-2DDC29B2927E}"/>
              </a:ext>
            </a:extLst>
          </p:cNvPr>
          <p:cNvSpPr txBox="1"/>
          <p:nvPr/>
        </p:nvSpPr>
        <p:spPr>
          <a:xfrm>
            <a:off x="9881308" y="3064346"/>
            <a:ext cx="508816" cy="1439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484848"/>
                </a:solidFill>
                <a:latin typeface="Roboto"/>
              </a:rPr>
              <a:t>Sensors</a:t>
            </a:r>
          </a:p>
        </p:txBody>
      </p:sp>
      <p:sp>
        <p:nvSpPr>
          <p:cNvPr id="17476" name="TextBox 17475">
            <a:extLst>
              <a:ext uri="{FF2B5EF4-FFF2-40B4-BE49-F238E27FC236}">
                <a16:creationId xmlns:a16="http://schemas.microsoft.com/office/drawing/2014/main" id="{2B458D53-5B02-5D35-1126-DF8ED14DBDFA}"/>
              </a:ext>
            </a:extLst>
          </p:cNvPr>
          <p:cNvSpPr txBox="1"/>
          <p:nvPr/>
        </p:nvSpPr>
        <p:spPr>
          <a:xfrm>
            <a:off x="7574761" y="3541302"/>
            <a:ext cx="557709" cy="1439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00" b="0">
                <a:solidFill>
                  <a:srgbClr val="7F64EA"/>
                </a:solidFill>
                <a:latin typeface="Roboto"/>
              </a:rPr>
              <a:t>Frontend</a:t>
            </a:r>
          </a:p>
        </p:txBody>
      </p:sp>
      <p:sp>
        <p:nvSpPr>
          <p:cNvPr id="17477" name="TextBox 17476">
            <a:extLst>
              <a:ext uri="{FF2B5EF4-FFF2-40B4-BE49-F238E27FC236}">
                <a16:creationId xmlns:a16="http://schemas.microsoft.com/office/drawing/2014/main" id="{F6A6A804-3B13-A8DE-A19C-E5669F2A4202}"/>
              </a:ext>
            </a:extLst>
          </p:cNvPr>
          <p:cNvSpPr txBox="1"/>
          <p:nvPr/>
        </p:nvSpPr>
        <p:spPr>
          <a:xfrm>
            <a:off x="8039257" y="3064346"/>
            <a:ext cx="496791" cy="1439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00" b="0">
                <a:solidFill>
                  <a:srgbClr val="484848"/>
                </a:solidFill>
                <a:latin typeface="Roboto"/>
              </a:rPr>
              <a:t>Grafana</a:t>
            </a:r>
          </a:p>
        </p:txBody>
      </p:sp>
      <p:sp>
        <p:nvSpPr>
          <p:cNvPr id="17478" name="TextBox 17477">
            <a:extLst>
              <a:ext uri="{FF2B5EF4-FFF2-40B4-BE49-F238E27FC236}">
                <a16:creationId xmlns:a16="http://schemas.microsoft.com/office/drawing/2014/main" id="{3E2E057C-836D-A9FB-77D4-CE58600E45E8}"/>
              </a:ext>
            </a:extLst>
          </p:cNvPr>
          <p:cNvSpPr txBox="1"/>
          <p:nvPr/>
        </p:nvSpPr>
        <p:spPr>
          <a:xfrm>
            <a:off x="9881308" y="2844213"/>
            <a:ext cx="822712" cy="1439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484848"/>
                </a:solidFill>
                <a:latin typeface="Roboto"/>
              </a:rPr>
              <a:t>Tachometers</a:t>
            </a:r>
          </a:p>
        </p:txBody>
      </p:sp>
      <p:sp>
        <p:nvSpPr>
          <p:cNvPr id="17479" name="TextBox 17478">
            <a:extLst>
              <a:ext uri="{FF2B5EF4-FFF2-40B4-BE49-F238E27FC236}">
                <a16:creationId xmlns:a16="http://schemas.microsoft.com/office/drawing/2014/main" id="{E4706BD1-2861-609A-D8FB-3094332A5519}"/>
              </a:ext>
            </a:extLst>
          </p:cNvPr>
          <p:cNvSpPr txBox="1"/>
          <p:nvPr/>
        </p:nvSpPr>
        <p:spPr>
          <a:xfrm>
            <a:off x="8097778" y="2844213"/>
            <a:ext cx="438270" cy="1439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00" b="0">
                <a:solidFill>
                  <a:srgbClr val="484848"/>
                </a:solidFill>
                <a:latin typeface="Roboto"/>
              </a:rPr>
              <a:t>Docker</a:t>
            </a:r>
          </a:p>
        </p:txBody>
      </p:sp>
      <p:sp>
        <p:nvSpPr>
          <p:cNvPr id="17480" name="TextBox 17479">
            <a:extLst>
              <a:ext uri="{FF2B5EF4-FFF2-40B4-BE49-F238E27FC236}">
                <a16:creationId xmlns:a16="http://schemas.microsoft.com/office/drawing/2014/main" id="{8D5058D8-B738-0D82-9AA6-DB20389BEDC9}"/>
              </a:ext>
            </a:extLst>
          </p:cNvPr>
          <p:cNvSpPr txBox="1"/>
          <p:nvPr/>
        </p:nvSpPr>
        <p:spPr>
          <a:xfrm>
            <a:off x="9881308" y="2624080"/>
            <a:ext cx="872991" cy="1439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484848"/>
                </a:solidFill>
                <a:latin typeface="Roboto"/>
              </a:rPr>
              <a:t>Axle Counters</a:t>
            </a:r>
          </a:p>
        </p:txBody>
      </p:sp>
      <p:sp>
        <p:nvSpPr>
          <p:cNvPr id="17481" name="TextBox 17480">
            <a:extLst>
              <a:ext uri="{FF2B5EF4-FFF2-40B4-BE49-F238E27FC236}">
                <a16:creationId xmlns:a16="http://schemas.microsoft.com/office/drawing/2014/main" id="{990F416B-9B5E-441B-2779-39AE0D777875}"/>
              </a:ext>
            </a:extLst>
          </p:cNvPr>
          <p:cNvSpPr txBox="1"/>
          <p:nvPr/>
        </p:nvSpPr>
        <p:spPr>
          <a:xfrm>
            <a:off x="7525849" y="3834813"/>
            <a:ext cx="459866" cy="1439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00" b="0">
                <a:solidFill>
                  <a:srgbClr val="484848"/>
                </a:solidFill>
                <a:latin typeface="Roboto"/>
              </a:rPr>
              <a:t>HTML5</a:t>
            </a:r>
          </a:p>
        </p:txBody>
      </p:sp>
      <p:sp>
        <p:nvSpPr>
          <p:cNvPr id="17482" name="TextBox 17481">
            <a:extLst>
              <a:ext uri="{FF2B5EF4-FFF2-40B4-BE49-F238E27FC236}">
                <a16:creationId xmlns:a16="http://schemas.microsoft.com/office/drawing/2014/main" id="{233DE6EE-52CE-F654-CF93-322F956BC0F5}"/>
              </a:ext>
            </a:extLst>
          </p:cNvPr>
          <p:cNvSpPr txBox="1"/>
          <p:nvPr/>
        </p:nvSpPr>
        <p:spPr>
          <a:xfrm>
            <a:off x="10284886" y="3779780"/>
            <a:ext cx="527015" cy="1439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dirty="0">
                <a:solidFill>
                  <a:srgbClr val="E55753"/>
                </a:solidFill>
                <a:latin typeface="Roboto"/>
              </a:rPr>
              <a:t>Big Data</a:t>
            </a:r>
          </a:p>
        </p:txBody>
      </p:sp>
      <p:sp>
        <p:nvSpPr>
          <p:cNvPr id="17483" name="TextBox 17482">
            <a:extLst>
              <a:ext uri="{FF2B5EF4-FFF2-40B4-BE49-F238E27FC236}">
                <a16:creationId xmlns:a16="http://schemas.microsoft.com/office/drawing/2014/main" id="{C2C72599-5609-C4A3-C9E6-177E4BBBD308}"/>
              </a:ext>
            </a:extLst>
          </p:cNvPr>
          <p:cNvSpPr txBox="1"/>
          <p:nvPr/>
        </p:nvSpPr>
        <p:spPr>
          <a:xfrm>
            <a:off x="7690349" y="2624080"/>
            <a:ext cx="845700" cy="1439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00" b="0">
                <a:solidFill>
                  <a:srgbClr val="484848"/>
                </a:solidFill>
                <a:latin typeface="Roboto"/>
              </a:rPr>
              <a:t>Weather APIs</a:t>
            </a:r>
          </a:p>
        </p:txBody>
      </p:sp>
      <p:sp>
        <p:nvSpPr>
          <p:cNvPr id="17484" name="TextBox 17483">
            <a:extLst>
              <a:ext uri="{FF2B5EF4-FFF2-40B4-BE49-F238E27FC236}">
                <a16:creationId xmlns:a16="http://schemas.microsoft.com/office/drawing/2014/main" id="{A9872387-54B8-5C0C-20D6-18DF34317707}"/>
              </a:ext>
            </a:extLst>
          </p:cNvPr>
          <p:cNvSpPr txBox="1"/>
          <p:nvPr/>
        </p:nvSpPr>
        <p:spPr>
          <a:xfrm>
            <a:off x="9881308" y="2403946"/>
            <a:ext cx="295007" cy="1439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484848"/>
                </a:solidFill>
                <a:latin typeface="Roboto"/>
              </a:rPr>
              <a:t>RFID</a:t>
            </a:r>
          </a:p>
        </p:txBody>
      </p:sp>
      <p:sp>
        <p:nvSpPr>
          <p:cNvPr id="17485" name="TextBox 17484">
            <a:extLst>
              <a:ext uri="{FF2B5EF4-FFF2-40B4-BE49-F238E27FC236}">
                <a16:creationId xmlns:a16="http://schemas.microsoft.com/office/drawing/2014/main" id="{4F9C6683-4A18-B513-8E26-EF9FC1E5797C}"/>
              </a:ext>
            </a:extLst>
          </p:cNvPr>
          <p:cNvSpPr txBox="1"/>
          <p:nvPr/>
        </p:nvSpPr>
        <p:spPr>
          <a:xfrm>
            <a:off x="7174332" y="4054946"/>
            <a:ext cx="811383" cy="1439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00" b="0">
                <a:solidFill>
                  <a:srgbClr val="484848"/>
                </a:solidFill>
                <a:latin typeface="Roboto"/>
              </a:rPr>
              <a:t>Tailwind CSS</a:t>
            </a:r>
          </a:p>
        </p:txBody>
      </p:sp>
      <p:sp>
        <p:nvSpPr>
          <p:cNvPr id="17486" name="TextBox 17485">
            <a:extLst>
              <a:ext uri="{FF2B5EF4-FFF2-40B4-BE49-F238E27FC236}">
                <a16:creationId xmlns:a16="http://schemas.microsoft.com/office/drawing/2014/main" id="{2E9556E0-1B6B-B4D5-6832-E854BC5969EE}"/>
              </a:ext>
            </a:extLst>
          </p:cNvPr>
          <p:cNvSpPr txBox="1"/>
          <p:nvPr/>
        </p:nvSpPr>
        <p:spPr>
          <a:xfrm>
            <a:off x="8517275" y="4091635"/>
            <a:ext cx="1382814" cy="1799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Roboto"/>
              </a:rPr>
              <a:t>Technology Stack</a:t>
            </a:r>
          </a:p>
        </p:txBody>
      </p:sp>
      <p:sp>
        <p:nvSpPr>
          <p:cNvPr id="17487" name="TextBox 17486">
            <a:extLst>
              <a:ext uri="{FF2B5EF4-FFF2-40B4-BE49-F238E27FC236}">
                <a16:creationId xmlns:a16="http://schemas.microsoft.com/office/drawing/2014/main" id="{5B8CAD20-0625-0306-F04B-7A3CCCD138E7}"/>
              </a:ext>
            </a:extLst>
          </p:cNvPr>
          <p:cNvSpPr txBox="1"/>
          <p:nvPr/>
        </p:nvSpPr>
        <p:spPr>
          <a:xfrm>
            <a:off x="10431641" y="4036602"/>
            <a:ext cx="361466" cy="1439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484848"/>
                </a:solidFill>
                <a:latin typeface="Roboto"/>
              </a:rPr>
              <a:t>Kafka</a:t>
            </a:r>
          </a:p>
        </p:txBody>
      </p:sp>
      <p:sp>
        <p:nvSpPr>
          <p:cNvPr id="17488" name="TextBox 17487">
            <a:extLst>
              <a:ext uri="{FF2B5EF4-FFF2-40B4-BE49-F238E27FC236}">
                <a16:creationId xmlns:a16="http://schemas.microsoft.com/office/drawing/2014/main" id="{5EFBDF21-B6F2-12CA-81FD-E4682C2AA2C5}"/>
              </a:ext>
            </a:extLst>
          </p:cNvPr>
          <p:cNvSpPr txBox="1"/>
          <p:nvPr/>
        </p:nvSpPr>
        <p:spPr>
          <a:xfrm>
            <a:off x="7325077" y="4275080"/>
            <a:ext cx="660638" cy="1439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00" b="0">
                <a:solidFill>
                  <a:srgbClr val="484848"/>
                </a:solidFill>
                <a:latin typeface="Roboto"/>
              </a:rPr>
              <a:t>JavaScript</a:t>
            </a:r>
          </a:p>
        </p:txBody>
      </p:sp>
      <p:sp>
        <p:nvSpPr>
          <p:cNvPr id="17489" name="TextBox 17488">
            <a:extLst>
              <a:ext uri="{FF2B5EF4-FFF2-40B4-BE49-F238E27FC236}">
                <a16:creationId xmlns:a16="http://schemas.microsoft.com/office/drawing/2014/main" id="{E9B2910A-FAFF-FCBA-F033-725A2CCCDAAE}"/>
              </a:ext>
            </a:extLst>
          </p:cNvPr>
          <p:cNvSpPr txBox="1"/>
          <p:nvPr/>
        </p:nvSpPr>
        <p:spPr>
          <a:xfrm>
            <a:off x="8190305" y="2403946"/>
            <a:ext cx="345744" cy="1439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00" b="0">
                <a:solidFill>
                  <a:srgbClr val="484848"/>
                </a:solidFill>
                <a:latin typeface="Roboto"/>
              </a:rPr>
              <a:t>NTES</a:t>
            </a:r>
          </a:p>
        </p:txBody>
      </p:sp>
      <p:sp>
        <p:nvSpPr>
          <p:cNvPr id="17490" name="TextBox 17489">
            <a:extLst>
              <a:ext uri="{FF2B5EF4-FFF2-40B4-BE49-F238E27FC236}">
                <a16:creationId xmlns:a16="http://schemas.microsoft.com/office/drawing/2014/main" id="{751C7519-95EA-D66B-32C8-30F3240DD9FC}"/>
              </a:ext>
            </a:extLst>
          </p:cNvPr>
          <p:cNvSpPr txBox="1"/>
          <p:nvPr/>
        </p:nvSpPr>
        <p:spPr>
          <a:xfrm>
            <a:off x="9881308" y="2183813"/>
            <a:ext cx="268096" cy="1439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484848"/>
                </a:solidFill>
                <a:latin typeface="Roboto"/>
              </a:rPr>
              <a:t>GPS</a:t>
            </a:r>
          </a:p>
        </p:txBody>
      </p:sp>
      <p:sp>
        <p:nvSpPr>
          <p:cNvPr id="17491" name="TextBox 17490">
            <a:extLst>
              <a:ext uri="{FF2B5EF4-FFF2-40B4-BE49-F238E27FC236}">
                <a16:creationId xmlns:a16="http://schemas.microsoft.com/office/drawing/2014/main" id="{73C39922-0D99-6A48-F1F1-F5C043AAFC7F}"/>
              </a:ext>
            </a:extLst>
          </p:cNvPr>
          <p:cNvSpPr txBox="1"/>
          <p:nvPr/>
        </p:nvSpPr>
        <p:spPr>
          <a:xfrm>
            <a:off x="10431641" y="4256735"/>
            <a:ext cx="295162" cy="1439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484848"/>
                </a:solidFill>
                <a:latin typeface="Roboto"/>
              </a:rPr>
              <a:t>Flink</a:t>
            </a:r>
          </a:p>
        </p:txBody>
      </p:sp>
      <p:sp>
        <p:nvSpPr>
          <p:cNvPr id="17492" name="TextBox 17491">
            <a:extLst>
              <a:ext uri="{FF2B5EF4-FFF2-40B4-BE49-F238E27FC236}">
                <a16:creationId xmlns:a16="http://schemas.microsoft.com/office/drawing/2014/main" id="{40C9B196-91A9-21FC-830D-7B9AEC91446A}"/>
              </a:ext>
            </a:extLst>
          </p:cNvPr>
          <p:cNvSpPr txBox="1"/>
          <p:nvPr/>
        </p:nvSpPr>
        <p:spPr>
          <a:xfrm>
            <a:off x="7415059" y="4495213"/>
            <a:ext cx="570656" cy="1439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00" b="0">
                <a:solidFill>
                  <a:srgbClr val="484848"/>
                </a:solidFill>
                <a:latin typeface="Roboto"/>
              </a:rPr>
              <a:t>Leaflet.js</a:t>
            </a:r>
          </a:p>
        </p:txBody>
      </p:sp>
      <p:sp>
        <p:nvSpPr>
          <p:cNvPr id="17493" name="TextBox 17492">
            <a:extLst>
              <a:ext uri="{FF2B5EF4-FFF2-40B4-BE49-F238E27FC236}">
                <a16:creationId xmlns:a16="http://schemas.microsoft.com/office/drawing/2014/main" id="{F050C3F8-7F8D-7358-6CD2-C58B0FA700E8}"/>
              </a:ext>
            </a:extLst>
          </p:cNvPr>
          <p:cNvSpPr txBox="1"/>
          <p:nvPr/>
        </p:nvSpPr>
        <p:spPr>
          <a:xfrm>
            <a:off x="10431641" y="4476869"/>
            <a:ext cx="357922" cy="1439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484848"/>
                </a:solidFill>
                <a:latin typeface="Roboto"/>
              </a:rPr>
              <a:t>Spark</a:t>
            </a:r>
          </a:p>
        </p:txBody>
      </p:sp>
      <p:sp>
        <p:nvSpPr>
          <p:cNvPr id="17494" name="TextBox 17493">
            <a:extLst>
              <a:ext uri="{FF2B5EF4-FFF2-40B4-BE49-F238E27FC236}">
                <a16:creationId xmlns:a16="http://schemas.microsoft.com/office/drawing/2014/main" id="{F0CE1E02-7C1F-1B96-5F4E-3CB47AE01A08}"/>
              </a:ext>
            </a:extLst>
          </p:cNvPr>
          <p:cNvSpPr txBox="1"/>
          <p:nvPr/>
        </p:nvSpPr>
        <p:spPr>
          <a:xfrm>
            <a:off x="7759360" y="6366346"/>
            <a:ext cx="776688" cy="1439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00" b="0">
                <a:solidFill>
                  <a:srgbClr val="484848"/>
                </a:solidFill>
                <a:latin typeface="Roboto"/>
              </a:rPr>
              <a:t>WebSockets</a:t>
            </a:r>
          </a:p>
        </p:txBody>
      </p:sp>
      <p:sp>
        <p:nvSpPr>
          <p:cNvPr id="17495" name="TextBox 17494">
            <a:extLst>
              <a:ext uri="{FF2B5EF4-FFF2-40B4-BE49-F238E27FC236}">
                <a16:creationId xmlns:a16="http://schemas.microsoft.com/office/drawing/2014/main" id="{B4EC86CD-E372-A2CA-9879-2EB85ED7664A}"/>
              </a:ext>
            </a:extLst>
          </p:cNvPr>
          <p:cNvSpPr txBox="1"/>
          <p:nvPr/>
        </p:nvSpPr>
        <p:spPr>
          <a:xfrm>
            <a:off x="8236027" y="2183813"/>
            <a:ext cx="300021" cy="1439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00" b="0">
                <a:solidFill>
                  <a:srgbClr val="484848"/>
                </a:solidFill>
                <a:latin typeface="Roboto"/>
              </a:rPr>
              <a:t>CRIS</a:t>
            </a:r>
          </a:p>
        </p:txBody>
      </p:sp>
      <p:sp>
        <p:nvSpPr>
          <p:cNvPr id="17496" name="TextBox 17495">
            <a:extLst>
              <a:ext uri="{FF2B5EF4-FFF2-40B4-BE49-F238E27FC236}">
                <a16:creationId xmlns:a16="http://schemas.microsoft.com/office/drawing/2014/main" id="{81F72D1A-5676-66E9-A5AC-5E1F0A8A07EF}"/>
              </a:ext>
            </a:extLst>
          </p:cNvPr>
          <p:cNvSpPr txBox="1"/>
          <p:nvPr/>
        </p:nvSpPr>
        <p:spPr>
          <a:xfrm>
            <a:off x="9734552" y="1926991"/>
            <a:ext cx="973999" cy="1439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dirty="0">
                <a:solidFill>
                  <a:srgbClr val="DE8431"/>
                </a:solidFill>
                <a:latin typeface="Roboto"/>
              </a:rPr>
              <a:t>IoT &amp; Telemetry</a:t>
            </a:r>
          </a:p>
        </p:txBody>
      </p:sp>
      <p:sp>
        <p:nvSpPr>
          <p:cNvPr id="17497" name="TextBox 17496">
            <a:extLst>
              <a:ext uri="{FF2B5EF4-FFF2-40B4-BE49-F238E27FC236}">
                <a16:creationId xmlns:a16="http://schemas.microsoft.com/office/drawing/2014/main" id="{E8E46F99-B3E1-0A39-DCDA-06280A6E403F}"/>
              </a:ext>
            </a:extLst>
          </p:cNvPr>
          <p:cNvSpPr txBox="1"/>
          <p:nvPr/>
        </p:nvSpPr>
        <p:spPr>
          <a:xfrm>
            <a:off x="8143532" y="5192302"/>
            <a:ext cx="539271" cy="1439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00" b="0">
                <a:solidFill>
                  <a:srgbClr val="BA5DE5"/>
                </a:solidFill>
                <a:latin typeface="Roboto"/>
              </a:rPr>
              <a:t>Backend</a:t>
            </a:r>
          </a:p>
        </p:txBody>
      </p:sp>
      <p:sp>
        <p:nvSpPr>
          <p:cNvPr id="17498" name="TextBox 17497">
            <a:extLst>
              <a:ext uri="{FF2B5EF4-FFF2-40B4-BE49-F238E27FC236}">
                <a16:creationId xmlns:a16="http://schemas.microsoft.com/office/drawing/2014/main" id="{5613CC3B-F1AA-92A4-25EB-D597E6A29C3D}"/>
              </a:ext>
            </a:extLst>
          </p:cNvPr>
          <p:cNvSpPr txBox="1"/>
          <p:nvPr/>
        </p:nvSpPr>
        <p:spPr>
          <a:xfrm>
            <a:off x="9734552" y="5192302"/>
            <a:ext cx="386607" cy="1439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DE58A9"/>
                </a:solidFill>
                <a:latin typeface="Roboto"/>
              </a:rPr>
              <a:t>AI/ML</a:t>
            </a:r>
          </a:p>
        </p:txBody>
      </p:sp>
      <p:sp>
        <p:nvSpPr>
          <p:cNvPr id="17499" name="TextBox 17498">
            <a:extLst>
              <a:ext uri="{FF2B5EF4-FFF2-40B4-BE49-F238E27FC236}">
                <a16:creationId xmlns:a16="http://schemas.microsoft.com/office/drawing/2014/main" id="{6B30A0DD-EFFA-39F4-5880-0F7A487C1A1B}"/>
              </a:ext>
            </a:extLst>
          </p:cNvPr>
          <p:cNvSpPr txBox="1"/>
          <p:nvPr/>
        </p:nvSpPr>
        <p:spPr>
          <a:xfrm>
            <a:off x="7871421" y="1890302"/>
            <a:ext cx="811383" cy="1439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00" b="0">
                <a:solidFill>
                  <a:srgbClr val="4E88E7"/>
                </a:solidFill>
                <a:latin typeface="Roboto"/>
              </a:rPr>
              <a:t>APIs &amp; Cloud</a:t>
            </a:r>
          </a:p>
        </p:txBody>
      </p:sp>
      <p:sp>
        <p:nvSpPr>
          <p:cNvPr id="17500" name="TextBox 17499">
            <a:extLst>
              <a:ext uri="{FF2B5EF4-FFF2-40B4-BE49-F238E27FC236}">
                <a16:creationId xmlns:a16="http://schemas.microsoft.com/office/drawing/2014/main" id="{D5B601F8-9482-0AC7-BDD4-AEFC75AEC59F}"/>
              </a:ext>
            </a:extLst>
          </p:cNvPr>
          <p:cNvSpPr txBox="1"/>
          <p:nvPr/>
        </p:nvSpPr>
        <p:spPr>
          <a:xfrm>
            <a:off x="7221207" y="1339969"/>
            <a:ext cx="3974949" cy="1799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 b="1">
                <a:solidFill>
                  <a:srgbClr val="484848"/>
                </a:solidFill>
                <a:latin typeface="Roboto"/>
              </a:rPr>
              <a:t>Technology Stack for Transportation Management</a:t>
            </a:r>
          </a:p>
        </p:txBody>
      </p:sp>
      <p:sp>
        <p:nvSpPr>
          <p:cNvPr id="17501" name="TextBox 17500">
            <a:extLst>
              <a:ext uri="{FF2B5EF4-FFF2-40B4-BE49-F238E27FC236}">
                <a16:creationId xmlns:a16="http://schemas.microsoft.com/office/drawing/2014/main" id="{88F4A77F-5738-EF0B-8572-A383A53EE733}"/>
              </a:ext>
            </a:extLst>
          </p:cNvPr>
          <p:cNvSpPr txBox="1"/>
          <p:nvPr/>
        </p:nvSpPr>
        <p:spPr>
          <a:xfrm>
            <a:off x="8058222" y="5485813"/>
            <a:ext cx="477826" cy="1439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00" b="0">
                <a:solidFill>
                  <a:srgbClr val="484848"/>
                </a:solidFill>
                <a:latin typeface="Roboto"/>
              </a:rPr>
              <a:t>Node.js</a:t>
            </a:r>
          </a:p>
        </p:txBody>
      </p:sp>
      <p:sp>
        <p:nvSpPr>
          <p:cNvPr id="17502" name="TextBox 17501">
            <a:extLst>
              <a:ext uri="{FF2B5EF4-FFF2-40B4-BE49-F238E27FC236}">
                <a16:creationId xmlns:a16="http://schemas.microsoft.com/office/drawing/2014/main" id="{69ECB28B-E638-713D-2148-38904CD9CD64}"/>
              </a:ext>
            </a:extLst>
          </p:cNvPr>
          <p:cNvSpPr txBox="1"/>
          <p:nvPr/>
        </p:nvSpPr>
        <p:spPr>
          <a:xfrm>
            <a:off x="9881308" y="5449124"/>
            <a:ext cx="733890" cy="1439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484848"/>
                </a:solidFill>
                <a:latin typeface="Roboto"/>
              </a:rPr>
              <a:t>Scikit-Learn</a:t>
            </a:r>
          </a:p>
        </p:txBody>
      </p:sp>
      <p:sp>
        <p:nvSpPr>
          <p:cNvPr id="17503" name="TextBox 17502">
            <a:extLst>
              <a:ext uri="{FF2B5EF4-FFF2-40B4-BE49-F238E27FC236}">
                <a16:creationId xmlns:a16="http://schemas.microsoft.com/office/drawing/2014/main" id="{F4531745-019F-860E-C4A0-BE7A9D013CDA}"/>
              </a:ext>
            </a:extLst>
          </p:cNvPr>
          <p:cNvSpPr txBox="1"/>
          <p:nvPr/>
        </p:nvSpPr>
        <p:spPr>
          <a:xfrm>
            <a:off x="7880108" y="5705946"/>
            <a:ext cx="655940" cy="1439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00" b="0">
                <a:solidFill>
                  <a:srgbClr val="484848"/>
                </a:solidFill>
                <a:latin typeface="Roboto"/>
              </a:rPr>
              <a:t>ExpressJS</a:t>
            </a:r>
          </a:p>
        </p:txBody>
      </p:sp>
      <p:sp>
        <p:nvSpPr>
          <p:cNvPr id="17504" name="TextBox 17503">
            <a:extLst>
              <a:ext uri="{FF2B5EF4-FFF2-40B4-BE49-F238E27FC236}">
                <a16:creationId xmlns:a16="http://schemas.microsoft.com/office/drawing/2014/main" id="{CDAD5921-9E5E-730B-A992-89541D717BCC}"/>
              </a:ext>
            </a:extLst>
          </p:cNvPr>
          <p:cNvSpPr txBox="1"/>
          <p:nvPr/>
        </p:nvSpPr>
        <p:spPr>
          <a:xfrm>
            <a:off x="9881308" y="5669258"/>
            <a:ext cx="748158" cy="1439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dirty="0">
                <a:solidFill>
                  <a:srgbClr val="484848"/>
                </a:solidFill>
                <a:latin typeface="Roboto"/>
              </a:rPr>
              <a:t>Gemini RAG</a:t>
            </a:r>
          </a:p>
        </p:txBody>
      </p:sp>
      <p:sp>
        <p:nvSpPr>
          <p:cNvPr id="17505" name="TextBox 17504">
            <a:extLst>
              <a:ext uri="{FF2B5EF4-FFF2-40B4-BE49-F238E27FC236}">
                <a16:creationId xmlns:a16="http://schemas.microsoft.com/office/drawing/2014/main" id="{9788098A-735F-51F7-B14C-C5953CF69451}"/>
              </a:ext>
            </a:extLst>
          </p:cNvPr>
          <p:cNvSpPr txBox="1"/>
          <p:nvPr/>
        </p:nvSpPr>
        <p:spPr>
          <a:xfrm>
            <a:off x="8046817" y="5926080"/>
            <a:ext cx="489231" cy="1439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00" b="0">
                <a:solidFill>
                  <a:srgbClr val="484848"/>
                </a:solidFill>
                <a:latin typeface="Roboto"/>
              </a:rPr>
              <a:t>FastAPI</a:t>
            </a:r>
          </a:p>
        </p:txBody>
      </p:sp>
      <p:sp>
        <p:nvSpPr>
          <p:cNvPr id="17506" name="TextBox 17505">
            <a:extLst>
              <a:ext uri="{FF2B5EF4-FFF2-40B4-BE49-F238E27FC236}">
                <a16:creationId xmlns:a16="http://schemas.microsoft.com/office/drawing/2014/main" id="{4E19B416-FEC3-2A22-FEFE-77BD3AB530DB}"/>
              </a:ext>
            </a:extLst>
          </p:cNvPr>
          <p:cNvSpPr txBox="1"/>
          <p:nvPr/>
        </p:nvSpPr>
        <p:spPr>
          <a:xfrm>
            <a:off x="9881308" y="5889391"/>
            <a:ext cx="675285" cy="1439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484848"/>
                </a:solidFill>
                <a:latin typeface="Roboto"/>
              </a:rPr>
              <a:t>ChromaDB</a:t>
            </a:r>
          </a:p>
        </p:txBody>
      </p:sp>
      <p:sp>
        <p:nvSpPr>
          <p:cNvPr id="17507" name="TextBox 17506">
            <a:extLst>
              <a:ext uri="{FF2B5EF4-FFF2-40B4-BE49-F238E27FC236}">
                <a16:creationId xmlns:a16="http://schemas.microsoft.com/office/drawing/2014/main" id="{73155CDC-667A-978F-3A11-0784BBA3CFC8}"/>
              </a:ext>
            </a:extLst>
          </p:cNvPr>
          <p:cNvSpPr txBox="1"/>
          <p:nvPr/>
        </p:nvSpPr>
        <p:spPr>
          <a:xfrm>
            <a:off x="7867921" y="6146213"/>
            <a:ext cx="668127" cy="1439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00" b="0">
                <a:solidFill>
                  <a:srgbClr val="484848"/>
                </a:solidFill>
                <a:latin typeface="Roboto"/>
              </a:rPr>
              <a:t>Cassandra</a:t>
            </a:r>
          </a:p>
        </p:txBody>
      </p:sp>
      <p:grpSp>
        <p:nvGrpSpPr>
          <p:cNvPr id="17508" name="Group 17507">
            <a:extLst>
              <a:ext uri="{FF2B5EF4-FFF2-40B4-BE49-F238E27FC236}">
                <a16:creationId xmlns:a16="http://schemas.microsoft.com/office/drawing/2014/main" id="{A4DBFE05-293B-525B-0436-427BDF99433A}"/>
              </a:ext>
            </a:extLst>
          </p:cNvPr>
          <p:cNvGrpSpPr/>
          <p:nvPr/>
        </p:nvGrpSpPr>
        <p:grpSpPr>
          <a:xfrm>
            <a:off x="9881308" y="6109525"/>
            <a:ext cx="880612" cy="287865"/>
            <a:chOff x="3350918" y="5063067"/>
            <a:chExt cx="880612" cy="293522"/>
          </a:xfrm>
        </p:grpSpPr>
        <p:sp>
          <p:nvSpPr>
            <p:cNvPr id="17509" name="TextBox 17508">
              <a:extLst>
                <a:ext uri="{FF2B5EF4-FFF2-40B4-BE49-F238E27FC236}">
                  <a16:creationId xmlns:a16="http://schemas.microsoft.com/office/drawing/2014/main" id="{83AE0D37-907E-2AE8-F7BC-19F92505052F}"/>
                </a:ext>
              </a:extLst>
            </p:cNvPr>
            <p:cNvSpPr txBox="1"/>
            <p:nvPr/>
          </p:nvSpPr>
          <p:spPr>
            <a:xfrm>
              <a:off x="3350918" y="5063067"/>
              <a:ext cx="1012703" cy="1467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484848"/>
                  </a:solidFill>
                  <a:latin typeface="Roboto"/>
                </a:rPr>
                <a:t>RDSO Rulebook</a:t>
              </a:r>
            </a:p>
          </p:txBody>
        </p:sp>
        <p:sp>
          <p:nvSpPr>
            <p:cNvPr id="17510" name="TextBox 17509">
              <a:extLst>
                <a:ext uri="{FF2B5EF4-FFF2-40B4-BE49-F238E27FC236}">
                  <a16:creationId xmlns:a16="http://schemas.microsoft.com/office/drawing/2014/main" id="{E4CE3102-DED4-2102-11BC-D19BF106ED0F}"/>
                </a:ext>
              </a:extLst>
            </p:cNvPr>
            <p:cNvSpPr txBox="1"/>
            <p:nvPr/>
          </p:nvSpPr>
          <p:spPr>
            <a:xfrm>
              <a:off x="3350918" y="5209822"/>
              <a:ext cx="1012703" cy="1467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484848"/>
                  </a:solidFill>
                  <a:latin typeface="Roboto"/>
                </a:rPr>
                <a:t>Engine</a:t>
              </a:r>
            </a:p>
          </p:txBody>
        </p:sp>
      </p:grpSp>
      <p:sp>
        <p:nvSpPr>
          <p:cNvPr id="17511" name="TextBox 17510">
            <a:extLst>
              <a:ext uri="{FF2B5EF4-FFF2-40B4-BE49-F238E27FC236}">
                <a16:creationId xmlns:a16="http://schemas.microsoft.com/office/drawing/2014/main" id="{7928D6BE-86EB-E23B-FB5A-BE0D8EBE3232}"/>
              </a:ext>
            </a:extLst>
          </p:cNvPr>
          <p:cNvSpPr txBox="1"/>
          <p:nvPr/>
        </p:nvSpPr>
        <p:spPr>
          <a:xfrm>
            <a:off x="7499717" y="4715346"/>
            <a:ext cx="485998" cy="1439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00" b="0">
                <a:solidFill>
                  <a:srgbClr val="484848"/>
                </a:solidFill>
                <a:latin typeface="Roboto"/>
              </a:rPr>
              <a:t>Chart.js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508125">
              <a:lnSpc>
                <a:spcPct val="100000"/>
              </a:lnSpc>
              <a:spcBef>
                <a:spcPts val="100"/>
              </a:spcBef>
            </a:pPr>
            <a:r>
              <a:rPr dirty="0"/>
              <a:t>FEASIBILITY</a:t>
            </a:r>
            <a:r>
              <a:rPr spc="-10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spc="-10" dirty="0"/>
              <a:t>VIABILITY</a:t>
            </a:r>
          </a:p>
        </p:txBody>
      </p:sp>
      <p:sp>
        <p:nvSpPr>
          <p:cNvPr id="4" name="object 4"/>
          <p:cNvSpPr/>
          <p:nvPr/>
        </p:nvSpPr>
        <p:spPr>
          <a:xfrm>
            <a:off x="94576" y="247650"/>
            <a:ext cx="1547411" cy="800100"/>
          </a:xfrm>
          <a:custGeom>
            <a:avLst/>
            <a:gdLst/>
            <a:ahLst/>
            <a:cxnLst/>
            <a:rect l="l" t="t" r="r" b="b"/>
            <a:pathLst>
              <a:path w="1247775" h="800100">
                <a:moveTo>
                  <a:pt x="0" y="400050"/>
                </a:moveTo>
                <a:lnTo>
                  <a:pt x="2968" y="360641"/>
                </a:lnTo>
                <a:lnTo>
                  <a:pt x="11872" y="321989"/>
                </a:lnTo>
                <a:lnTo>
                  <a:pt x="26713" y="284094"/>
                </a:lnTo>
                <a:lnTo>
                  <a:pt x="47490" y="246957"/>
                </a:lnTo>
                <a:lnTo>
                  <a:pt x="73752" y="211276"/>
                </a:lnTo>
                <a:lnTo>
                  <a:pt x="105046" y="177752"/>
                </a:lnTo>
                <a:lnTo>
                  <a:pt x="141373" y="146383"/>
                </a:lnTo>
                <a:lnTo>
                  <a:pt x="182732" y="117171"/>
                </a:lnTo>
                <a:lnTo>
                  <a:pt x="228289" y="90651"/>
                </a:lnTo>
                <a:lnTo>
                  <a:pt x="277208" y="67357"/>
                </a:lnTo>
                <a:lnTo>
                  <a:pt x="329491" y="47291"/>
                </a:lnTo>
                <a:lnTo>
                  <a:pt x="385136" y="30451"/>
                </a:lnTo>
                <a:lnTo>
                  <a:pt x="431374" y="19489"/>
                </a:lnTo>
                <a:lnTo>
                  <a:pt x="478369" y="10962"/>
                </a:lnTo>
                <a:lnTo>
                  <a:pt x="526119" y="4872"/>
                </a:lnTo>
                <a:lnTo>
                  <a:pt x="574625" y="1218"/>
                </a:lnTo>
                <a:lnTo>
                  <a:pt x="623887" y="0"/>
                </a:lnTo>
                <a:lnTo>
                  <a:pt x="673149" y="1218"/>
                </a:lnTo>
                <a:lnTo>
                  <a:pt x="721655" y="4872"/>
                </a:lnTo>
                <a:lnTo>
                  <a:pt x="769405" y="10962"/>
                </a:lnTo>
                <a:lnTo>
                  <a:pt x="816399" y="19489"/>
                </a:lnTo>
                <a:lnTo>
                  <a:pt x="862638" y="30451"/>
                </a:lnTo>
                <a:lnTo>
                  <a:pt x="918283" y="47291"/>
                </a:lnTo>
                <a:lnTo>
                  <a:pt x="970565" y="67357"/>
                </a:lnTo>
                <a:lnTo>
                  <a:pt x="1019485" y="90651"/>
                </a:lnTo>
                <a:lnTo>
                  <a:pt x="1065042" y="117171"/>
                </a:lnTo>
                <a:lnTo>
                  <a:pt x="1106401" y="146383"/>
                </a:lnTo>
                <a:lnTo>
                  <a:pt x="1142728" y="177752"/>
                </a:lnTo>
                <a:lnTo>
                  <a:pt x="1174022" y="211276"/>
                </a:lnTo>
                <a:lnTo>
                  <a:pt x="1200284" y="246957"/>
                </a:lnTo>
                <a:lnTo>
                  <a:pt x="1221061" y="284094"/>
                </a:lnTo>
                <a:lnTo>
                  <a:pt x="1235902" y="321989"/>
                </a:lnTo>
                <a:lnTo>
                  <a:pt x="1244806" y="360641"/>
                </a:lnTo>
                <a:lnTo>
                  <a:pt x="1247775" y="400050"/>
                </a:lnTo>
                <a:lnTo>
                  <a:pt x="1244806" y="439458"/>
                </a:lnTo>
                <a:lnTo>
                  <a:pt x="1235902" y="478110"/>
                </a:lnTo>
                <a:lnTo>
                  <a:pt x="1221061" y="516005"/>
                </a:lnTo>
                <a:lnTo>
                  <a:pt x="1200284" y="553142"/>
                </a:lnTo>
                <a:lnTo>
                  <a:pt x="1174022" y="588823"/>
                </a:lnTo>
                <a:lnTo>
                  <a:pt x="1142728" y="622347"/>
                </a:lnTo>
                <a:lnTo>
                  <a:pt x="1106401" y="653715"/>
                </a:lnTo>
                <a:lnTo>
                  <a:pt x="1065042" y="682927"/>
                </a:lnTo>
                <a:lnTo>
                  <a:pt x="1019485" y="709448"/>
                </a:lnTo>
                <a:lnTo>
                  <a:pt x="970565" y="732741"/>
                </a:lnTo>
                <a:lnTo>
                  <a:pt x="918283" y="752808"/>
                </a:lnTo>
                <a:lnTo>
                  <a:pt x="862638" y="769647"/>
                </a:lnTo>
                <a:lnTo>
                  <a:pt x="816399" y="780610"/>
                </a:lnTo>
                <a:lnTo>
                  <a:pt x="769405" y="789137"/>
                </a:lnTo>
                <a:lnTo>
                  <a:pt x="721655" y="795227"/>
                </a:lnTo>
                <a:lnTo>
                  <a:pt x="673149" y="798881"/>
                </a:lnTo>
                <a:lnTo>
                  <a:pt x="623887" y="800100"/>
                </a:lnTo>
                <a:lnTo>
                  <a:pt x="574625" y="798881"/>
                </a:lnTo>
                <a:lnTo>
                  <a:pt x="526119" y="795227"/>
                </a:lnTo>
                <a:lnTo>
                  <a:pt x="478369" y="789137"/>
                </a:lnTo>
                <a:lnTo>
                  <a:pt x="431374" y="780610"/>
                </a:lnTo>
                <a:lnTo>
                  <a:pt x="385136" y="769647"/>
                </a:lnTo>
                <a:lnTo>
                  <a:pt x="329491" y="752808"/>
                </a:lnTo>
                <a:lnTo>
                  <a:pt x="277208" y="732741"/>
                </a:lnTo>
                <a:lnTo>
                  <a:pt x="228289" y="709448"/>
                </a:lnTo>
                <a:lnTo>
                  <a:pt x="182732" y="682927"/>
                </a:lnTo>
                <a:lnTo>
                  <a:pt x="141373" y="653715"/>
                </a:lnTo>
                <a:lnTo>
                  <a:pt x="105046" y="622347"/>
                </a:lnTo>
                <a:lnTo>
                  <a:pt x="73752" y="588823"/>
                </a:lnTo>
                <a:lnTo>
                  <a:pt x="47490" y="553142"/>
                </a:lnTo>
                <a:lnTo>
                  <a:pt x="26713" y="516005"/>
                </a:lnTo>
                <a:lnTo>
                  <a:pt x="11872" y="478110"/>
                </a:lnTo>
                <a:lnTo>
                  <a:pt x="2968" y="439458"/>
                </a:lnTo>
                <a:lnTo>
                  <a:pt x="0" y="400050"/>
                </a:lnTo>
                <a:close/>
              </a:path>
            </a:pathLst>
          </a:custGeom>
          <a:ln w="9525">
            <a:solidFill>
              <a:srgbClr val="8064A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14337" y="449873"/>
            <a:ext cx="1066800" cy="2816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57150" algn="just">
              <a:lnSpc>
                <a:spcPct val="100699"/>
              </a:lnSpc>
              <a:spcBef>
                <a:spcPts val="85"/>
              </a:spcBef>
            </a:pPr>
            <a:r>
              <a:rPr lang="en-IN" sz="1800" b="1" dirty="0">
                <a:latin typeface="Roboto"/>
                <a:cs typeface="Roboto"/>
              </a:rPr>
              <a:t>Autonex</a:t>
            </a:r>
            <a:endParaRPr sz="1800" b="1" dirty="0">
              <a:latin typeface="Roboto"/>
              <a:cs typeface="Roboto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2149" y="23495"/>
            <a:ext cx="2200699" cy="101615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5158504" y="6426200"/>
            <a:ext cx="232727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/>
              <a:t>@SIH</a:t>
            </a:r>
            <a:r>
              <a:rPr lang="en-US" spc="-60"/>
              <a:t> </a:t>
            </a:r>
            <a:r>
              <a:rPr lang="en-US"/>
              <a:t>Idea</a:t>
            </a:r>
            <a:r>
              <a:rPr lang="en-US" spc="-60"/>
              <a:t> </a:t>
            </a:r>
            <a:r>
              <a:rPr lang="en-US" spc="-10"/>
              <a:t>submission-</a:t>
            </a:r>
            <a:r>
              <a:rPr lang="en-US" spc="210"/>
              <a:t> </a:t>
            </a:r>
            <a:r>
              <a:rPr lang="en-US" spc="-10"/>
              <a:t>Template</a:t>
            </a:r>
            <a:endParaRPr spc="-1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1315700" y="6378574"/>
            <a:ext cx="217804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38100">
              <a:lnSpc>
                <a:spcPts val="2130"/>
              </a:lnSpc>
              <a:spcBef>
                <a:spcPts val="10"/>
              </a:spcBef>
            </a:pPr>
            <a:fld id="{81D60167-4931-47E6-BA6A-407CBD079E47}" type="slidenum">
              <a:rPr lang="en-US" sz="1800" spc="-50" smtClean="0"/>
              <a:pPr marL="38100">
                <a:lnSpc>
                  <a:spcPts val="2130"/>
                </a:lnSpc>
                <a:spcBef>
                  <a:spcPts val="10"/>
                </a:spcBef>
              </a:pPr>
              <a:t>4</a:t>
            </a:fld>
            <a:endParaRPr spc="-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EB5CD4-6A6C-4C97-E05C-24F91DBB7689}"/>
              </a:ext>
            </a:extLst>
          </p:cNvPr>
          <p:cNvSpPr txBox="1"/>
          <p:nvPr/>
        </p:nvSpPr>
        <p:spPr>
          <a:xfrm>
            <a:off x="304801" y="1518077"/>
            <a:ext cx="4886631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400" b="1" dirty="0"/>
              <a:t>• </a:t>
            </a:r>
            <a:r>
              <a:rPr lang="en-US" sz="2400" dirty="0"/>
              <a:t>Uses Existing Hardware: Connects directly to field-tested sensors and track relays—no new hardware to build.</a:t>
            </a:r>
            <a:endParaRPr lang="en-IN" sz="2400" dirty="0"/>
          </a:p>
          <a:p>
            <a:pPr lvl="0"/>
            <a:r>
              <a:rPr lang="en-IN" sz="2400" b="1" dirty="0"/>
              <a:t>• </a:t>
            </a:r>
            <a:r>
              <a:rPr lang="en-US" sz="2400" dirty="0"/>
              <a:t>Easy API Integration: Plugs right into Indian Railways' legacy software (COA/FOIS) using standard APIs.</a:t>
            </a:r>
          </a:p>
          <a:p>
            <a:pPr lvl="0"/>
            <a:r>
              <a:rPr lang="en-IN" sz="2400" b="1" dirty="0"/>
              <a:t>• </a:t>
            </a:r>
            <a:r>
              <a:rPr lang="en-US" sz="2400" dirty="0"/>
              <a:t>Proven Tech Stack: Built on established AI and physics models, eliminating core R&amp;D risks.</a:t>
            </a:r>
          </a:p>
          <a:p>
            <a:pPr lvl="0"/>
            <a:endParaRPr lang="en-IN" sz="2400" dirty="0"/>
          </a:p>
          <a:p>
            <a:pPr lvl="0"/>
            <a:r>
              <a:rPr lang="en-IN" sz="2400" b="1" dirty="0"/>
              <a:t>• </a:t>
            </a:r>
            <a:r>
              <a:rPr lang="en-US" sz="2400" dirty="0"/>
              <a:t>Safe Testing: Deploys in "shadow mode" alongside human controllers without disrupting live operations.</a:t>
            </a:r>
            <a:endParaRPr lang="en-IN" sz="2400" dirty="0"/>
          </a:p>
          <a:p>
            <a:endParaRPr lang="en-IN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0795C9B-DF06-7C8C-9106-E86E1C419F86}"/>
              </a:ext>
            </a:extLst>
          </p:cNvPr>
          <p:cNvCxnSpPr>
            <a:cxnSpLocks/>
          </p:cNvCxnSpPr>
          <p:nvPr/>
        </p:nvCxnSpPr>
        <p:spPr>
          <a:xfrm>
            <a:off x="6096000" y="1095375"/>
            <a:ext cx="0" cy="55765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54E3F6C-CAAB-8BFE-DF1D-CF14C0B762EB}"/>
              </a:ext>
            </a:extLst>
          </p:cNvPr>
          <p:cNvSpPr txBox="1"/>
          <p:nvPr/>
        </p:nvSpPr>
        <p:spPr>
          <a:xfrm>
            <a:off x="6489290" y="1519608"/>
            <a:ext cx="570271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400" b="1" dirty="0"/>
              <a:t>• </a:t>
            </a:r>
            <a:r>
              <a:rPr lang="en-US" sz="2400" dirty="0"/>
              <a:t>Low CapEx, High ROI: Cheap to deploy because infrastructure exists; saves millions in delay costs.</a:t>
            </a:r>
          </a:p>
          <a:p>
            <a:pPr lvl="0"/>
            <a:endParaRPr lang="en-IN" sz="2400" dirty="0"/>
          </a:p>
          <a:p>
            <a:pPr lvl="0"/>
            <a:r>
              <a:rPr lang="en-IN" sz="2400" b="1" dirty="0"/>
              <a:t>• </a:t>
            </a:r>
            <a:r>
              <a:rPr lang="en-US" sz="2400" dirty="0"/>
              <a:t>Scalable Architecture: Modular software easily expands from one division to all 68 railway zones.</a:t>
            </a:r>
          </a:p>
          <a:p>
            <a:pPr lvl="0"/>
            <a:endParaRPr lang="en-US" sz="2400" dirty="0"/>
          </a:p>
          <a:p>
            <a:pPr lvl="0"/>
            <a:r>
              <a:rPr lang="en-IN" sz="2400" b="1" dirty="0"/>
              <a:t>• </a:t>
            </a:r>
            <a:r>
              <a:rPr lang="en-US" sz="2400" dirty="0"/>
              <a:t>Government Aligned: Fits directly into the Ministry’s National Rail Plan 2030 digital mandate.</a:t>
            </a:r>
          </a:p>
          <a:p>
            <a:pPr lvl="0"/>
            <a:endParaRPr lang="en-US" b="1" dirty="0"/>
          </a:p>
          <a:p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21CB15-BCB7-52C4-1632-4EFA8922F0E1}"/>
              </a:ext>
            </a:extLst>
          </p:cNvPr>
          <p:cNvSpPr txBox="1"/>
          <p:nvPr/>
        </p:nvSpPr>
        <p:spPr>
          <a:xfrm>
            <a:off x="1641987" y="992291"/>
            <a:ext cx="2271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FEASIBILITY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10F089-B31C-5787-8079-D0072BD4F3B2}"/>
              </a:ext>
            </a:extLst>
          </p:cNvPr>
          <p:cNvSpPr txBox="1"/>
          <p:nvPr/>
        </p:nvSpPr>
        <p:spPr>
          <a:xfrm>
            <a:off x="7910856" y="992291"/>
            <a:ext cx="16337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VIABILITY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1869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AutoNex</a:t>
            </a:r>
            <a:endParaRPr lang="en-IN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4B9138-1F58-7170-055F-6AC0A19F6784}"/>
              </a:ext>
            </a:extLst>
          </p:cNvPr>
          <p:cNvSpPr txBox="1"/>
          <p:nvPr/>
        </p:nvSpPr>
        <p:spPr>
          <a:xfrm>
            <a:off x="162064" y="1185707"/>
            <a:ext cx="4931046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/>
              <a:t>IMPACT</a:t>
            </a:r>
            <a:br>
              <a:rPr lang="en-IN" sz="1400" dirty="0"/>
            </a:br>
            <a:r>
              <a:rPr lang="en-IN" sz="1400" i="1" dirty="0"/>
              <a:t>Creating a Safer, Smarter and More Reliable Railway Network</a:t>
            </a:r>
            <a:endParaRPr lang="en-IN" sz="1400" dirty="0"/>
          </a:p>
          <a:p>
            <a:pPr>
              <a:buNone/>
            </a:pPr>
            <a:r>
              <a:rPr lang="en-IN" sz="1400" b="1" dirty="0"/>
              <a:t>1. ON PASSENGERS</a:t>
            </a:r>
            <a:endParaRPr lang="en-IN" sz="1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Safer journeys with reduced risk of accidents.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On-time arrivals and fewer unexpected delays.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Better travel experience with improved reliability. </a:t>
            </a:r>
          </a:p>
          <a:p>
            <a:pPr>
              <a:buNone/>
            </a:pPr>
            <a:r>
              <a:rPr lang="en-IN" sz="1400" b="1" dirty="0"/>
              <a:t>2. ON RAILWAYS</a:t>
            </a:r>
            <a:endParaRPr lang="en-IN" sz="1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Reduced delay losses and better operational efficiency.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Optimized resource utilization — tracks, trains and manpower.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Lower maintenance cost through early fault detection. </a:t>
            </a:r>
          </a:p>
          <a:p>
            <a:pPr>
              <a:buNone/>
            </a:pPr>
            <a:r>
              <a:rPr lang="en-IN" sz="1400" b="1" dirty="0"/>
              <a:t>3. FOR SOCIETY</a:t>
            </a:r>
            <a:endParaRPr lang="en-IN" sz="1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Stronger connectivity across cities and regions.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Increased economic activity and job opportunities.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Improved trust in public transport and national infrastructure. </a:t>
            </a:r>
          </a:p>
          <a:p>
            <a:pPr>
              <a:buNone/>
            </a:pPr>
            <a:r>
              <a:rPr lang="en-IN" sz="1400" b="1" dirty="0"/>
              <a:t>4. FOR ENVIRONMENT</a:t>
            </a:r>
            <a:endParaRPr lang="en-IN" sz="1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Lower fuel consumption through smoother operations.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Reduced carbon emissions from fewer delays and idle time.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Supports a greener and sustainable transport system. </a:t>
            </a:r>
          </a:p>
          <a:p>
            <a:pPr>
              <a:buNone/>
            </a:pPr>
            <a:r>
              <a:rPr lang="en-IN" sz="1400" b="1" dirty="0"/>
              <a:t>KEY IMPACT:</a:t>
            </a:r>
            <a:br>
              <a:rPr lang="en-IN" dirty="0"/>
            </a:br>
            <a:r>
              <a:rPr lang="en-IN" b="1" dirty="0"/>
              <a:t>Safer People | On-Time India | Stronger Economy | Greener Tomorrow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D23BC8-0FB5-9BBF-2FD6-B3B71B9FDA2E}"/>
              </a:ext>
            </a:extLst>
          </p:cNvPr>
          <p:cNvSpPr txBox="1"/>
          <p:nvPr/>
        </p:nvSpPr>
        <p:spPr>
          <a:xfrm>
            <a:off x="6442589" y="975071"/>
            <a:ext cx="5587348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300" b="1" dirty="0"/>
              <a:t>BENEFITS</a:t>
            </a:r>
            <a:br>
              <a:rPr lang="en-IN" sz="1300" dirty="0"/>
            </a:br>
            <a:r>
              <a:rPr lang="en-IN" sz="1300" i="1" dirty="0"/>
              <a:t>More Control | More Efficiency | Greater Value</a:t>
            </a:r>
            <a:endParaRPr lang="en-IN" sz="1300" dirty="0"/>
          </a:p>
          <a:p>
            <a:pPr>
              <a:buNone/>
            </a:pPr>
            <a:r>
              <a:rPr lang="en-IN" sz="1300" b="1" dirty="0"/>
              <a:t>1. SAFETY ENHANCEMENT</a:t>
            </a:r>
            <a:endParaRPr lang="en-IN" sz="13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300" dirty="0"/>
              <a:t>Early fault detection and instant alerts.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300" dirty="0"/>
              <a:t>Helps prevent derailments and major accidents.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300" b="1" dirty="0"/>
              <a:t>Result: Fewer risks, safer lives.</a:t>
            </a:r>
            <a:r>
              <a:rPr lang="en-IN" sz="1300" dirty="0"/>
              <a:t> </a:t>
            </a:r>
          </a:p>
          <a:p>
            <a:pPr>
              <a:buNone/>
            </a:pPr>
            <a:r>
              <a:rPr lang="en-IN" sz="1300" b="1" dirty="0"/>
              <a:t>2. DELAY REDUCTION</a:t>
            </a:r>
            <a:endParaRPr lang="en-IN" sz="13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300" dirty="0"/>
              <a:t>Smarter train movement planning.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300" dirty="0"/>
              <a:t>Avoids unnecessary holding of trains.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300" b="1" dirty="0"/>
              <a:t>Potentially saves up to 35+ minutes per train in critical cases.</a:t>
            </a:r>
            <a:r>
              <a:rPr lang="en-IN" sz="1300" dirty="0"/>
              <a:t> </a:t>
            </a:r>
          </a:p>
          <a:p>
            <a:pPr>
              <a:buNone/>
            </a:pPr>
            <a:r>
              <a:rPr lang="en-IN" sz="1300" b="1" dirty="0"/>
              <a:t>3. OPERATIONAL EFFICIENCY</a:t>
            </a:r>
            <a:endParaRPr lang="en-IN" sz="13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300" dirty="0"/>
              <a:t>Dynamic speed optimization.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300" dirty="0"/>
              <a:t>Better utilization of tracks, trains and resources.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300" b="1" dirty="0"/>
              <a:t>Result: Higher capacity and better network utilization.</a:t>
            </a:r>
            <a:r>
              <a:rPr lang="en-IN" sz="1300" dirty="0"/>
              <a:t> </a:t>
            </a:r>
          </a:p>
          <a:p>
            <a:pPr>
              <a:buNone/>
            </a:pPr>
            <a:r>
              <a:rPr lang="en-IN" sz="1300" b="1" dirty="0"/>
              <a:t>4. COST SAVINGS</a:t>
            </a:r>
            <a:endParaRPr lang="en-IN" sz="13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300" dirty="0"/>
              <a:t>Less damage and repair cost.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300" dirty="0"/>
              <a:t>Reduced delay-related operational losses.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300" b="1" dirty="0"/>
              <a:t>Result: Lower maintenance and operational expenses.</a:t>
            </a:r>
            <a:r>
              <a:rPr lang="en-IN" sz="1300" dirty="0"/>
              <a:t> </a:t>
            </a:r>
          </a:p>
          <a:p>
            <a:pPr>
              <a:buNone/>
            </a:pPr>
            <a:r>
              <a:rPr lang="en-IN" sz="1300" b="1" dirty="0"/>
              <a:t>5. ENVIRONMENTAL SUSTAINABILITY</a:t>
            </a:r>
            <a:endParaRPr lang="en-IN" sz="13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300" dirty="0"/>
              <a:t>Smoother operations and less fuel wastage.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300" dirty="0"/>
              <a:t>Lower carbon footprint.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300" b="1" dirty="0"/>
              <a:t>Result: Cleaner and greener railway operations.</a:t>
            </a:r>
            <a:r>
              <a:rPr lang="en-IN" sz="1300" dirty="0"/>
              <a:t> </a:t>
            </a:r>
          </a:p>
          <a:p>
            <a:pPr>
              <a:buNone/>
            </a:pPr>
            <a:r>
              <a:rPr lang="en-IN" sz="1300" b="1" dirty="0"/>
              <a:t>6. STRONGER NATIONAL GROWTH</a:t>
            </a:r>
            <a:endParaRPr lang="en-IN" sz="13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300" dirty="0"/>
              <a:t>Improved logistics and supply-chain efficiency.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300" dirty="0"/>
              <a:t>Supports tourism, trade and regional development.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300" b="1" dirty="0"/>
              <a:t>Result: A more connected and prosperous In</a:t>
            </a:r>
            <a:r>
              <a:rPr lang="en-IN" sz="1400" b="1" dirty="0"/>
              <a:t>dia.</a:t>
            </a:r>
            <a:endParaRPr lang="en-IN" sz="14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F5F2F27-E2CB-21A6-DF1E-05DB18B156D1}"/>
              </a:ext>
            </a:extLst>
          </p:cNvPr>
          <p:cNvCxnSpPr/>
          <p:nvPr/>
        </p:nvCxnSpPr>
        <p:spPr>
          <a:xfrm>
            <a:off x="5997678" y="797155"/>
            <a:ext cx="0" cy="603209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46750" y="36558"/>
            <a:ext cx="9698500" cy="67262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50950" algn="l">
              <a:lnSpc>
                <a:spcPct val="100000"/>
              </a:lnSpc>
              <a:spcBef>
                <a:spcPts val="100"/>
              </a:spcBef>
            </a:pPr>
            <a:r>
              <a:rPr b="1" dirty="0"/>
              <a:t>RESEARCH</a:t>
            </a:r>
            <a:r>
              <a:rPr b="1" spc="25" dirty="0"/>
              <a:t>  </a:t>
            </a:r>
            <a:r>
              <a:rPr b="1" dirty="0"/>
              <a:t>AND</a:t>
            </a:r>
            <a:r>
              <a:rPr b="1" spc="30" dirty="0"/>
              <a:t> </a:t>
            </a:r>
            <a:r>
              <a:rPr b="1" spc="-10" dirty="0"/>
              <a:t>REFERENCES</a:t>
            </a:r>
          </a:p>
        </p:txBody>
      </p:sp>
      <p:sp>
        <p:nvSpPr>
          <p:cNvPr id="4" name="object 4"/>
          <p:cNvSpPr/>
          <p:nvPr/>
        </p:nvSpPr>
        <p:spPr>
          <a:xfrm>
            <a:off x="338091" y="131524"/>
            <a:ext cx="1744663" cy="706676"/>
          </a:xfrm>
          <a:custGeom>
            <a:avLst/>
            <a:gdLst/>
            <a:ahLst/>
            <a:cxnLst/>
            <a:rect l="l" t="t" r="r" b="b"/>
            <a:pathLst>
              <a:path w="1247775" h="800100">
                <a:moveTo>
                  <a:pt x="0" y="400050"/>
                </a:moveTo>
                <a:lnTo>
                  <a:pt x="2968" y="360641"/>
                </a:lnTo>
                <a:lnTo>
                  <a:pt x="11872" y="321989"/>
                </a:lnTo>
                <a:lnTo>
                  <a:pt x="26713" y="284094"/>
                </a:lnTo>
                <a:lnTo>
                  <a:pt x="47490" y="246957"/>
                </a:lnTo>
                <a:lnTo>
                  <a:pt x="73752" y="211276"/>
                </a:lnTo>
                <a:lnTo>
                  <a:pt x="105046" y="177752"/>
                </a:lnTo>
                <a:lnTo>
                  <a:pt x="141373" y="146383"/>
                </a:lnTo>
                <a:lnTo>
                  <a:pt x="182732" y="117171"/>
                </a:lnTo>
                <a:lnTo>
                  <a:pt x="228289" y="90651"/>
                </a:lnTo>
                <a:lnTo>
                  <a:pt x="277208" y="67357"/>
                </a:lnTo>
                <a:lnTo>
                  <a:pt x="329491" y="47291"/>
                </a:lnTo>
                <a:lnTo>
                  <a:pt x="385136" y="30451"/>
                </a:lnTo>
                <a:lnTo>
                  <a:pt x="431374" y="19489"/>
                </a:lnTo>
                <a:lnTo>
                  <a:pt x="478369" y="10962"/>
                </a:lnTo>
                <a:lnTo>
                  <a:pt x="526119" y="4872"/>
                </a:lnTo>
                <a:lnTo>
                  <a:pt x="574625" y="1218"/>
                </a:lnTo>
                <a:lnTo>
                  <a:pt x="623887" y="0"/>
                </a:lnTo>
                <a:lnTo>
                  <a:pt x="673149" y="1218"/>
                </a:lnTo>
                <a:lnTo>
                  <a:pt x="721655" y="4872"/>
                </a:lnTo>
                <a:lnTo>
                  <a:pt x="769405" y="10962"/>
                </a:lnTo>
                <a:lnTo>
                  <a:pt x="816399" y="19489"/>
                </a:lnTo>
                <a:lnTo>
                  <a:pt x="862638" y="30451"/>
                </a:lnTo>
                <a:lnTo>
                  <a:pt x="918283" y="47291"/>
                </a:lnTo>
                <a:lnTo>
                  <a:pt x="970565" y="67357"/>
                </a:lnTo>
                <a:lnTo>
                  <a:pt x="1019485" y="90651"/>
                </a:lnTo>
                <a:lnTo>
                  <a:pt x="1065042" y="117171"/>
                </a:lnTo>
                <a:lnTo>
                  <a:pt x="1106401" y="146383"/>
                </a:lnTo>
                <a:lnTo>
                  <a:pt x="1142728" y="177752"/>
                </a:lnTo>
                <a:lnTo>
                  <a:pt x="1174022" y="211276"/>
                </a:lnTo>
                <a:lnTo>
                  <a:pt x="1200284" y="246957"/>
                </a:lnTo>
                <a:lnTo>
                  <a:pt x="1221061" y="284094"/>
                </a:lnTo>
                <a:lnTo>
                  <a:pt x="1235902" y="321989"/>
                </a:lnTo>
                <a:lnTo>
                  <a:pt x="1244806" y="360641"/>
                </a:lnTo>
                <a:lnTo>
                  <a:pt x="1247775" y="400050"/>
                </a:lnTo>
                <a:lnTo>
                  <a:pt x="1244806" y="439458"/>
                </a:lnTo>
                <a:lnTo>
                  <a:pt x="1235902" y="478110"/>
                </a:lnTo>
                <a:lnTo>
                  <a:pt x="1221061" y="516005"/>
                </a:lnTo>
                <a:lnTo>
                  <a:pt x="1200284" y="553142"/>
                </a:lnTo>
                <a:lnTo>
                  <a:pt x="1174022" y="588823"/>
                </a:lnTo>
                <a:lnTo>
                  <a:pt x="1142728" y="622347"/>
                </a:lnTo>
                <a:lnTo>
                  <a:pt x="1106401" y="653715"/>
                </a:lnTo>
                <a:lnTo>
                  <a:pt x="1065042" y="682927"/>
                </a:lnTo>
                <a:lnTo>
                  <a:pt x="1019485" y="709448"/>
                </a:lnTo>
                <a:lnTo>
                  <a:pt x="970565" y="732741"/>
                </a:lnTo>
                <a:lnTo>
                  <a:pt x="918283" y="752808"/>
                </a:lnTo>
                <a:lnTo>
                  <a:pt x="862638" y="769647"/>
                </a:lnTo>
                <a:lnTo>
                  <a:pt x="816399" y="780610"/>
                </a:lnTo>
                <a:lnTo>
                  <a:pt x="769405" y="789137"/>
                </a:lnTo>
                <a:lnTo>
                  <a:pt x="721655" y="795227"/>
                </a:lnTo>
                <a:lnTo>
                  <a:pt x="673149" y="798881"/>
                </a:lnTo>
                <a:lnTo>
                  <a:pt x="623887" y="800100"/>
                </a:lnTo>
                <a:lnTo>
                  <a:pt x="574625" y="798881"/>
                </a:lnTo>
                <a:lnTo>
                  <a:pt x="526119" y="795227"/>
                </a:lnTo>
                <a:lnTo>
                  <a:pt x="478369" y="789137"/>
                </a:lnTo>
                <a:lnTo>
                  <a:pt x="431374" y="780610"/>
                </a:lnTo>
                <a:lnTo>
                  <a:pt x="385136" y="769647"/>
                </a:lnTo>
                <a:lnTo>
                  <a:pt x="329491" y="752808"/>
                </a:lnTo>
                <a:lnTo>
                  <a:pt x="277208" y="732741"/>
                </a:lnTo>
                <a:lnTo>
                  <a:pt x="228289" y="709448"/>
                </a:lnTo>
                <a:lnTo>
                  <a:pt x="182732" y="682927"/>
                </a:lnTo>
                <a:lnTo>
                  <a:pt x="141373" y="653715"/>
                </a:lnTo>
                <a:lnTo>
                  <a:pt x="105046" y="622347"/>
                </a:lnTo>
                <a:lnTo>
                  <a:pt x="73752" y="588823"/>
                </a:lnTo>
                <a:lnTo>
                  <a:pt x="47490" y="553142"/>
                </a:lnTo>
                <a:lnTo>
                  <a:pt x="26713" y="516005"/>
                </a:lnTo>
                <a:lnTo>
                  <a:pt x="11872" y="478110"/>
                </a:lnTo>
                <a:lnTo>
                  <a:pt x="2968" y="439458"/>
                </a:lnTo>
                <a:lnTo>
                  <a:pt x="0" y="400050"/>
                </a:lnTo>
                <a:close/>
              </a:path>
            </a:pathLst>
          </a:custGeom>
          <a:ln w="9525">
            <a:solidFill>
              <a:srgbClr val="8064A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2149" y="23495"/>
            <a:ext cx="2200699" cy="101615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1315700" y="6378574"/>
            <a:ext cx="217804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38100">
              <a:lnSpc>
                <a:spcPts val="2130"/>
              </a:lnSpc>
              <a:spcBef>
                <a:spcPts val="10"/>
              </a:spcBef>
            </a:pPr>
            <a:fld id="{81D60167-4931-47E6-BA6A-407CBD079E47}" type="slidenum">
              <a:rPr lang="en-IN" sz="1800" spc="-50" smtClean="0"/>
              <a:pPr marL="38100">
                <a:lnSpc>
                  <a:spcPts val="2130"/>
                </a:lnSpc>
                <a:spcBef>
                  <a:spcPts val="10"/>
                </a:spcBef>
              </a:pPr>
              <a:t>6</a:t>
            </a:fld>
            <a:endParaRPr spc="-50" dirty="0"/>
          </a:p>
        </p:txBody>
      </p:sp>
      <p:sp>
        <p:nvSpPr>
          <p:cNvPr id="10" name="object 5"/>
          <p:cNvSpPr txBox="1"/>
          <p:nvPr/>
        </p:nvSpPr>
        <p:spPr>
          <a:xfrm>
            <a:off x="631190" y="323984"/>
            <a:ext cx="1197610" cy="32175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57150" algn="just">
              <a:lnSpc>
                <a:spcPct val="100699"/>
              </a:lnSpc>
              <a:spcBef>
                <a:spcPts val="85"/>
              </a:spcBef>
            </a:pPr>
            <a:r>
              <a:rPr lang="en-US" sz="2000" b="1" dirty="0">
                <a:latin typeface="Roboto"/>
                <a:cs typeface="Roboto"/>
              </a:rPr>
              <a:t>AutoNex</a:t>
            </a:r>
            <a:endParaRPr sz="2000" b="1" dirty="0">
              <a:latin typeface="Roboto"/>
              <a:cs typeface="Robo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DC8153-91CE-B6A1-4FD7-BACF5F3B1290}"/>
              </a:ext>
            </a:extLst>
          </p:cNvPr>
          <p:cNvSpPr txBox="1"/>
          <p:nvPr/>
        </p:nvSpPr>
        <p:spPr>
          <a:xfrm>
            <a:off x="170073" y="901638"/>
            <a:ext cx="491612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dirty="0"/>
              <a:t> </a:t>
            </a:r>
          </a:p>
          <a:p>
            <a:pPr>
              <a:buNone/>
            </a:pPr>
            <a:r>
              <a:rPr lang="en-IN" sz="1200" b="1" dirty="0"/>
              <a:t>1. AI, Machine Learning &amp; RAG Models</a:t>
            </a:r>
          </a:p>
          <a:p>
            <a:pPr>
              <a:buNone/>
            </a:pPr>
            <a:r>
              <a:rPr lang="en-IN" sz="1200" b="1" dirty="0"/>
              <a:t>Google Gemini (1.5 Flash) API</a:t>
            </a:r>
            <a:br>
              <a:rPr lang="en-IN" sz="1200" dirty="0"/>
            </a:br>
            <a:r>
              <a:rPr lang="en-IN" sz="1200" dirty="0"/>
              <a:t>Used for Generative AI, Cab Directives and autonomous decision-making reasoning.</a:t>
            </a:r>
            <a:br>
              <a:rPr lang="en-IN" sz="1200" dirty="0"/>
            </a:br>
            <a:r>
              <a:rPr lang="en-IN" sz="1200" dirty="0"/>
              <a:t>Reference: </a:t>
            </a:r>
            <a:r>
              <a:rPr lang="en-IN" sz="1200" dirty="0">
                <a:hlinkClick r:id="rId3"/>
              </a:rPr>
              <a:t>https://ai.google.dev/</a:t>
            </a:r>
            <a:endParaRPr lang="en-IN" sz="1200" dirty="0"/>
          </a:p>
          <a:p>
            <a:pPr>
              <a:buNone/>
            </a:pPr>
            <a:r>
              <a:rPr lang="en-IN" sz="1200" b="1" dirty="0"/>
              <a:t>Scikit-Learn (Random Forest &amp; XGBoost)</a:t>
            </a:r>
            <a:br>
              <a:rPr lang="en-IN" sz="1200" dirty="0"/>
            </a:br>
            <a:r>
              <a:rPr lang="en-IN" sz="1200" dirty="0"/>
              <a:t>Used in the Colab scripts for Track Structural Defect Classification and Dispatch Optimization.</a:t>
            </a:r>
            <a:br>
              <a:rPr lang="en-IN" sz="1200" dirty="0"/>
            </a:br>
            <a:r>
              <a:rPr lang="en-IN" sz="1200" dirty="0"/>
              <a:t>Reference: </a:t>
            </a:r>
            <a:r>
              <a:rPr lang="en-IN" sz="1200" dirty="0">
                <a:hlinkClick r:id="rId4"/>
              </a:rPr>
              <a:t>https://scikit-learn.org/stable/</a:t>
            </a:r>
            <a:endParaRPr lang="en-IN" sz="1200" dirty="0"/>
          </a:p>
          <a:p>
            <a:pPr>
              <a:buNone/>
            </a:pPr>
            <a:r>
              <a:rPr lang="en-IN" sz="1200" b="1" dirty="0"/>
              <a:t>ChromaDB / Vector Database Concept</a:t>
            </a:r>
            <a:br>
              <a:rPr lang="en-IN" sz="1200" dirty="0"/>
            </a:br>
            <a:r>
              <a:rPr lang="en-IN" sz="1200" dirty="0"/>
              <a:t>Utilized for building the Knowledge Base (RAG store) for Railway Statutory Rules.</a:t>
            </a:r>
            <a:br>
              <a:rPr lang="en-IN" sz="1200" dirty="0"/>
            </a:br>
            <a:r>
              <a:rPr lang="en-IN" sz="1200" dirty="0"/>
              <a:t>Reference: </a:t>
            </a:r>
            <a:r>
              <a:rPr lang="en-IN" sz="1200" dirty="0">
                <a:hlinkClick r:id="rId5"/>
              </a:rPr>
              <a:t>https://www.trychroma.com/</a:t>
            </a:r>
            <a:endParaRPr lang="en-IN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6C8A0B-CC36-F508-9A7D-A9ABADD6016D}"/>
              </a:ext>
            </a:extLst>
          </p:cNvPr>
          <p:cNvSpPr txBox="1"/>
          <p:nvPr/>
        </p:nvSpPr>
        <p:spPr>
          <a:xfrm>
            <a:off x="71165" y="3624956"/>
            <a:ext cx="559511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dirty="0"/>
              <a:t>2. Big Data &amp; Real-Time Data Streaming (Dockerized Microservices)</a:t>
            </a:r>
          </a:p>
          <a:p>
            <a:pPr>
              <a:buNone/>
            </a:pPr>
            <a:r>
              <a:rPr lang="en-IN" sz="1200" b="1" dirty="0"/>
              <a:t>Apache Kafka &amp; ZooKeeper</a:t>
            </a:r>
            <a:br>
              <a:rPr lang="en-IN" sz="1200" dirty="0"/>
            </a:br>
            <a:r>
              <a:rPr lang="en-IN" sz="1200" dirty="0"/>
              <a:t>Implemented as the high-speed telemetry ingestion engine and central message broker.</a:t>
            </a:r>
            <a:br>
              <a:rPr lang="en-IN" sz="1200" dirty="0"/>
            </a:br>
            <a:r>
              <a:rPr lang="en-IN" sz="1200" dirty="0"/>
              <a:t>Reference: </a:t>
            </a:r>
            <a:r>
              <a:rPr lang="en-IN" sz="1200" dirty="0">
                <a:hlinkClick r:id="rId6"/>
              </a:rPr>
              <a:t>https://kafka.apache.org/</a:t>
            </a:r>
            <a:endParaRPr lang="en-IN" sz="1200" dirty="0"/>
          </a:p>
          <a:p>
            <a:pPr>
              <a:buNone/>
            </a:pPr>
            <a:r>
              <a:rPr lang="en-IN" sz="1200" b="1" dirty="0"/>
              <a:t>Apache Spark &amp; Apache Flink</a:t>
            </a:r>
            <a:br>
              <a:rPr lang="en-IN" sz="1200" dirty="0"/>
            </a:br>
            <a:r>
              <a:rPr lang="en-IN" sz="1200" dirty="0"/>
              <a:t>Used for real-time stream processing, complex event processing, and big data analytics.</a:t>
            </a:r>
            <a:br>
              <a:rPr lang="en-IN" sz="1200" dirty="0"/>
            </a:br>
            <a:r>
              <a:rPr lang="en-IN" sz="1200" dirty="0"/>
              <a:t>References: </a:t>
            </a:r>
            <a:r>
              <a:rPr lang="en-IN" sz="1200" dirty="0">
                <a:hlinkClick r:id="rId7"/>
              </a:rPr>
              <a:t>https://spark.apache.org/</a:t>
            </a:r>
            <a:r>
              <a:rPr lang="en-IN" sz="1200" dirty="0"/>
              <a:t> | </a:t>
            </a:r>
            <a:r>
              <a:rPr lang="en-IN" sz="1200" dirty="0">
                <a:hlinkClick r:id="rId8"/>
              </a:rPr>
              <a:t>https://flink.apache.org/</a:t>
            </a:r>
            <a:endParaRPr lang="en-IN" sz="1200" dirty="0"/>
          </a:p>
          <a:p>
            <a:pPr>
              <a:buNone/>
            </a:pPr>
            <a:r>
              <a:rPr lang="en-IN" sz="1200" b="1" dirty="0"/>
              <a:t>Apache Cassandra</a:t>
            </a:r>
            <a:br>
              <a:rPr lang="en-IN" sz="1200" dirty="0"/>
            </a:br>
            <a:r>
              <a:rPr lang="en-IN" sz="1200" dirty="0"/>
              <a:t>Employed as the NoSQL storage database for handling large-scale railway telemetry data.</a:t>
            </a:r>
            <a:br>
              <a:rPr lang="en-IN" sz="1200" dirty="0"/>
            </a:br>
            <a:r>
              <a:rPr lang="en-IN" sz="1200" dirty="0"/>
              <a:t>Reference: </a:t>
            </a:r>
            <a:r>
              <a:rPr lang="en-IN" sz="1200" dirty="0">
                <a:hlinkClick r:id="rId9"/>
              </a:rPr>
              <a:t>https://cassandra.apache.org/</a:t>
            </a:r>
            <a:endParaRPr lang="en-IN" sz="1200" dirty="0"/>
          </a:p>
          <a:p>
            <a:pPr>
              <a:buNone/>
            </a:pPr>
            <a:r>
              <a:rPr lang="en-IN" sz="1200" b="1" dirty="0"/>
              <a:t>Docker</a:t>
            </a:r>
            <a:br>
              <a:rPr lang="en-IN" sz="1200" dirty="0"/>
            </a:br>
            <a:r>
              <a:rPr lang="en-IN" sz="1200" dirty="0"/>
              <a:t>Used for containerizing the entire environment to ensure seamless deployment and scalability.</a:t>
            </a:r>
            <a:br>
              <a:rPr lang="en-IN" sz="1200" dirty="0"/>
            </a:br>
            <a:r>
              <a:rPr lang="en-IN" sz="1200" dirty="0"/>
              <a:t>Reference: </a:t>
            </a:r>
            <a:r>
              <a:rPr lang="en-IN" sz="1200" dirty="0">
                <a:hlinkClick r:id="rId10"/>
              </a:rPr>
              <a:t>https://www.docker.com/</a:t>
            </a:r>
            <a:endParaRPr lang="en-IN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30197E-5E37-F73E-6E0C-57686877035E}"/>
              </a:ext>
            </a:extLst>
          </p:cNvPr>
          <p:cNvSpPr txBox="1"/>
          <p:nvPr/>
        </p:nvSpPr>
        <p:spPr>
          <a:xfrm>
            <a:off x="6053767" y="807073"/>
            <a:ext cx="5135343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dirty="0"/>
              <a:t>3. Third-Party APIs for Telemetry &amp; Dashboarding</a:t>
            </a:r>
          </a:p>
          <a:p>
            <a:pPr>
              <a:buNone/>
            </a:pPr>
            <a:r>
              <a:rPr lang="en-IN" sz="1200" b="1" dirty="0"/>
              <a:t>Mappls API (MapmyIndia)</a:t>
            </a:r>
            <a:br>
              <a:rPr lang="en-IN" sz="1200" dirty="0"/>
            </a:br>
            <a:r>
              <a:rPr lang="en-IN" sz="1200" dirty="0"/>
              <a:t>Integrated for accurate Indian geographical routing and map visualization.</a:t>
            </a:r>
            <a:br>
              <a:rPr lang="en-IN" sz="1200" dirty="0"/>
            </a:br>
            <a:r>
              <a:rPr lang="en-IN" sz="1200" dirty="0"/>
              <a:t>Reference: </a:t>
            </a:r>
            <a:r>
              <a:rPr lang="en-IN" sz="1200" dirty="0">
                <a:hlinkClick r:id="rId11"/>
              </a:rPr>
              <a:t>https://about.mappls.com/api/</a:t>
            </a:r>
            <a:endParaRPr lang="en-IN" sz="1200" dirty="0"/>
          </a:p>
          <a:p>
            <a:pPr>
              <a:buNone/>
            </a:pPr>
            <a:r>
              <a:rPr lang="en-IN" sz="1200" b="1" dirty="0"/>
              <a:t>Mapbox API</a:t>
            </a:r>
            <a:br>
              <a:rPr lang="en-IN" sz="1200" dirty="0"/>
            </a:br>
            <a:r>
              <a:rPr lang="en-IN" sz="1200" dirty="0"/>
              <a:t>Used for dynamic and interactive web mapping in the frontend dashboard.</a:t>
            </a:r>
            <a:br>
              <a:rPr lang="en-IN" sz="1200" dirty="0"/>
            </a:br>
            <a:r>
              <a:rPr lang="en-IN" sz="1200" dirty="0"/>
              <a:t>Reference: </a:t>
            </a:r>
            <a:r>
              <a:rPr lang="en-IN" sz="1200" dirty="0">
                <a:hlinkClick r:id="rId12"/>
              </a:rPr>
              <a:t>https://www.mapbox.com/</a:t>
            </a:r>
            <a:endParaRPr lang="en-IN" sz="1200" dirty="0"/>
          </a:p>
          <a:p>
            <a:pPr>
              <a:buNone/>
            </a:pPr>
            <a:r>
              <a:rPr lang="en-IN" sz="1200" b="1" dirty="0"/>
              <a:t>OpenWeatherMap API</a:t>
            </a:r>
            <a:br>
              <a:rPr lang="en-IN" sz="1200" dirty="0"/>
            </a:br>
            <a:r>
              <a:rPr lang="en-IN" sz="1200" dirty="0"/>
              <a:t>Fetched weather conditions (like dense fog) for the dynamic physics and scenario engine.</a:t>
            </a:r>
            <a:br>
              <a:rPr lang="en-IN" sz="1200" dirty="0"/>
            </a:br>
            <a:r>
              <a:rPr lang="en-IN" sz="1200" dirty="0"/>
              <a:t>Reference: </a:t>
            </a:r>
            <a:r>
              <a:rPr lang="en-IN" sz="1200" dirty="0">
                <a:hlinkClick r:id="rId13"/>
              </a:rPr>
              <a:t>https://openweathermap.org/api</a:t>
            </a:r>
            <a:endParaRPr lang="en-IN" sz="12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3C5ED1F-D459-DA3E-70FD-F2D5A7689DF7}"/>
              </a:ext>
            </a:extLst>
          </p:cNvPr>
          <p:cNvCxnSpPr>
            <a:cxnSpLocks/>
          </p:cNvCxnSpPr>
          <p:nvPr/>
        </p:nvCxnSpPr>
        <p:spPr>
          <a:xfrm>
            <a:off x="5919019" y="722241"/>
            <a:ext cx="0" cy="60992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9CC207A-D047-D479-A52D-1544EAF9551C}"/>
              </a:ext>
            </a:extLst>
          </p:cNvPr>
          <p:cNvSpPr txBox="1"/>
          <p:nvPr/>
        </p:nvSpPr>
        <p:spPr>
          <a:xfrm>
            <a:off x="3048000" y="15651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. 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DEB6C5-87DB-A797-267D-E1670FCA5D85}"/>
              </a:ext>
            </a:extLst>
          </p:cNvPr>
          <p:cNvSpPr txBox="1"/>
          <p:nvPr/>
        </p:nvSpPr>
        <p:spPr>
          <a:xfrm>
            <a:off x="6034667" y="2958364"/>
            <a:ext cx="598726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dirty="0"/>
              <a:t>4. Backend Frameworks &amp; UI Technologies</a:t>
            </a:r>
          </a:p>
          <a:p>
            <a:pPr>
              <a:buNone/>
            </a:pPr>
            <a:r>
              <a:rPr lang="en-IN" sz="1200" b="1" dirty="0"/>
              <a:t>FastAPI &amp; Uvicorn</a:t>
            </a:r>
            <a:br>
              <a:rPr lang="en-IN" sz="1200" dirty="0"/>
            </a:br>
            <a:r>
              <a:rPr lang="en-IN" sz="1200" dirty="0"/>
              <a:t>Used for creating the high-performance, concurrent Python REST APIs for the KAVACH backend.</a:t>
            </a:r>
            <a:br>
              <a:rPr lang="en-IN" sz="1200" dirty="0"/>
            </a:br>
            <a:r>
              <a:rPr lang="en-IN" sz="1200" dirty="0"/>
              <a:t>Reference: </a:t>
            </a:r>
            <a:r>
              <a:rPr lang="en-IN" sz="1200" dirty="0">
                <a:hlinkClick r:id="rId14"/>
              </a:rPr>
              <a:t>https://fastapi.tiangolo.com/</a:t>
            </a:r>
            <a:endParaRPr lang="en-IN" sz="1200" dirty="0"/>
          </a:p>
          <a:p>
            <a:pPr>
              <a:buNone/>
            </a:pPr>
            <a:r>
              <a:rPr lang="en-IN" sz="1200" b="1" dirty="0"/>
              <a:t>Grafana</a:t>
            </a:r>
            <a:br>
              <a:rPr lang="en-IN" sz="1200" dirty="0"/>
            </a:br>
            <a:r>
              <a:rPr lang="en-IN" sz="1200" dirty="0"/>
              <a:t>Utilized for building the real-time Control Room TV Dashboard monitoring.</a:t>
            </a:r>
            <a:br>
              <a:rPr lang="en-IN" sz="1200" dirty="0"/>
            </a:br>
            <a:r>
              <a:rPr lang="en-IN" sz="1200" dirty="0"/>
              <a:t>Reference: </a:t>
            </a:r>
            <a:r>
              <a:rPr lang="en-IN" sz="1200" dirty="0">
                <a:hlinkClick r:id="rId15"/>
              </a:rPr>
              <a:t>https://grafana.com/</a:t>
            </a:r>
            <a:endParaRPr lang="en-IN" sz="1200" dirty="0"/>
          </a:p>
          <a:p>
            <a:pPr>
              <a:buNone/>
            </a:pPr>
            <a:r>
              <a:rPr lang="en-IN" sz="1200" b="1" dirty="0"/>
              <a:t>TailwindCSS</a:t>
            </a:r>
            <a:br>
              <a:rPr lang="en-IN" sz="1200" dirty="0"/>
            </a:br>
            <a:r>
              <a:rPr lang="en-IN" sz="1200" dirty="0"/>
              <a:t>Implemented for modern, responsive frontend styling.</a:t>
            </a:r>
            <a:br>
              <a:rPr lang="en-IN" sz="1200" dirty="0"/>
            </a:br>
            <a:r>
              <a:rPr lang="en-IN" sz="1200" dirty="0"/>
              <a:t>Reference: </a:t>
            </a:r>
            <a:r>
              <a:rPr lang="en-IN" sz="1200" dirty="0">
                <a:hlinkClick r:id="rId16"/>
              </a:rPr>
              <a:t>https://tailwindcss.com/</a:t>
            </a:r>
            <a:endParaRPr lang="en-IN" sz="1200" dirty="0"/>
          </a:p>
          <a:p>
            <a:pPr>
              <a:buNone/>
            </a:pPr>
            <a:endParaRPr lang="en-IN" sz="1200" b="1" dirty="0"/>
          </a:p>
          <a:p>
            <a:pPr>
              <a:buNone/>
            </a:pPr>
            <a:r>
              <a:rPr lang="en-IN" sz="1200" b="1" dirty="0"/>
              <a:t>5. Indian Railways Statutory Research &amp; Domain References</a:t>
            </a:r>
          </a:p>
          <a:p>
            <a:pPr>
              <a:buNone/>
            </a:pPr>
            <a:r>
              <a:rPr lang="en-IN" sz="1200" b="1" dirty="0"/>
              <a:t>RDSO Guidelines &amp; Manuals</a:t>
            </a:r>
            <a:br>
              <a:rPr lang="en-IN" sz="1200" dirty="0"/>
            </a:br>
            <a:r>
              <a:rPr lang="en-IN" sz="1200" dirty="0"/>
              <a:t>Research Designs &amp; Standards Organisation manuals for Ultrasonic Flaw Detection (USFD) and Track monitoring.</a:t>
            </a:r>
            <a:br>
              <a:rPr lang="en-IN" sz="1200" dirty="0"/>
            </a:br>
            <a:r>
              <a:rPr lang="en-IN" sz="1200" dirty="0"/>
              <a:t>Reference: </a:t>
            </a:r>
            <a:r>
              <a:rPr lang="en-IN" sz="1200" dirty="0">
                <a:hlinkClick r:id="rId17"/>
              </a:rPr>
              <a:t>https://rdso.indianrailways.gov.in/</a:t>
            </a:r>
            <a:endParaRPr lang="en-IN" sz="1200" dirty="0"/>
          </a:p>
          <a:p>
            <a:pPr>
              <a:buNone/>
            </a:pPr>
            <a:r>
              <a:rPr lang="en-IN" sz="1200" b="1" dirty="0"/>
              <a:t>IRPWM &amp; G&amp;SR Rulebooks</a:t>
            </a:r>
            <a:br>
              <a:rPr lang="en-IN" sz="1200" dirty="0"/>
            </a:br>
            <a:r>
              <a:rPr lang="en-IN" sz="1200" dirty="0"/>
              <a:t>Indian Railways Permanent Way Manual and General &amp; Subsidiary Rules implemented within the Deterministic Physics Engine.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9318</TotalTime>
  <Words>1442</Words>
  <Application>Microsoft Office PowerPoint</Application>
  <PresentationFormat>Widescreen</PresentationFormat>
  <Paragraphs>194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ＭＳ Ｐゴシック</vt:lpstr>
      <vt:lpstr>Algerian</vt:lpstr>
      <vt:lpstr>Arial</vt:lpstr>
      <vt:lpstr>Arial Black</vt:lpstr>
      <vt:lpstr>Bell MT</vt:lpstr>
      <vt:lpstr>Calibri</vt:lpstr>
      <vt:lpstr>Garamond</vt:lpstr>
      <vt:lpstr>Roboto</vt:lpstr>
      <vt:lpstr>Times New Roman</vt:lpstr>
      <vt:lpstr>TradeGothic</vt:lpstr>
      <vt:lpstr>Office Theme</vt:lpstr>
      <vt:lpstr>SMART INDIA HACKATHON 2026</vt:lpstr>
      <vt:lpstr>IDEA TITLE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Padam Kishore</cp:lastModifiedBy>
  <cp:revision>157</cp:revision>
  <dcterms:created xsi:type="dcterms:W3CDTF">2013-12-12T18:46:50Z</dcterms:created>
  <dcterms:modified xsi:type="dcterms:W3CDTF">2026-09-16T04:09:49Z</dcterms:modified>
  <cp:category/>
</cp:coreProperties>
</file>